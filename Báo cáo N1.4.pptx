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71" r:id="rId11"/>
    <p:sldId id="265" r:id="rId12"/>
    <p:sldId id="272" r:id="rId13"/>
    <p:sldId id="266" r:id="rId14"/>
    <p:sldId id="273" r:id="rId15"/>
    <p:sldId id="267" r:id="rId16"/>
    <p:sldId id="268" r:id="rId17"/>
    <p:sldId id="269" r:id="rId18"/>
    <p:sldId id="270"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606" y="45"/>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AF8F4"/>
        </a:solidFill>
        <a:effectLst/>
      </p:bgPr>
    </p:bg>
    <p:spTree>
      <p:nvGrpSpPr>
        <p:cNvPr id="1" name=""/>
        <p:cNvGrpSpPr/>
        <p:nvPr/>
      </p:nvGrpSpPr>
      <p:grpSpPr>
        <a:xfrm>
          <a:off x="0" y="0"/>
          <a:ext cx="0" cy="0"/>
          <a:chOff x="0" y="0"/>
          <a:chExt cx="0" cy="0"/>
        </a:xfrm>
      </p:grpSpPr>
      <p:sp>
        <p:nvSpPr>
          <p:cNvPr id="2" name="Rectangle 1"/>
          <p:cNvSpPr/>
          <p:nvPr/>
        </p:nvSpPr>
        <p:spPr>
          <a:xfrm>
            <a:off x="609600" y="3678882"/>
            <a:ext cx="10972800" cy="19050"/>
          </a:xfrm>
          <a:prstGeom prst="rect">
            <a:avLst/>
          </a:prstGeom>
          <a:solidFill>
            <a:srgbClr val="A68A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09600" y="484137"/>
            <a:ext cx="11582400" cy="426541"/>
          </a:xfrm>
          <a:prstGeom prst="rect">
            <a:avLst/>
          </a:prstGeom>
          <a:noFill/>
        </p:spPr>
        <p:txBody>
          <a:bodyPr wrap="none" lIns="0" tIns="0" rIns="0" bIns="0" anchor="t">
            <a:spAutoFit/>
          </a:bodyPr>
          <a:lstStyle/>
          <a:p>
            <a:pPr algn="l">
              <a:lnSpc>
                <a:spcPts val="3359"/>
              </a:lnSpc>
            </a:pPr>
            <a:r>
              <a:rPr sz="2799" b="1" i="0" u="none" dirty="0">
                <a:solidFill>
                  <a:srgbClr val="A68A5B"/>
                </a:solidFill>
                <a:latin typeface="Segoe UI"/>
              </a:rPr>
              <a:t>DAAI · PROBLEM 4</a:t>
            </a:r>
          </a:p>
        </p:txBody>
      </p:sp>
      <p:sp>
        <p:nvSpPr>
          <p:cNvPr id="4" name="TextBox 3"/>
          <p:cNvSpPr txBox="1"/>
          <p:nvPr/>
        </p:nvSpPr>
        <p:spPr>
          <a:xfrm>
            <a:off x="609600" y="986879"/>
            <a:ext cx="10734675" cy="1179810"/>
          </a:xfrm>
          <a:prstGeom prst="rect">
            <a:avLst/>
          </a:prstGeom>
          <a:noFill/>
        </p:spPr>
        <p:txBody>
          <a:bodyPr wrap="square" lIns="0" tIns="0" rIns="0" bIns="0" anchor="t">
            <a:spAutoFit/>
          </a:bodyPr>
          <a:lstStyle/>
          <a:p>
            <a:pPr algn="l">
              <a:lnSpc>
                <a:spcPts val="4599"/>
              </a:lnSpc>
            </a:pPr>
            <a:r>
              <a:rPr sz="3999" b="1" i="0" u="none" dirty="0">
                <a:solidFill>
                  <a:srgbClr val="1F2D3D"/>
                </a:solidFill>
                <a:latin typeface="Constantia"/>
              </a:rPr>
              <a:t>Kho </a:t>
            </a:r>
            <a:r>
              <a:rPr sz="3999" b="1" i="0" u="none" dirty="0" err="1">
                <a:solidFill>
                  <a:srgbClr val="1F2D3D"/>
                </a:solidFill>
                <a:latin typeface="Constantia"/>
              </a:rPr>
              <a:t>dữ</a:t>
            </a:r>
            <a:r>
              <a:rPr sz="3999" b="1" i="0" u="none" dirty="0">
                <a:solidFill>
                  <a:srgbClr val="1F2D3D"/>
                </a:solidFill>
                <a:latin typeface="Constantia"/>
              </a:rPr>
              <a:t> </a:t>
            </a:r>
            <a:r>
              <a:rPr sz="3999" b="1" i="0" u="none" dirty="0" err="1">
                <a:solidFill>
                  <a:srgbClr val="1F2D3D"/>
                </a:solidFill>
                <a:latin typeface="Constantia"/>
              </a:rPr>
              <a:t>liệu</a:t>
            </a:r>
            <a:r>
              <a:rPr sz="3999" b="1" i="0" u="none" dirty="0">
                <a:solidFill>
                  <a:srgbClr val="1F2D3D"/>
                </a:solidFill>
                <a:latin typeface="Constantia"/>
              </a:rPr>
              <a:t> </a:t>
            </a:r>
            <a:r>
              <a:rPr sz="3999" b="1" i="0" u="none" dirty="0" err="1">
                <a:solidFill>
                  <a:srgbClr val="1F2D3D"/>
                </a:solidFill>
                <a:latin typeface="Constantia"/>
              </a:rPr>
              <a:t>và</a:t>
            </a:r>
            <a:r>
              <a:rPr sz="3999" b="1" i="0" u="none" dirty="0">
                <a:solidFill>
                  <a:srgbClr val="1F2D3D"/>
                </a:solidFill>
                <a:latin typeface="Constantia"/>
              </a:rPr>
              <a:t> </a:t>
            </a:r>
            <a:r>
              <a:rPr sz="3999" b="1" i="0" u="none" dirty="0" err="1">
                <a:solidFill>
                  <a:srgbClr val="1F2D3D"/>
                </a:solidFill>
                <a:latin typeface="Constantia"/>
              </a:rPr>
              <a:t>hệ</a:t>
            </a:r>
            <a:r>
              <a:rPr sz="3999" b="1" i="0" u="none" dirty="0">
                <a:solidFill>
                  <a:srgbClr val="1F2D3D"/>
                </a:solidFill>
                <a:latin typeface="Constantia"/>
              </a:rPr>
              <a:t> </a:t>
            </a:r>
            <a:r>
              <a:rPr sz="3999" b="1" i="0" u="none" dirty="0" err="1">
                <a:solidFill>
                  <a:srgbClr val="1F2D3D"/>
                </a:solidFill>
                <a:latin typeface="Constantia"/>
              </a:rPr>
              <a:t>thống</a:t>
            </a:r>
            <a:r>
              <a:rPr sz="3999" b="1" i="0" u="none" dirty="0">
                <a:solidFill>
                  <a:srgbClr val="1F2D3D"/>
                </a:solidFill>
                <a:latin typeface="Constantia"/>
              </a:rPr>
              <a:t> </a:t>
            </a:r>
            <a:r>
              <a:rPr sz="3999" b="1" i="0" u="none" dirty="0" err="1">
                <a:solidFill>
                  <a:srgbClr val="1F2D3D"/>
                </a:solidFill>
                <a:latin typeface="Constantia"/>
              </a:rPr>
              <a:t>đánh</a:t>
            </a:r>
            <a:r>
              <a:rPr sz="3999" b="1" i="0" u="none" dirty="0">
                <a:solidFill>
                  <a:srgbClr val="1F2D3D"/>
                </a:solidFill>
                <a:latin typeface="Constantia"/>
              </a:rPr>
              <a:t> </a:t>
            </a:r>
            <a:r>
              <a:rPr sz="3999" b="1" i="0" u="none" dirty="0" err="1">
                <a:solidFill>
                  <a:srgbClr val="1F2D3D"/>
                </a:solidFill>
                <a:latin typeface="Constantia"/>
              </a:rPr>
              <a:t>giá</a:t>
            </a:r>
            <a:r>
              <a:rPr sz="3999" b="1" i="0" u="none" dirty="0">
                <a:solidFill>
                  <a:srgbClr val="1F2D3D"/>
                </a:solidFill>
                <a:latin typeface="Constantia"/>
              </a:rPr>
              <a:t> </a:t>
            </a:r>
            <a:r>
              <a:rPr sz="3999" b="1" i="0" u="none" dirty="0" err="1">
                <a:solidFill>
                  <a:srgbClr val="1F2D3D"/>
                </a:solidFill>
                <a:latin typeface="Constantia"/>
              </a:rPr>
              <a:t>hiệu</a:t>
            </a:r>
            <a:r>
              <a:rPr sz="3999" b="1" i="0" u="none" dirty="0">
                <a:solidFill>
                  <a:srgbClr val="1F2D3D"/>
                </a:solidFill>
                <a:latin typeface="Constantia"/>
              </a:rPr>
              <a:t> </a:t>
            </a:r>
            <a:r>
              <a:rPr sz="3999" b="1" i="0" u="none" dirty="0" err="1">
                <a:solidFill>
                  <a:srgbClr val="1F2D3D"/>
                </a:solidFill>
                <a:latin typeface="Constantia"/>
              </a:rPr>
              <a:t>suất</a:t>
            </a:r>
            <a:r>
              <a:rPr sz="3999" b="1" i="0" u="none" dirty="0">
                <a:solidFill>
                  <a:srgbClr val="1F2D3D"/>
                </a:solidFill>
                <a:latin typeface="Constantia"/>
              </a:rPr>
              <a:t> </a:t>
            </a:r>
            <a:r>
              <a:rPr sz="3999" b="1" i="0" u="none" dirty="0" err="1">
                <a:solidFill>
                  <a:srgbClr val="1F2D3D"/>
                </a:solidFill>
                <a:latin typeface="Constantia"/>
              </a:rPr>
              <a:t>nhân</a:t>
            </a:r>
            <a:r>
              <a:rPr sz="3999" b="1" i="0" u="none" dirty="0">
                <a:solidFill>
                  <a:srgbClr val="1F2D3D"/>
                </a:solidFill>
                <a:latin typeface="Constantia"/>
              </a:rPr>
              <a:t> </a:t>
            </a:r>
            <a:r>
              <a:rPr sz="3999" b="1" i="0" u="none" dirty="0" err="1">
                <a:solidFill>
                  <a:srgbClr val="1F2D3D"/>
                </a:solidFill>
                <a:latin typeface="Constantia"/>
              </a:rPr>
              <a:t>viên</a:t>
            </a:r>
            <a:r>
              <a:rPr sz="3999" b="1" i="0" u="none" dirty="0">
                <a:solidFill>
                  <a:srgbClr val="1F2D3D"/>
                </a:solidFill>
                <a:latin typeface="Constantia"/>
              </a:rPr>
              <a:t> </a:t>
            </a:r>
            <a:r>
              <a:rPr sz="3999" b="1" i="0" u="none" dirty="0" err="1">
                <a:solidFill>
                  <a:srgbClr val="1F2D3D"/>
                </a:solidFill>
                <a:latin typeface="Constantia"/>
              </a:rPr>
              <a:t>bán</a:t>
            </a:r>
            <a:r>
              <a:rPr sz="3999" b="1" i="0" u="none" dirty="0">
                <a:solidFill>
                  <a:srgbClr val="1F2D3D"/>
                </a:solidFill>
                <a:latin typeface="Constantia"/>
              </a:rPr>
              <a:t> </a:t>
            </a:r>
            <a:r>
              <a:rPr sz="3999" b="1" i="0" u="none" dirty="0" err="1">
                <a:solidFill>
                  <a:srgbClr val="1F2D3D"/>
                </a:solidFill>
                <a:latin typeface="Constantia"/>
              </a:rPr>
              <a:t>hàng</a:t>
            </a:r>
            <a:endParaRPr sz="3999" b="1" i="0" u="none" dirty="0">
              <a:solidFill>
                <a:srgbClr val="1F2D3D"/>
              </a:solidFill>
              <a:latin typeface="Constantia"/>
            </a:endParaRPr>
          </a:p>
        </p:txBody>
      </p:sp>
      <p:sp>
        <p:nvSpPr>
          <p:cNvPr id="5" name="TextBox 4"/>
          <p:cNvSpPr txBox="1"/>
          <p:nvPr/>
        </p:nvSpPr>
        <p:spPr>
          <a:xfrm>
            <a:off x="609600" y="2307282"/>
            <a:ext cx="10620375" cy="914400"/>
          </a:xfrm>
          <a:prstGeom prst="rect">
            <a:avLst/>
          </a:prstGeom>
          <a:noFill/>
        </p:spPr>
        <p:txBody>
          <a:bodyPr wrap="square" lIns="0" tIns="0" rIns="0" bIns="0" anchor="t">
            <a:spAutoFit/>
          </a:bodyPr>
          <a:lstStyle/>
          <a:p>
            <a:pPr algn="l">
              <a:lnSpc>
                <a:spcPts val="3600"/>
              </a:lnSpc>
            </a:pPr>
            <a:r>
              <a:rPr sz="3000" b="0" i="0" u="none" dirty="0" err="1">
                <a:solidFill>
                  <a:srgbClr val="A68A5B"/>
                </a:solidFill>
                <a:latin typeface="Constantia"/>
              </a:rPr>
              <a:t>Một</a:t>
            </a:r>
            <a:r>
              <a:rPr sz="3000" b="0" i="0" u="none" dirty="0">
                <a:solidFill>
                  <a:srgbClr val="A68A5B"/>
                </a:solidFill>
                <a:latin typeface="Constantia"/>
              </a:rPr>
              <a:t> </a:t>
            </a:r>
            <a:r>
              <a:rPr sz="3000" b="0" i="0" u="none" dirty="0" err="1">
                <a:solidFill>
                  <a:srgbClr val="A68A5B"/>
                </a:solidFill>
                <a:latin typeface="Constantia"/>
              </a:rPr>
              <a:t>nguồn</a:t>
            </a:r>
            <a:r>
              <a:rPr sz="3000" b="0" i="0" u="none" dirty="0">
                <a:solidFill>
                  <a:srgbClr val="A68A5B"/>
                </a:solidFill>
                <a:latin typeface="Constantia"/>
              </a:rPr>
              <a:t> </a:t>
            </a:r>
            <a:r>
              <a:rPr sz="3000" b="0" i="0" u="none" dirty="0" err="1">
                <a:solidFill>
                  <a:srgbClr val="A68A5B"/>
                </a:solidFill>
                <a:latin typeface="Constantia"/>
              </a:rPr>
              <a:t>số</a:t>
            </a:r>
            <a:r>
              <a:rPr sz="3000" b="0" i="0" u="none" dirty="0">
                <a:solidFill>
                  <a:srgbClr val="A68A5B"/>
                </a:solidFill>
                <a:latin typeface="Constantia"/>
              </a:rPr>
              <a:t> </a:t>
            </a:r>
            <a:r>
              <a:rPr sz="3000" b="0" i="0" u="none" dirty="0" err="1">
                <a:solidFill>
                  <a:srgbClr val="A68A5B"/>
                </a:solidFill>
                <a:latin typeface="Constantia"/>
              </a:rPr>
              <a:t>liệu</a:t>
            </a:r>
            <a:r>
              <a:rPr sz="3000" b="0" i="0" u="none" dirty="0">
                <a:solidFill>
                  <a:srgbClr val="A68A5B"/>
                </a:solidFill>
                <a:latin typeface="Constantia"/>
              </a:rPr>
              <a:t> </a:t>
            </a:r>
            <a:r>
              <a:rPr sz="3000" b="0" i="0" u="none" dirty="0" err="1">
                <a:solidFill>
                  <a:srgbClr val="A68A5B"/>
                </a:solidFill>
                <a:latin typeface="Constantia"/>
              </a:rPr>
              <a:t>thống</a:t>
            </a:r>
            <a:r>
              <a:rPr sz="3000" b="0" i="0" u="none" dirty="0">
                <a:solidFill>
                  <a:srgbClr val="A68A5B"/>
                </a:solidFill>
                <a:latin typeface="Constantia"/>
              </a:rPr>
              <a:t> </a:t>
            </a:r>
            <a:r>
              <a:rPr sz="3000" b="0" i="0" u="none" dirty="0" err="1">
                <a:solidFill>
                  <a:srgbClr val="A68A5B"/>
                </a:solidFill>
                <a:latin typeface="Constantia"/>
              </a:rPr>
              <a:t>nhất</a:t>
            </a:r>
            <a:r>
              <a:rPr sz="3000" b="0" i="0" u="none" dirty="0">
                <a:solidFill>
                  <a:srgbClr val="A68A5B"/>
                </a:solidFill>
                <a:latin typeface="Constantia"/>
              </a:rPr>
              <a:t>, </a:t>
            </a:r>
            <a:r>
              <a:rPr sz="3000" b="0" i="0" u="none" dirty="0" err="1">
                <a:solidFill>
                  <a:srgbClr val="A68A5B"/>
                </a:solidFill>
                <a:latin typeface="Constantia"/>
              </a:rPr>
              <a:t>minh</a:t>
            </a:r>
            <a:r>
              <a:rPr sz="3000" b="0" i="0" u="none" dirty="0">
                <a:solidFill>
                  <a:srgbClr val="A68A5B"/>
                </a:solidFill>
                <a:latin typeface="Constantia"/>
              </a:rPr>
              <a:t> </a:t>
            </a:r>
            <a:r>
              <a:rPr sz="3000" b="0" i="0" u="none" dirty="0" err="1">
                <a:solidFill>
                  <a:srgbClr val="A68A5B"/>
                </a:solidFill>
                <a:latin typeface="Constantia"/>
              </a:rPr>
              <a:t>bạch</a:t>
            </a:r>
            <a:r>
              <a:rPr sz="3000" b="0" i="0" u="none" dirty="0">
                <a:solidFill>
                  <a:srgbClr val="A68A5B"/>
                </a:solidFill>
                <a:latin typeface="Constantia"/>
              </a:rPr>
              <a:t> </a:t>
            </a:r>
            <a:r>
              <a:rPr sz="3000" b="0" i="0" u="none" dirty="0" err="1">
                <a:solidFill>
                  <a:srgbClr val="A68A5B"/>
                </a:solidFill>
                <a:latin typeface="Constantia"/>
              </a:rPr>
              <a:t>cho</a:t>
            </a:r>
            <a:r>
              <a:rPr sz="3000" b="0" i="0" u="none" dirty="0">
                <a:solidFill>
                  <a:srgbClr val="A68A5B"/>
                </a:solidFill>
                <a:latin typeface="Constantia"/>
              </a:rPr>
              <a:t> </a:t>
            </a:r>
            <a:r>
              <a:rPr sz="3000" b="0" i="0" u="none" dirty="0" err="1">
                <a:solidFill>
                  <a:srgbClr val="A68A5B"/>
                </a:solidFill>
                <a:latin typeface="Constantia"/>
              </a:rPr>
              <a:t>doanh</a:t>
            </a:r>
            <a:r>
              <a:rPr sz="3000" b="0" i="0" u="none" dirty="0">
                <a:solidFill>
                  <a:srgbClr val="A68A5B"/>
                </a:solidFill>
                <a:latin typeface="Constantia"/>
              </a:rPr>
              <a:t> </a:t>
            </a:r>
            <a:r>
              <a:rPr sz="3000" b="0" i="0" u="none" dirty="0" err="1">
                <a:solidFill>
                  <a:srgbClr val="A68A5B"/>
                </a:solidFill>
                <a:latin typeface="Constantia"/>
              </a:rPr>
              <a:t>nghiệp</a:t>
            </a:r>
            <a:r>
              <a:rPr sz="3000" b="0" i="0" u="none" dirty="0">
                <a:solidFill>
                  <a:srgbClr val="A68A5B"/>
                </a:solidFill>
                <a:latin typeface="Constantia"/>
              </a:rPr>
              <a:t> </a:t>
            </a:r>
            <a:r>
              <a:rPr sz="3000" b="0" i="0" u="none" dirty="0" err="1">
                <a:solidFill>
                  <a:srgbClr val="A68A5B"/>
                </a:solidFill>
                <a:latin typeface="Constantia"/>
              </a:rPr>
              <a:t>thương</a:t>
            </a:r>
            <a:r>
              <a:rPr sz="3000" b="0" i="0" u="none" dirty="0">
                <a:solidFill>
                  <a:srgbClr val="A68A5B"/>
                </a:solidFill>
                <a:latin typeface="Constantia"/>
              </a:rPr>
              <a:t> </a:t>
            </a:r>
            <a:r>
              <a:rPr sz="3000" b="0" i="0" u="none" dirty="0" err="1">
                <a:solidFill>
                  <a:srgbClr val="A68A5B"/>
                </a:solidFill>
                <a:latin typeface="Constantia"/>
              </a:rPr>
              <a:t>mại</a:t>
            </a:r>
            <a:r>
              <a:rPr sz="3000" b="0" i="0" u="none" dirty="0">
                <a:solidFill>
                  <a:srgbClr val="A68A5B"/>
                </a:solidFill>
                <a:latin typeface="Constantia"/>
              </a:rPr>
              <a:t> </a:t>
            </a:r>
            <a:r>
              <a:rPr sz="3000" b="0" i="0" u="none" dirty="0" err="1">
                <a:solidFill>
                  <a:srgbClr val="A68A5B"/>
                </a:solidFill>
                <a:latin typeface="Constantia"/>
              </a:rPr>
              <a:t>điện</a:t>
            </a:r>
            <a:r>
              <a:rPr sz="3000" b="0" i="0" u="none" dirty="0">
                <a:solidFill>
                  <a:srgbClr val="A68A5B"/>
                </a:solidFill>
                <a:latin typeface="Constantia"/>
              </a:rPr>
              <a:t> </a:t>
            </a:r>
            <a:r>
              <a:rPr sz="3000" b="0" i="0" u="none" dirty="0" err="1">
                <a:solidFill>
                  <a:srgbClr val="A68A5B"/>
                </a:solidFill>
                <a:latin typeface="Constantia"/>
              </a:rPr>
              <a:t>tử</a:t>
            </a:r>
            <a:r>
              <a:rPr sz="3000" b="0" i="0" u="none" dirty="0">
                <a:solidFill>
                  <a:srgbClr val="A68A5B"/>
                </a:solidFill>
                <a:latin typeface="Constantia"/>
              </a:rPr>
              <a:t> </a:t>
            </a:r>
            <a:r>
              <a:rPr sz="3000" b="0" i="0" u="none" dirty="0" err="1">
                <a:solidFill>
                  <a:srgbClr val="A68A5B"/>
                </a:solidFill>
                <a:latin typeface="Constantia"/>
              </a:rPr>
              <a:t>thời</a:t>
            </a:r>
            <a:r>
              <a:rPr sz="3000" b="0" i="0" u="none" dirty="0">
                <a:solidFill>
                  <a:srgbClr val="A68A5B"/>
                </a:solidFill>
                <a:latin typeface="Constantia"/>
              </a:rPr>
              <a:t> </a:t>
            </a:r>
            <a:r>
              <a:rPr sz="3000" b="0" i="0" u="none" dirty="0" err="1">
                <a:solidFill>
                  <a:srgbClr val="A68A5B"/>
                </a:solidFill>
                <a:latin typeface="Constantia"/>
              </a:rPr>
              <a:t>trang</a:t>
            </a:r>
            <a:r>
              <a:rPr sz="3000" b="0" i="0" u="none" dirty="0">
                <a:solidFill>
                  <a:srgbClr val="A68A5B"/>
                </a:solidFill>
                <a:latin typeface="Constantia"/>
              </a:rPr>
              <a:t> </a:t>
            </a:r>
            <a:r>
              <a:rPr sz="3000" b="0" i="0" u="none" dirty="0" err="1">
                <a:solidFill>
                  <a:srgbClr val="A68A5B"/>
                </a:solidFill>
                <a:latin typeface="Constantia"/>
              </a:rPr>
              <a:t>giai</a:t>
            </a:r>
            <a:r>
              <a:rPr sz="3000" b="0" i="0" u="none" dirty="0">
                <a:solidFill>
                  <a:srgbClr val="A68A5B"/>
                </a:solidFill>
                <a:latin typeface="Constantia"/>
              </a:rPr>
              <a:t> </a:t>
            </a:r>
            <a:r>
              <a:rPr sz="3000" b="0" i="0" u="none" dirty="0" err="1">
                <a:solidFill>
                  <a:srgbClr val="A68A5B"/>
                </a:solidFill>
                <a:latin typeface="Constantia"/>
              </a:rPr>
              <a:t>đoạn</a:t>
            </a:r>
            <a:r>
              <a:rPr sz="3000" b="0" i="0" u="none" dirty="0">
                <a:solidFill>
                  <a:srgbClr val="A68A5B"/>
                </a:solidFill>
                <a:latin typeface="Constantia"/>
              </a:rPr>
              <a:t> 2012–2022.</a:t>
            </a:r>
          </a:p>
        </p:txBody>
      </p:sp>
      <p:sp>
        <p:nvSpPr>
          <p:cNvPr id="6" name="TextBox 5"/>
          <p:cNvSpPr txBox="1"/>
          <p:nvPr/>
        </p:nvSpPr>
        <p:spPr>
          <a:xfrm>
            <a:off x="609600" y="4002732"/>
            <a:ext cx="11582400" cy="428476"/>
          </a:xfrm>
          <a:prstGeom prst="rect">
            <a:avLst/>
          </a:prstGeom>
          <a:noFill/>
        </p:spPr>
        <p:txBody>
          <a:bodyPr wrap="none" lIns="0" tIns="0" rIns="0" bIns="0" anchor="t">
            <a:spAutoFit/>
          </a:bodyPr>
          <a:lstStyle/>
          <a:p>
            <a:pPr algn="l">
              <a:lnSpc>
                <a:spcPts val="3375"/>
              </a:lnSpc>
            </a:pPr>
            <a:r>
              <a:rPr sz="2499" b="1" i="0" u="none">
                <a:solidFill>
                  <a:srgbClr val="2B2F36"/>
                </a:solidFill>
                <a:latin typeface="Segoe UI"/>
              </a:rPr>
              <a:t>Nhóm:</a:t>
            </a:r>
            <a:r>
              <a:rPr sz="2499" b="0" i="0" u="none">
                <a:solidFill>
                  <a:srgbClr val="2B2F36"/>
                </a:solidFill>
                <a:latin typeface="Segoe UI"/>
              </a:rPr>
              <a:t> N1.4</a:t>
            </a:r>
          </a:p>
        </p:txBody>
      </p:sp>
      <p:sp>
        <p:nvSpPr>
          <p:cNvPr id="7" name="TextBox 6"/>
          <p:cNvSpPr txBox="1"/>
          <p:nvPr/>
        </p:nvSpPr>
        <p:spPr>
          <a:xfrm>
            <a:off x="609600" y="4507408"/>
            <a:ext cx="11582400" cy="428476"/>
          </a:xfrm>
          <a:prstGeom prst="rect">
            <a:avLst/>
          </a:prstGeom>
          <a:noFill/>
        </p:spPr>
        <p:txBody>
          <a:bodyPr wrap="none" lIns="0" tIns="0" rIns="0" bIns="0" anchor="t">
            <a:spAutoFit/>
          </a:bodyPr>
          <a:lstStyle/>
          <a:p>
            <a:pPr algn="l">
              <a:lnSpc>
                <a:spcPts val="3375"/>
              </a:lnSpc>
            </a:pPr>
            <a:r>
              <a:rPr sz="2499" b="1" i="0" u="none">
                <a:solidFill>
                  <a:srgbClr val="2B2F36"/>
                </a:solidFill>
                <a:latin typeface="Segoe UI"/>
              </a:rPr>
              <a:t>Phạm vi dữ liệu:</a:t>
            </a:r>
            <a:r>
              <a:rPr sz="2499" b="0" i="0" u="none">
                <a:solidFill>
                  <a:srgbClr val="2B2F36"/>
                </a:solidFill>
                <a:latin typeface="Segoe UI"/>
              </a:rPr>
              <a:t> 646,945 đơn hàng · 200 nhân viên · 10.5 năm</a:t>
            </a:r>
          </a:p>
        </p:txBody>
      </p:sp>
      <p:sp>
        <p:nvSpPr>
          <p:cNvPr id="8" name="TextBox 7"/>
          <p:cNvSpPr txBox="1"/>
          <p:nvPr/>
        </p:nvSpPr>
        <p:spPr>
          <a:xfrm>
            <a:off x="609600" y="5012084"/>
            <a:ext cx="11582400" cy="428476"/>
          </a:xfrm>
          <a:prstGeom prst="rect">
            <a:avLst/>
          </a:prstGeom>
          <a:noFill/>
        </p:spPr>
        <p:txBody>
          <a:bodyPr wrap="none" lIns="0" tIns="0" rIns="0" bIns="0" anchor="t">
            <a:spAutoFit/>
          </a:bodyPr>
          <a:lstStyle/>
          <a:p>
            <a:pPr algn="l">
              <a:lnSpc>
                <a:spcPts val="3375"/>
              </a:lnSpc>
            </a:pPr>
            <a:r>
              <a:rPr sz="2499" b="1" i="0" u="none">
                <a:solidFill>
                  <a:srgbClr val="2B2F36"/>
                </a:solidFill>
                <a:latin typeface="Segoe UI"/>
              </a:rPr>
              <a:t>Lộ trình giải pháp:</a:t>
            </a:r>
            <a:r>
              <a:rPr sz="2499" b="0" i="0" u="none">
                <a:solidFill>
                  <a:srgbClr val="2B2F36"/>
                </a:solidFill>
                <a:latin typeface="Segoe UI"/>
              </a:rPr>
              <a:t> Raw → Silver → 3NF → Golden → Dashboard và OLAP</a:t>
            </a:r>
          </a:p>
        </p:txBody>
      </p:sp>
      <p:sp>
        <p:nvSpPr>
          <p:cNvPr id="9" name="TextBox 8"/>
          <p:cNvSpPr txBox="1"/>
          <p:nvPr/>
        </p:nvSpPr>
        <p:spPr>
          <a:xfrm>
            <a:off x="609600" y="5516760"/>
            <a:ext cx="11068050" cy="856952"/>
          </a:xfrm>
          <a:prstGeom prst="rect">
            <a:avLst/>
          </a:prstGeom>
          <a:noFill/>
        </p:spPr>
        <p:txBody>
          <a:bodyPr wrap="square" lIns="0" tIns="0" rIns="0" bIns="0" anchor="t">
            <a:spAutoFit/>
          </a:bodyPr>
          <a:lstStyle/>
          <a:p>
            <a:pPr algn="l">
              <a:lnSpc>
                <a:spcPts val="3375"/>
              </a:lnSpc>
            </a:pPr>
            <a:r>
              <a:rPr sz="2499" b="1" i="0" u="none">
                <a:solidFill>
                  <a:srgbClr val="2B2F36"/>
                </a:solidFill>
                <a:latin typeface="Segoe UI"/>
              </a:rPr>
              <a:t>Mục tiêu:</a:t>
            </a:r>
            <a:r>
              <a:rPr sz="2499" b="0" i="0" u="none">
                <a:solidFill>
                  <a:srgbClr val="2B2F36"/>
                </a:solidFill>
                <a:latin typeface="Segoe UI"/>
              </a:rPr>
              <a:t> Cung cấp cho Nhân sự bộ chỉ số đáng tin cậy để đánh giá, khen thưởng và đào tạo.</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3EC"/>
        </a:solidFill>
        <a:effectLst/>
      </p:bgPr>
    </p:bg>
    <p:spTree>
      <p:nvGrpSpPr>
        <p:cNvPr id="1" name=""/>
        <p:cNvGrpSpPr/>
        <p:nvPr/>
      </p:nvGrpSpPr>
      <p:grpSpPr>
        <a:xfrm>
          <a:off x="0" y="0"/>
          <a:ext cx="0" cy="0"/>
          <a:chOff x="0" y="0"/>
          <a:chExt cx="0" cy="0"/>
        </a:xfrm>
      </p:grpSpPr>
      <p:sp>
        <p:nvSpPr>
          <p:cNvPr id="2" name="Rounded Rectangle 1"/>
          <p:cNvSpPr/>
          <p:nvPr/>
        </p:nvSpPr>
        <p:spPr>
          <a:xfrm>
            <a:off x="609600" y="2769245"/>
            <a:ext cx="2600325" cy="2066966"/>
          </a:xfrm>
          <a:prstGeom prst="roundRect">
            <a:avLst>
              <a:gd name="adj" fmla="val 2930"/>
            </a:avLst>
          </a:prstGeom>
          <a:solidFill>
            <a:srgbClr val="FA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3400425" y="2769245"/>
            <a:ext cx="2600325" cy="2066966"/>
          </a:xfrm>
          <a:prstGeom prst="roundRect">
            <a:avLst>
              <a:gd name="adj" fmla="val 2930"/>
            </a:avLst>
          </a:prstGeom>
          <a:solidFill>
            <a:srgbClr val="FA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6191250" y="2769244"/>
            <a:ext cx="2600325" cy="2082156"/>
          </a:xfrm>
          <a:prstGeom prst="roundRect">
            <a:avLst>
              <a:gd name="adj" fmla="val 2930"/>
            </a:avLst>
          </a:prstGeom>
          <a:solidFill>
            <a:srgbClr val="FA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8982075" y="2769244"/>
            <a:ext cx="2678906" cy="2082156"/>
          </a:xfrm>
          <a:prstGeom prst="roundRect">
            <a:avLst>
              <a:gd name="adj" fmla="val 2930"/>
            </a:avLst>
          </a:prstGeom>
          <a:solidFill>
            <a:srgbClr val="FA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09600" y="457200"/>
            <a:ext cx="11582400" cy="426541"/>
          </a:xfrm>
          <a:prstGeom prst="rect">
            <a:avLst/>
          </a:prstGeom>
          <a:noFill/>
        </p:spPr>
        <p:txBody>
          <a:bodyPr wrap="none" lIns="0" tIns="0" rIns="0" bIns="0" anchor="t">
            <a:spAutoFit/>
          </a:bodyPr>
          <a:lstStyle/>
          <a:p>
            <a:pPr algn="l">
              <a:lnSpc>
                <a:spcPts val="3359"/>
              </a:lnSpc>
            </a:pPr>
            <a:r>
              <a:rPr sz="2799" b="1" i="0" u="none">
                <a:solidFill>
                  <a:srgbClr val="0F172A"/>
                </a:solidFill>
                <a:latin typeface="Segoe UI"/>
              </a:rPr>
              <a:t>TEAM N1.4</a:t>
            </a:r>
          </a:p>
        </p:txBody>
      </p:sp>
      <p:sp>
        <p:nvSpPr>
          <p:cNvPr id="7" name="TextBox 6"/>
          <p:cNvSpPr txBox="1"/>
          <p:nvPr/>
        </p:nvSpPr>
        <p:spPr>
          <a:xfrm>
            <a:off x="609600" y="959941"/>
            <a:ext cx="11582400" cy="525660"/>
          </a:xfrm>
          <a:prstGeom prst="rect">
            <a:avLst/>
          </a:prstGeom>
          <a:noFill/>
        </p:spPr>
        <p:txBody>
          <a:bodyPr wrap="none" lIns="0" tIns="0" rIns="0" bIns="0" anchor="t">
            <a:spAutoFit/>
          </a:bodyPr>
          <a:lstStyle/>
          <a:p>
            <a:pPr algn="l">
              <a:lnSpc>
                <a:spcPts val="4140"/>
              </a:lnSpc>
            </a:pPr>
            <a:r>
              <a:rPr sz="3600" b="1" i="0" u="none">
                <a:solidFill>
                  <a:srgbClr val="1F2D3D"/>
                </a:solidFill>
                <a:latin typeface="Constantia"/>
              </a:rPr>
              <a:t>Danh sách thành viên</a:t>
            </a:r>
          </a:p>
        </p:txBody>
      </p:sp>
      <p:sp>
        <p:nvSpPr>
          <p:cNvPr id="8" name="TextBox 7"/>
          <p:cNvSpPr txBox="1"/>
          <p:nvPr/>
        </p:nvSpPr>
        <p:spPr>
          <a:xfrm>
            <a:off x="609600" y="1599902"/>
            <a:ext cx="11582400" cy="914400"/>
          </a:xfrm>
          <a:prstGeom prst="rect">
            <a:avLst/>
          </a:prstGeom>
          <a:noFill/>
        </p:spPr>
        <p:txBody>
          <a:bodyPr wrap="square" lIns="0" tIns="0" rIns="0" bIns="0" anchor="t">
            <a:spAutoFit/>
          </a:bodyPr>
          <a:lstStyle/>
          <a:p>
            <a:pPr algn="l">
              <a:lnSpc>
                <a:spcPts val="3600"/>
              </a:lnSpc>
            </a:pPr>
            <a:r>
              <a:rPr sz="3000" b="0" i="0" u="none" dirty="0" err="1">
                <a:solidFill>
                  <a:srgbClr val="2B2F36"/>
                </a:solidFill>
                <a:latin typeface="Constantia"/>
              </a:rPr>
              <a:t>Bốn</a:t>
            </a:r>
            <a:r>
              <a:rPr sz="3000" b="0" i="0" u="none" dirty="0">
                <a:solidFill>
                  <a:srgbClr val="2B2F36"/>
                </a:solidFill>
                <a:latin typeface="Constantia"/>
              </a:rPr>
              <a:t> </a:t>
            </a:r>
            <a:r>
              <a:rPr sz="3000" b="0" i="0" u="none" dirty="0" err="1">
                <a:solidFill>
                  <a:srgbClr val="2B2F36"/>
                </a:solidFill>
                <a:latin typeface="Constantia"/>
              </a:rPr>
              <a:t>thành</a:t>
            </a:r>
            <a:r>
              <a:rPr sz="3000" b="0" i="0" u="none" dirty="0">
                <a:solidFill>
                  <a:srgbClr val="2B2F36"/>
                </a:solidFill>
                <a:latin typeface="Constantia"/>
              </a:rPr>
              <a:t> </a:t>
            </a:r>
            <a:r>
              <a:rPr sz="3000" b="0" i="0" u="none" dirty="0" err="1">
                <a:solidFill>
                  <a:srgbClr val="2B2F36"/>
                </a:solidFill>
                <a:latin typeface="Constantia"/>
              </a:rPr>
              <a:t>viên</a:t>
            </a:r>
            <a:r>
              <a:rPr sz="3000" b="0" i="0" u="none" dirty="0">
                <a:solidFill>
                  <a:srgbClr val="2B2F36"/>
                </a:solidFill>
                <a:latin typeface="Constantia"/>
              </a:rPr>
              <a:t> </a:t>
            </a:r>
            <a:r>
              <a:rPr sz="3000" b="0" i="0" u="none" dirty="0" err="1">
                <a:solidFill>
                  <a:srgbClr val="2B2F36"/>
                </a:solidFill>
                <a:latin typeface="Constantia"/>
              </a:rPr>
              <a:t>cùng</a:t>
            </a:r>
            <a:r>
              <a:rPr sz="3000" b="0" i="0" u="none" dirty="0">
                <a:solidFill>
                  <a:srgbClr val="2B2F36"/>
                </a:solidFill>
                <a:latin typeface="Constantia"/>
              </a:rPr>
              <a:t> </a:t>
            </a:r>
            <a:r>
              <a:rPr sz="3000" b="0" i="0" u="none" dirty="0" err="1">
                <a:solidFill>
                  <a:srgbClr val="2B2F36"/>
                </a:solidFill>
                <a:latin typeface="Constantia"/>
              </a:rPr>
              <a:t>thực</a:t>
            </a:r>
            <a:r>
              <a:rPr sz="3000" b="0" i="0" u="none" dirty="0">
                <a:solidFill>
                  <a:srgbClr val="2B2F36"/>
                </a:solidFill>
                <a:latin typeface="Constantia"/>
              </a:rPr>
              <a:t> </a:t>
            </a:r>
            <a:r>
              <a:rPr sz="3000" b="0" i="0" u="none" dirty="0" err="1">
                <a:solidFill>
                  <a:srgbClr val="2B2F36"/>
                </a:solidFill>
                <a:latin typeface="Constantia"/>
              </a:rPr>
              <a:t>hiện</a:t>
            </a:r>
            <a:r>
              <a:rPr sz="3000" b="0" i="0" u="none" dirty="0">
                <a:solidFill>
                  <a:srgbClr val="2B2F36"/>
                </a:solidFill>
                <a:latin typeface="Constantia"/>
              </a:rPr>
              <a:t> </a:t>
            </a:r>
            <a:r>
              <a:rPr lang="vi-VN" sz="3000" b="0" i="0" u="none" dirty="0">
                <a:solidFill>
                  <a:srgbClr val="2B2F36"/>
                </a:solidFill>
                <a:latin typeface="Constantia"/>
              </a:rPr>
              <a:t>xử lý </a:t>
            </a:r>
            <a:r>
              <a:rPr sz="3000" b="0" i="0" u="none" dirty="0" err="1">
                <a:solidFill>
                  <a:srgbClr val="2B2F36"/>
                </a:solidFill>
                <a:latin typeface="Constantia"/>
              </a:rPr>
              <a:t>từ</a:t>
            </a:r>
            <a:r>
              <a:rPr sz="3000" b="0" i="0" u="none" dirty="0">
                <a:solidFill>
                  <a:srgbClr val="2B2F36"/>
                </a:solidFill>
                <a:latin typeface="Constantia"/>
              </a:rPr>
              <a:t> </a:t>
            </a:r>
            <a:r>
              <a:rPr sz="3000" b="0" i="0" u="none" dirty="0" err="1">
                <a:solidFill>
                  <a:srgbClr val="2B2F36"/>
                </a:solidFill>
                <a:latin typeface="Constantia"/>
              </a:rPr>
              <a:t>dữ</a:t>
            </a:r>
            <a:r>
              <a:rPr sz="3000" b="0" i="0" u="none" dirty="0">
                <a:solidFill>
                  <a:srgbClr val="2B2F36"/>
                </a:solidFill>
                <a:latin typeface="Constantia"/>
              </a:rPr>
              <a:t> </a:t>
            </a:r>
            <a:r>
              <a:rPr sz="3000" b="0" i="0" u="none" dirty="0" err="1">
                <a:solidFill>
                  <a:srgbClr val="2B2F36"/>
                </a:solidFill>
                <a:latin typeface="Constantia"/>
              </a:rPr>
              <a:t>liệu</a:t>
            </a:r>
            <a:r>
              <a:rPr sz="3000" b="0" i="0" u="none" dirty="0">
                <a:solidFill>
                  <a:srgbClr val="2B2F36"/>
                </a:solidFill>
                <a:latin typeface="Constantia"/>
              </a:rPr>
              <a:t> </a:t>
            </a:r>
            <a:r>
              <a:rPr sz="3000" b="0" i="0" u="none" dirty="0" err="1">
                <a:solidFill>
                  <a:srgbClr val="2B2F36"/>
                </a:solidFill>
                <a:latin typeface="Constantia"/>
              </a:rPr>
              <a:t>thô</a:t>
            </a:r>
            <a:r>
              <a:rPr sz="3000" b="0" i="0" u="none" dirty="0">
                <a:solidFill>
                  <a:srgbClr val="2B2F36"/>
                </a:solidFill>
                <a:latin typeface="Constantia"/>
              </a:rPr>
              <a:t> </a:t>
            </a:r>
            <a:r>
              <a:rPr sz="3000" b="0" i="0" u="none" dirty="0" err="1">
                <a:solidFill>
                  <a:srgbClr val="2B2F36"/>
                </a:solidFill>
                <a:latin typeface="Constantia"/>
              </a:rPr>
              <a:t>đến</a:t>
            </a:r>
            <a:r>
              <a:rPr sz="3000" b="0" i="0" u="none" dirty="0">
                <a:solidFill>
                  <a:srgbClr val="2B2F36"/>
                </a:solidFill>
                <a:latin typeface="Constantia"/>
              </a:rPr>
              <a:t> dashboard </a:t>
            </a:r>
            <a:r>
              <a:rPr sz="3000" b="0" i="0" u="none" dirty="0" err="1">
                <a:solidFill>
                  <a:srgbClr val="2B2F36"/>
                </a:solidFill>
                <a:latin typeface="Constantia"/>
              </a:rPr>
              <a:t>và</a:t>
            </a:r>
            <a:r>
              <a:rPr sz="3000" b="0" i="0" u="none" dirty="0">
                <a:solidFill>
                  <a:srgbClr val="2B2F36"/>
                </a:solidFill>
                <a:latin typeface="Constantia"/>
              </a:rPr>
              <a:t> OLAP.</a:t>
            </a:r>
          </a:p>
        </p:txBody>
      </p:sp>
      <p:sp>
        <p:nvSpPr>
          <p:cNvPr id="9" name="TextBox 8"/>
          <p:cNvSpPr txBox="1"/>
          <p:nvPr/>
        </p:nvSpPr>
        <p:spPr>
          <a:xfrm>
            <a:off x="838200" y="2997844"/>
            <a:ext cx="2238375" cy="853082"/>
          </a:xfrm>
          <a:prstGeom prst="rect">
            <a:avLst/>
          </a:prstGeom>
          <a:noFill/>
        </p:spPr>
        <p:txBody>
          <a:bodyPr wrap="square" lIns="0" tIns="0" rIns="0" bIns="0" anchor="t">
            <a:spAutoFit/>
          </a:bodyPr>
          <a:lstStyle/>
          <a:p>
            <a:pPr algn="l">
              <a:lnSpc>
                <a:spcPts val="3359"/>
              </a:lnSpc>
            </a:pPr>
            <a:r>
              <a:rPr sz="2799" b="1" i="0" u="none" dirty="0">
                <a:solidFill>
                  <a:srgbClr val="1F2D3D"/>
                </a:solidFill>
                <a:latin typeface="Constantia"/>
              </a:rPr>
              <a:t>Phạm Thị Thanh Hiền</a:t>
            </a:r>
          </a:p>
        </p:txBody>
      </p:sp>
      <p:sp>
        <p:nvSpPr>
          <p:cNvPr id="10" name="TextBox 9"/>
          <p:cNvSpPr txBox="1"/>
          <p:nvPr/>
        </p:nvSpPr>
        <p:spPr>
          <a:xfrm>
            <a:off x="835819" y="4137047"/>
            <a:ext cx="2678906" cy="428476"/>
          </a:xfrm>
          <a:prstGeom prst="rect">
            <a:avLst/>
          </a:prstGeom>
          <a:noFill/>
        </p:spPr>
        <p:txBody>
          <a:bodyPr wrap="none" lIns="0" tIns="0" rIns="0" bIns="0" anchor="t">
            <a:spAutoFit/>
          </a:bodyPr>
          <a:lstStyle/>
          <a:p>
            <a:pPr algn="l">
              <a:lnSpc>
                <a:spcPts val="3375"/>
              </a:lnSpc>
            </a:pPr>
            <a:r>
              <a:rPr sz="2499" b="1" i="0" u="none" dirty="0">
                <a:solidFill>
                  <a:srgbClr val="A68A5B"/>
                </a:solidFill>
                <a:latin typeface="Segoe UI"/>
              </a:rPr>
              <a:t>24640351</a:t>
            </a:r>
          </a:p>
        </p:txBody>
      </p:sp>
      <p:sp>
        <p:nvSpPr>
          <p:cNvPr id="12" name="TextBox 11"/>
          <p:cNvSpPr txBox="1"/>
          <p:nvPr/>
        </p:nvSpPr>
        <p:spPr>
          <a:xfrm>
            <a:off x="3629025" y="2997844"/>
            <a:ext cx="2238375" cy="853082"/>
          </a:xfrm>
          <a:prstGeom prst="rect">
            <a:avLst/>
          </a:prstGeom>
          <a:noFill/>
        </p:spPr>
        <p:txBody>
          <a:bodyPr wrap="square" lIns="0" tIns="0" rIns="0" bIns="0" anchor="t">
            <a:spAutoFit/>
          </a:bodyPr>
          <a:lstStyle/>
          <a:p>
            <a:pPr algn="l">
              <a:lnSpc>
                <a:spcPts val="3359"/>
              </a:lnSpc>
            </a:pPr>
            <a:r>
              <a:rPr sz="2799" b="1" i="0" u="none">
                <a:solidFill>
                  <a:srgbClr val="1F2D3D"/>
                </a:solidFill>
                <a:latin typeface="Constantia"/>
              </a:rPr>
              <a:t>Đoàn Lê Ngọc Ngà</a:t>
            </a:r>
          </a:p>
        </p:txBody>
      </p:sp>
      <p:sp>
        <p:nvSpPr>
          <p:cNvPr id="13" name="TextBox 12"/>
          <p:cNvSpPr txBox="1"/>
          <p:nvPr/>
        </p:nvSpPr>
        <p:spPr>
          <a:xfrm>
            <a:off x="3629025" y="4162325"/>
            <a:ext cx="2678906" cy="428476"/>
          </a:xfrm>
          <a:prstGeom prst="rect">
            <a:avLst/>
          </a:prstGeom>
          <a:noFill/>
        </p:spPr>
        <p:txBody>
          <a:bodyPr wrap="none" lIns="0" tIns="0" rIns="0" bIns="0" anchor="t">
            <a:spAutoFit/>
          </a:bodyPr>
          <a:lstStyle/>
          <a:p>
            <a:pPr algn="l">
              <a:lnSpc>
                <a:spcPts val="3375"/>
              </a:lnSpc>
            </a:pPr>
            <a:r>
              <a:rPr sz="2499" b="1" i="0" u="none" dirty="0">
                <a:solidFill>
                  <a:srgbClr val="A68A5B"/>
                </a:solidFill>
                <a:latin typeface="Segoe UI"/>
              </a:rPr>
              <a:t>24642511</a:t>
            </a:r>
          </a:p>
        </p:txBody>
      </p:sp>
      <p:sp>
        <p:nvSpPr>
          <p:cNvPr id="15" name="TextBox 14"/>
          <p:cNvSpPr txBox="1"/>
          <p:nvPr/>
        </p:nvSpPr>
        <p:spPr>
          <a:xfrm>
            <a:off x="6419850" y="2997844"/>
            <a:ext cx="2238375" cy="853082"/>
          </a:xfrm>
          <a:prstGeom prst="rect">
            <a:avLst/>
          </a:prstGeom>
          <a:noFill/>
        </p:spPr>
        <p:txBody>
          <a:bodyPr wrap="square" lIns="0" tIns="0" rIns="0" bIns="0" anchor="t">
            <a:spAutoFit/>
          </a:bodyPr>
          <a:lstStyle/>
          <a:p>
            <a:pPr algn="l">
              <a:lnSpc>
                <a:spcPts val="3359"/>
              </a:lnSpc>
            </a:pPr>
            <a:r>
              <a:rPr sz="2799" b="1" i="0" u="none" dirty="0">
                <a:solidFill>
                  <a:srgbClr val="1F2D3D"/>
                </a:solidFill>
                <a:latin typeface="Constantia"/>
              </a:rPr>
              <a:t>Nguyễn Thị </a:t>
            </a:r>
            <a:r>
              <a:rPr sz="2799" b="1" i="0" u="none" dirty="0" err="1">
                <a:solidFill>
                  <a:srgbClr val="1F2D3D"/>
                </a:solidFill>
                <a:latin typeface="Constantia"/>
              </a:rPr>
              <a:t>Thúy</a:t>
            </a:r>
            <a:r>
              <a:rPr sz="2799" b="1" i="0" u="none" dirty="0">
                <a:solidFill>
                  <a:srgbClr val="1F2D3D"/>
                </a:solidFill>
                <a:latin typeface="Constantia"/>
              </a:rPr>
              <a:t> Kiều</a:t>
            </a:r>
          </a:p>
        </p:txBody>
      </p:sp>
      <p:sp>
        <p:nvSpPr>
          <p:cNvPr id="16" name="TextBox 15"/>
          <p:cNvSpPr txBox="1"/>
          <p:nvPr/>
        </p:nvSpPr>
        <p:spPr>
          <a:xfrm>
            <a:off x="6462712" y="4156546"/>
            <a:ext cx="2678906" cy="428476"/>
          </a:xfrm>
          <a:prstGeom prst="rect">
            <a:avLst/>
          </a:prstGeom>
          <a:noFill/>
        </p:spPr>
        <p:txBody>
          <a:bodyPr wrap="none" lIns="0" tIns="0" rIns="0" bIns="0" anchor="t">
            <a:spAutoFit/>
          </a:bodyPr>
          <a:lstStyle/>
          <a:p>
            <a:pPr algn="l">
              <a:lnSpc>
                <a:spcPts val="3375"/>
              </a:lnSpc>
            </a:pPr>
            <a:r>
              <a:rPr sz="2499" b="1" i="0" u="none" dirty="0">
                <a:solidFill>
                  <a:srgbClr val="A68A5B"/>
                </a:solidFill>
                <a:latin typeface="Segoe UI"/>
              </a:rPr>
              <a:t>24634651</a:t>
            </a:r>
          </a:p>
        </p:txBody>
      </p:sp>
      <p:sp>
        <p:nvSpPr>
          <p:cNvPr id="18" name="TextBox 17"/>
          <p:cNvSpPr txBox="1"/>
          <p:nvPr/>
        </p:nvSpPr>
        <p:spPr>
          <a:xfrm>
            <a:off x="9210674" y="3000425"/>
            <a:ext cx="2327276" cy="853082"/>
          </a:xfrm>
          <a:prstGeom prst="rect">
            <a:avLst/>
          </a:prstGeom>
          <a:noFill/>
        </p:spPr>
        <p:txBody>
          <a:bodyPr wrap="square" lIns="0" tIns="0" rIns="0" bIns="0" anchor="t">
            <a:spAutoFit/>
          </a:bodyPr>
          <a:lstStyle/>
          <a:p>
            <a:pPr algn="l">
              <a:lnSpc>
                <a:spcPts val="3359"/>
              </a:lnSpc>
            </a:pPr>
            <a:r>
              <a:rPr sz="2799" b="1" i="0" u="none" dirty="0">
                <a:solidFill>
                  <a:srgbClr val="1F2D3D"/>
                </a:solidFill>
                <a:latin typeface="Constantia"/>
              </a:rPr>
              <a:t>Nguyễn Minh </a:t>
            </a:r>
            <a:r>
              <a:rPr sz="2799" b="1" i="0" u="none" dirty="0" err="1">
                <a:solidFill>
                  <a:srgbClr val="1F2D3D"/>
                </a:solidFill>
                <a:latin typeface="Constantia"/>
              </a:rPr>
              <a:t>Sỹ</a:t>
            </a:r>
            <a:r>
              <a:rPr sz="2799" b="1" i="0" u="none" dirty="0">
                <a:solidFill>
                  <a:srgbClr val="1F2D3D"/>
                </a:solidFill>
                <a:latin typeface="Constantia"/>
              </a:rPr>
              <a:t> Luân</a:t>
            </a:r>
          </a:p>
        </p:txBody>
      </p:sp>
      <p:sp>
        <p:nvSpPr>
          <p:cNvPr id="19" name="TextBox 18"/>
          <p:cNvSpPr txBox="1"/>
          <p:nvPr/>
        </p:nvSpPr>
        <p:spPr>
          <a:xfrm>
            <a:off x="9210675" y="4141291"/>
            <a:ext cx="2678906" cy="428476"/>
          </a:xfrm>
          <a:prstGeom prst="rect">
            <a:avLst/>
          </a:prstGeom>
          <a:noFill/>
        </p:spPr>
        <p:txBody>
          <a:bodyPr wrap="none" lIns="0" tIns="0" rIns="0" bIns="0" anchor="t">
            <a:spAutoFit/>
          </a:bodyPr>
          <a:lstStyle/>
          <a:p>
            <a:pPr algn="l">
              <a:lnSpc>
                <a:spcPts val="3375"/>
              </a:lnSpc>
            </a:pPr>
            <a:r>
              <a:rPr sz="2499" b="1" i="0" u="none" dirty="0">
                <a:solidFill>
                  <a:srgbClr val="A68A5B"/>
                </a:solidFill>
                <a:latin typeface="Segoe UI"/>
              </a:rPr>
              <a:t>24650061</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3EC"/>
        </a:solidFill>
        <a:effectLst/>
      </p:bgPr>
    </p:bg>
    <p:spTree>
      <p:nvGrpSpPr>
        <p:cNvPr id="1" name=""/>
        <p:cNvGrpSpPr/>
        <p:nvPr/>
      </p:nvGrpSpPr>
      <p:grpSpPr>
        <a:xfrm>
          <a:off x="0" y="0"/>
          <a:ext cx="0" cy="0"/>
          <a:chOff x="0" y="0"/>
          <a:chExt cx="0" cy="0"/>
        </a:xfrm>
      </p:grpSpPr>
      <p:sp>
        <p:nvSpPr>
          <p:cNvPr id="2" name="TextBox 1"/>
          <p:cNvSpPr txBox="1"/>
          <p:nvPr/>
        </p:nvSpPr>
        <p:spPr>
          <a:xfrm>
            <a:off x="609600" y="457200"/>
            <a:ext cx="11582400" cy="426541"/>
          </a:xfrm>
          <a:prstGeom prst="rect">
            <a:avLst/>
          </a:prstGeom>
          <a:noFill/>
        </p:spPr>
        <p:txBody>
          <a:bodyPr wrap="none" lIns="0" tIns="0" rIns="0" bIns="0" anchor="t">
            <a:spAutoFit/>
          </a:bodyPr>
          <a:lstStyle/>
          <a:p>
            <a:pPr algn="l">
              <a:lnSpc>
                <a:spcPts val="3359"/>
              </a:lnSpc>
            </a:pPr>
            <a:r>
              <a:rPr sz="2799" b="1" i="0" u="none">
                <a:solidFill>
                  <a:srgbClr val="0F172A"/>
                </a:solidFill>
                <a:latin typeface="Segoe UI"/>
              </a:rPr>
              <a:t>01 · PROJECT TITLE</a:t>
            </a:r>
          </a:p>
        </p:txBody>
      </p:sp>
      <p:sp>
        <p:nvSpPr>
          <p:cNvPr id="3" name="TextBox 2"/>
          <p:cNvSpPr txBox="1"/>
          <p:nvPr/>
        </p:nvSpPr>
        <p:spPr>
          <a:xfrm>
            <a:off x="609600" y="959941"/>
            <a:ext cx="11582400" cy="525660"/>
          </a:xfrm>
          <a:prstGeom prst="rect">
            <a:avLst/>
          </a:prstGeom>
          <a:noFill/>
        </p:spPr>
        <p:txBody>
          <a:bodyPr wrap="none" lIns="0" tIns="0" rIns="0" bIns="0" anchor="t">
            <a:spAutoFit/>
          </a:bodyPr>
          <a:lstStyle/>
          <a:p>
            <a:pPr algn="l">
              <a:lnSpc>
                <a:spcPts val="4140"/>
              </a:lnSpc>
            </a:pPr>
            <a:r>
              <a:rPr sz="3600" b="1" i="0" u="none">
                <a:solidFill>
                  <a:srgbClr val="1F2D3D"/>
                </a:solidFill>
                <a:latin typeface="Constantia"/>
              </a:rPr>
              <a:t>Tên đề tài</a:t>
            </a:r>
          </a:p>
        </p:txBody>
      </p:sp>
      <p:sp>
        <p:nvSpPr>
          <p:cNvPr id="4" name="TextBox 3"/>
          <p:cNvSpPr txBox="1"/>
          <p:nvPr/>
        </p:nvSpPr>
        <p:spPr>
          <a:xfrm>
            <a:off x="609600" y="1599902"/>
            <a:ext cx="11582400" cy="914400"/>
          </a:xfrm>
          <a:prstGeom prst="rect">
            <a:avLst/>
          </a:prstGeom>
          <a:noFill/>
        </p:spPr>
        <p:txBody>
          <a:bodyPr wrap="square" lIns="0" tIns="0" rIns="0" bIns="0" anchor="t">
            <a:spAutoFit/>
          </a:bodyPr>
          <a:lstStyle/>
          <a:p>
            <a:pPr algn="l">
              <a:lnSpc>
                <a:spcPts val="3600"/>
              </a:lnSpc>
            </a:pPr>
            <a:r>
              <a:rPr sz="3000" b="0" i="0" u="none">
                <a:solidFill>
                  <a:srgbClr val="2B2F36"/>
                </a:solidFill>
                <a:latin typeface="Constantia"/>
              </a:rPr>
              <a:t>Xây dựng kho dữ liệu để đánh giá nhân viên bán hàng bằng số liệu thống nhất.</a:t>
            </a:r>
          </a:p>
        </p:txBody>
      </p:sp>
      <p:sp>
        <p:nvSpPr>
          <p:cNvPr id="5" name="TextBox 4"/>
          <p:cNvSpPr txBox="1"/>
          <p:nvPr/>
        </p:nvSpPr>
        <p:spPr>
          <a:xfrm>
            <a:off x="609600" y="2843510"/>
            <a:ext cx="11068050" cy="856952"/>
          </a:xfrm>
          <a:prstGeom prst="rect">
            <a:avLst/>
          </a:prstGeom>
          <a:noFill/>
        </p:spPr>
        <p:txBody>
          <a:bodyPr wrap="square" lIns="0" tIns="0" rIns="0" bIns="0" anchor="t">
            <a:spAutoFit/>
          </a:bodyPr>
          <a:lstStyle/>
          <a:p>
            <a:pPr algn="l">
              <a:lnSpc>
                <a:spcPts val="3375"/>
              </a:lnSpc>
            </a:pPr>
            <a:r>
              <a:rPr sz="2499" b="1" i="0" u="none" dirty="0" err="1">
                <a:solidFill>
                  <a:srgbClr val="2B2F36"/>
                </a:solidFill>
                <a:latin typeface="Segoe UI"/>
              </a:rPr>
              <a:t>Đề</a:t>
            </a:r>
            <a:r>
              <a:rPr sz="2499" b="1" i="0" u="none" dirty="0">
                <a:solidFill>
                  <a:srgbClr val="2B2F36"/>
                </a:solidFill>
                <a:latin typeface="Segoe UI"/>
              </a:rPr>
              <a:t> </a:t>
            </a:r>
            <a:r>
              <a:rPr sz="2499" b="1" i="0" u="none" dirty="0" err="1">
                <a:solidFill>
                  <a:srgbClr val="2B2F36"/>
                </a:solidFill>
                <a:latin typeface="Segoe UI"/>
              </a:rPr>
              <a:t>tài</a:t>
            </a:r>
            <a:r>
              <a:rPr sz="2499" b="1" i="0" u="none" dirty="0">
                <a:solidFill>
                  <a:srgbClr val="2B2F36"/>
                </a:solidFill>
                <a:latin typeface="Segoe UI"/>
              </a:rPr>
              <a:t>:</a:t>
            </a:r>
            <a:r>
              <a:rPr sz="2499" b="0" i="0" u="none" dirty="0">
                <a:solidFill>
                  <a:srgbClr val="2B2F36"/>
                </a:solidFill>
                <a:latin typeface="Segoe UI"/>
              </a:rPr>
              <a:t> </a:t>
            </a:r>
            <a:r>
              <a:rPr sz="2499" b="0" i="0" u="none" dirty="0" err="1">
                <a:solidFill>
                  <a:srgbClr val="2B2F36"/>
                </a:solidFill>
                <a:latin typeface="Segoe UI"/>
              </a:rPr>
              <a:t>Xây</a:t>
            </a:r>
            <a:r>
              <a:rPr sz="2499" b="0" i="0" u="none" dirty="0">
                <a:solidFill>
                  <a:srgbClr val="2B2F36"/>
                </a:solidFill>
                <a:latin typeface="Segoe UI"/>
              </a:rPr>
              <a:t> </a:t>
            </a:r>
            <a:r>
              <a:rPr sz="2499" b="0" i="0" u="none" dirty="0" err="1">
                <a:solidFill>
                  <a:srgbClr val="2B2F36"/>
                </a:solidFill>
                <a:latin typeface="Segoe UI"/>
              </a:rPr>
              <a:t>dựng</a:t>
            </a:r>
            <a:r>
              <a:rPr sz="2499" b="0" i="0" u="none" dirty="0">
                <a:solidFill>
                  <a:srgbClr val="2B2F36"/>
                </a:solidFill>
                <a:latin typeface="Segoe UI"/>
              </a:rPr>
              <a:t> </a:t>
            </a:r>
            <a:r>
              <a:rPr sz="2499" b="0" i="0" u="none" dirty="0" err="1">
                <a:solidFill>
                  <a:srgbClr val="2B2F36"/>
                </a:solidFill>
                <a:latin typeface="Segoe UI"/>
              </a:rPr>
              <a:t>kho</a:t>
            </a:r>
            <a:r>
              <a:rPr sz="2499" b="0" i="0" u="none" dirty="0">
                <a:solidFill>
                  <a:srgbClr val="2B2F36"/>
                </a:solidFill>
                <a:latin typeface="Segoe UI"/>
              </a:rPr>
              <a:t> </a:t>
            </a:r>
            <a:r>
              <a:rPr sz="2499" b="0" i="0" u="none" dirty="0" err="1">
                <a:solidFill>
                  <a:srgbClr val="2B2F36"/>
                </a:solidFill>
                <a:latin typeface="Segoe UI"/>
              </a:rPr>
              <a:t>dữ</a:t>
            </a:r>
            <a:r>
              <a:rPr sz="2499" b="0" i="0" u="none" dirty="0">
                <a:solidFill>
                  <a:srgbClr val="2B2F36"/>
                </a:solidFill>
                <a:latin typeface="Segoe UI"/>
              </a:rPr>
              <a:t> </a:t>
            </a:r>
            <a:r>
              <a:rPr sz="2499" b="0" i="0" u="none" dirty="0" err="1">
                <a:solidFill>
                  <a:srgbClr val="2B2F36"/>
                </a:solidFill>
                <a:latin typeface="Segoe UI"/>
              </a:rPr>
              <a:t>liệu</a:t>
            </a:r>
            <a:r>
              <a:rPr sz="2499" b="0" i="0" u="none" dirty="0">
                <a:solidFill>
                  <a:srgbClr val="2B2F36"/>
                </a:solidFill>
                <a:latin typeface="Segoe UI"/>
              </a:rPr>
              <a:t> </a:t>
            </a:r>
            <a:r>
              <a:rPr sz="2499" b="0" i="0" u="none" dirty="0" err="1">
                <a:solidFill>
                  <a:srgbClr val="2B2F36"/>
                </a:solidFill>
                <a:latin typeface="Segoe UI"/>
              </a:rPr>
              <a:t>và</a:t>
            </a:r>
            <a:r>
              <a:rPr sz="2499" b="0" i="0" u="none" dirty="0">
                <a:solidFill>
                  <a:srgbClr val="2B2F36"/>
                </a:solidFill>
                <a:latin typeface="Segoe UI"/>
              </a:rPr>
              <a:t> </a:t>
            </a:r>
            <a:r>
              <a:rPr sz="2499" b="0" i="0" u="none" dirty="0" err="1">
                <a:solidFill>
                  <a:srgbClr val="2B2F36"/>
                </a:solidFill>
                <a:latin typeface="Segoe UI"/>
              </a:rPr>
              <a:t>hệ</a:t>
            </a:r>
            <a:r>
              <a:rPr sz="2499" b="0" i="0" u="none" dirty="0">
                <a:solidFill>
                  <a:srgbClr val="2B2F36"/>
                </a:solidFill>
                <a:latin typeface="Segoe UI"/>
              </a:rPr>
              <a:t> </a:t>
            </a:r>
            <a:r>
              <a:rPr sz="2499" b="0" i="0" u="none" dirty="0" err="1">
                <a:solidFill>
                  <a:srgbClr val="2B2F36"/>
                </a:solidFill>
                <a:latin typeface="Segoe UI"/>
              </a:rPr>
              <a:t>thống</a:t>
            </a:r>
            <a:r>
              <a:rPr sz="2499" b="0" i="0" u="none" dirty="0">
                <a:solidFill>
                  <a:srgbClr val="2B2F36"/>
                </a:solidFill>
                <a:latin typeface="Segoe UI"/>
              </a:rPr>
              <a:t> </a:t>
            </a:r>
            <a:r>
              <a:rPr sz="2499" b="0" i="0" u="none" dirty="0" err="1">
                <a:solidFill>
                  <a:srgbClr val="2B2F36"/>
                </a:solidFill>
                <a:latin typeface="Segoe UI"/>
              </a:rPr>
              <a:t>đánh</a:t>
            </a:r>
            <a:r>
              <a:rPr sz="2499" b="0" i="0" u="none" dirty="0">
                <a:solidFill>
                  <a:srgbClr val="2B2F36"/>
                </a:solidFill>
                <a:latin typeface="Segoe UI"/>
              </a:rPr>
              <a:t> </a:t>
            </a:r>
            <a:r>
              <a:rPr sz="2499" b="0" i="0" u="none" dirty="0" err="1">
                <a:solidFill>
                  <a:srgbClr val="2B2F36"/>
                </a:solidFill>
                <a:latin typeface="Segoe UI"/>
              </a:rPr>
              <a:t>giá</a:t>
            </a:r>
            <a:r>
              <a:rPr sz="2499" b="0" i="0" u="none" dirty="0">
                <a:solidFill>
                  <a:srgbClr val="2B2F36"/>
                </a:solidFill>
                <a:latin typeface="Segoe UI"/>
              </a:rPr>
              <a:t> </a:t>
            </a:r>
            <a:r>
              <a:rPr sz="2499" b="0" i="0" u="none" dirty="0" err="1">
                <a:solidFill>
                  <a:srgbClr val="2B2F36"/>
                </a:solidFill>
                <a:latin typeface="Segoe UI"/>
              </a:rPr>
              <a:t>hiệu</a:t>
            </a:r>
            <a:r>
              <a:rPr sz="2499" b="0" i="0" u="none" dirty="0">
                <a:solidFill>
                  <a:srgbClr val="2B2F36"/>
                </a:solidFill>
                <a:latin typeface="Segoe UI"/>
              </a:rPr>
              <a:t> </a:t>
            </a:r>
            <a:r>
              <a:rPr sz="2499" b="0" i="0" u="none" dirty="0" err="1">
                <a:solidFill>
                  <a:srgbClr val="2B2F36"/>
                </a:solidFill>
                <a:latin typeface="Segoe UI"/>
              </a:rPr>
              <a:t>suất</a:t>
            </a:r>
            <a:r>
              <a:rPr sz="2499" b="0" i="0" u="none" dirty="0">
                <a:solidFill>
                  <a:srgbClr val="2B2F36"/>
                </a:solidFill>
                <a:latin typeface="Segoe UI"/>
              </a:rPr>
              <a:t> </a:t>
            </a:r>
            <a:r>
              <a:rPr sz="2499" b="0" i="0" u="none" dirty="0" err="1">
                <a:solidFill>
                  <a:srgbClr val="2B2F36"/>
                </a:solidFill>
                <a:latin typeface="Segoe UI"/>
              </a:rPr>
              <a:t>nhân</a:t>
            </a:r>
            <a:r>
              <a:rPr sz="2499" b="0" i="0" u="none" dirty="0">
                <a:solidFill>
                  <a:srgbClr val="2B2F36"/>
                </a:solidFill>
                <a:latin typeface="Segoe UI"/>
              </a:rPr>
              <a:t> </a:t>
            </a:r>
            <a:r>
              <a:rPr sz="2499" b="0" i="0" u="none" dirty="0" err="1">
                <a:solidFill>
                  <a:srgbClr val="2B2F36"/>
                </a:solidFill>
                <a:latin typeface="Segoe UI"/>
              </a:rPr>
              <a:t>viên</a:t>
            </a:r>
            <a:r>
              <a:rPr sz="2499" b="0" i="0" u="none" dirty="0">
                <a:solidFill>
                  <a:srgbClr val="2B2F36"/>
                </a:solidFill>
                <a:latin typeface="Segoe UI"/>
              </a:rPr>
              <a:t> </a:t>
            </a:r>
            <a:r>
              <a:rPr sz="2499" b="0" i="0" u="none" dirty="0" err="1">
                <a:solidFill>
                  <a:srgbClr val="2B2F36"/>
                </a:solidFill>
                <a:latin typeface="Segoe UI"/>
              </a:rPr>
              <a:t>bán</a:t>
            </a:r>
            <a:r>
              <a:rPr sz="2499" b="0" i="0" u="none" dirty="0">
                <a:solidFill>
                  <a:srgbClr val="2B2F36"/>
                </a:solidFill>
                <a:latin typeface="Segoe UI"/>
              </a:rPr>
              <a:t> </a:t>
            </a:r>
            <a:r>
              <a:rPr sz="2499" b="0" i="0" u="none" dirty="0" err="1">
                <a:solidFill>
                  <a:srgbClr val="2B2F36"/>
                </a:solidFill>
                <a:latin typeface="Segoe UI"/>
              </a:rPr>
              <a:t>hàng</a:t>
            </a:r>
            <a:r>
              <a:rPr sz="2499" b="0" i="0" u="none" dirty="0">
                <a:solidFill>
                  <a:srgbClr val="2B2F36"/>
                </a:solidFill>
                <a:latin typeface="Segoe UI"/>
              </a:rPr>
              <a:t> </a:t>
            </a:r>
            <a:r>
              <a:rPr sz="2499" b="0" i="0" u="none" dirty="0" err="1">
                <a:solidFill>
                  <a:srgbClr val="2B2F36"/>
                </a:solidFill>
                <a:latin typeface="Segoe UI"/>
              </a:rPr>
              <a:t>cho</a:t>
            </a:r>
            <a:r>
              <a:rPr sz="2499" b="0" i="0" u="none" dirty="0">
                <a:solidFill>
                  <a:srgbClr val="2B2F36"/>
                </a:solidFill>
                <a:latin typeface="Segoe UI"/>
              </a:rPr>
              <a:t> </a:t>
            </a:r>
            <a:r>
              <a:rPr sz="2499" b="0" i="0" u="none" dirty="0" err="1">
                <a:solidFill>
                  <a:srgbClr val="2B2F36"/>
                </a:solidFill>
                <a:latin typeface="Segoe UI"/>
              </a:rPr>
              <a:t>doanh</a:t>
            </a:r>
            <a:r>
              <a:rPr sz="2499" b="0" i="0" u="none" dirty="0">
                <a:solidFill>
                  <a:srgbClr val="2B2F36"/>
                </a:solidFill>
                <a:latin typeface="Segoe UI"/>
              </a:rPr>
              <a:t> </a:t>
            </a:r>
            <a:r>
              <a:rPr sz="2499" b="0" i="0" u="none" dirty="0" err="1">
                <a:solidFill>
                  <a:srgbClr val="2B2F36"/>
                </a:solidFill>
                <a:latin typeface="Segoe UI"/>
              </a:rPr>
              <a:t>nghiệp</a:t>
            </a:r>
            <a:r>
              <a:rPr sz="2499" b="0" i="0" u="none" dirty="0">
                <a:solidFill>
                  <a:srgbClr val="2B2F36"/>
                </a:solidFill>
                <a:latin typeface="Segoe UI"/>
              </a:rPr>
              <a:t> </a:t>
            </a:r>
            <a:r>
              <a:rPr sz="2499" b="0" i="0" u="none" dirty="0" err="1">
                <a:solidFill>
                  <a:srgbClr val="2B2F36"/>
                </a:solidFill>
                <a:latin typeface="Segoe UI"/>
              </a:rPr>
              <a:t>thương</a:t>
            </a:r>
            <a:r>
              <a:rPr sz="2499" b="0" i="0" u="none" dirty="0">
                <a:solidFill>
                  <a:srgbClr val="2B2F36"/>
                </a:solidFill>
                <a:latin typeface="Segoe UI"/>
              </a:rPr>
              <a:t> </a:t>
            </a:r>
            <a:r>
              <a:rPr sz="2499" b="0" i="0" u="none" dirty="0" err="1">
                <a:solidFill>
                  <a:srgbClr val="2B2F36"/>
                </a:solidFill>
                <a:latin typeface="Segoe UI"/>
              </a:rPr>
              <a:t>mại</a:t>
            </a:r>
            <a:r>
              <a:rPr sz="2499" b="0" i="0" u="none" dirty="0">
                <a:solidFill>
                  <a:srgbClr val="2B2F36"/>
                </a:solidFill>
                <a:latin typeface="Segoe UI"/>
              </a:rPr>
              <a:t> </a:t>
            </a:r>
            <a:r>
              <a:rPr sz="2499" b="0" i="0" u="none" dirty="0" err="1">
                <a:solidFill>
                  <a:srgbClr val="2B2F36"/>
                </a:solidFill>
                <a:latin typeface="Segoe UI"/>
              </a:rPr>
              <a:t>điện</a:t>
            </a:r>
            <a:r>
              <a:rPr sz="2499" b="0" i="0" u="none" dirty="0">
                <a:solidFill>
                  <a:srgbClr val="2B2F36"/>
                </a:solidFill>
                <a:latin typeface="Segoe UI"/>
              </a:rPr>
              <a:t> </a:t>
            </a:r>
            <a:r>
              <a:rPr sz="2499" b="0" i="0" u="none" dirty="0" err="1">
                <a:solidFill>
                  <a:srgbClr val="2B2F36"/>
                </a:solidFill>
                <a:latin typeface="Segoe UI"/>
              </a:rPr>
              <a:t>tử</a:t>
            </a:r>
            <a:r>
              <a:rPr sz="2499" b="0" i="0" u="none" dirty="0">
                <a:solidFill>
                  <a:srgbClr val="2B2F36"/>
                </a:solidFill>
                <a:latin typeface="Segoe UI"/>
              </a:rPr>
              <a:t> </a:t>
            </a:r>
            <a:r>
              <a:rPr sz="2499" b="0" i="0" u="none" dirty="0" err="1">
                <a:solidFill>
                  <a:srgbClr val="2B2F36"/>
                </a:solidFill>
                <a:latin typeface="Segoe UI"/>
              </a:rPr>
              <a:t>thời</a:t>
            </a:r>
            <a:r>
              <a:rPr sz="2499" b="0" i="0" u="none" dirty="0">
                <a:solidFill>
                  <a:srgbClr val="2B2F36"/>
                </a:solidFill>
                <a:latin typeface="Segoe UI"/>
              </a:rPr>
              <a:t> </a:t>
            </a:r>
            <a:r>
              <a:rPr sz="2499" b="0" i="0" u="none" dirty="0" err="1">
                <a:solidFill>
                  <a:srgbClr val="2B2F36"/>
                </a:solidFill>
                <a:latin typeface="Segoe UI"/>
              </a:rPr>
              <a:t>trang</a:t>
            </a:r>
            <a:r>
              <a:rPr sz="2499" b="0" i="0" u="none" dirty="0">
                <a:solidFill>
                  <a:srgbClr val="2B2F36"/>
                </a:solidFill>
                <a:latin typeface="Segoe UI"/>
              </a:rPr>
              <a:t> (2012–2022).</a:t>
            </a:r>
          </a:p>
        </p:txBody>
      </p:sp>
      <p:sp>
        <p:nvSpPr>
          <p:cNvPr id="6" name="TextBox 5"/>
          <p:cNvSpPr txBox="1"/>
          <p:nvPr/>
        </p:nvSpPr>
        <p:spPr>
          <a:xfrm>
            <a:off x="609600" y="3852862"/>
            <a:ext cx="11582400" cy="428476"/>
          </a:xfrm>
          <a:prstGeom prst="rect">
            <a:avLst/>
          </a:prstGeom>
          <a:noFill/>
        </p:spPr>
        <p:txBody>
          <a:bodyPr wrap="none" lIns="0" tIns="0" rIns="0" bIns="0" anchor="t">
            <a:spAutoFit/>
          </a:bodyPr>
          <a:lstStyle/>
          <a:p>
            <a:pPr algn="l">
              <a:lnSpc>
                <a:spcPts val="3375"/>
              </a:lnSpc>
            </a:pPr>
            <a:r>
              <a:rPr sz="2499" b="1" i="0" u="none">
                <a:solidFill>
                  <a:srgbClr val="2B2F36"/>
                </a:solidFill>
                <a:latin typeface="Segoe UI"/>
              </a:rPr>
              <a:t>Đối tượng đánh giá:</a:t>
            </a:r>
            <a:r>
              <a:rPr sz="2499" b="0" i="0" u="none">
                <a:solidFill>
                  <a:srgbClr val="2B2F36"/>
                </a:solidFill>
                <a:latin typeface="Segoe UI"/>
              </a:rPr>
              <a:t> 200 nhân viên bán hàng.</a:t>
            </a:r>
          </a:p>
        </p:txBody>
      </p:sp>
      <p:sp>
        <p:nvSpPr>
          <p:cNvPr id="7" name="TextBox 6"/>
          <p:cNvSpPr txBox="1"/>
          <p:nvPr/>
        </p:nvSpPr>
        <p:spPr>
          <a:xfrm>
            <a:off x="609600" y="4433738"/>
            <a:ext cx="11068050" cy="856952"/>
          </a:xfrm>
          <a:prstGeom prst="rect">
            <a:avLst/>
          </a:prstGeom>
          <a:noFill/>
        </p:spPr>
        <p:txBody>
          <a:bodyPr wrap="square" lIns="0" tIns="0" rIns="0" bIns="0" anchor="t">
            <a:spAutoFit/>
          </a:bodyPr>
          <a:lstStyle/>
          <a:p>
            <a:pPr algn="l">
              <a:lnSpc>
                <a:spcPts val="3375"/>
              </a:lnSpc>
            </a:pPr>
            <a:r>
              <a:rPr sz="2499" b="1" i="0" u="none">
                <a:solidFill>
                  <a:srgbClr val="2B2F36"/>
                </a:solidFill>
                <a:latin typeface="Segoe UI"/>
              </a:rPr>
              <a:t>Nguồn dữ liệu:</a:t>
            </a:r>
            <a:r>
              <a:rPr sz="2499" b="0" i="0" u="none">
                <a:solidFill>
                  <a:srgbClr val="2B2F36"/>
                </a:solidFill>
                <a:latin typeface="Segoe UI"/>
              </a:rPr>
              <a:t> 15 tệp dữ liệu giao dịch, khách hàng, sản phẩm và nhân viên.</a:t>
            </a:r>
          </a:p>
        </p:txBody>
      </p:sp>
      <p:sp>
        <p:nvSpPr>
          <p:cNvPr id="8" name="TextBox 7"/>
          <p:cNvSpPr txBox="1"/>
          <p:nvPr/>
        </p:nvSpPr>
        <p:spPr>
          <a:xfrm>
            <a:off x="609600" y="5041107"/>
            <a:ext cx="11068050" cy="856952"/>
          </a:xfrm>
          <a:prstGeom prst="rect">
            <a:avLst/>
          </a:prstGeom>
          <a:noFill/>
        </p:spPr>
        <p:txBody>
          <a:bodyPr wrap="square" lIns="0" tIns="0" rIns="0" bIns="0" anchor="t">
            <a:spAutoFit/>
          </a:bodyPr>
          <a:lstStyle/>
          <a:p>
            <a:pPr algn="l">
              <a:lnSpc>
                <a:spcPts val="3375"/>
              </a:lnSpc>
            </a:pPr>
            <a:r>
              <a:rPr sz="2499" b="1" i="0" u="none" dirty="0" err="1">
                <a:solidFill>
                  <a:srgbClr val="2B2F36"/>
                </a:solidFill>
                <a:latin typeface="Segoe UI"/>
              </a:rPr>
              <a:t>Sản</a:t>
            </a:r>
            <a:r>
              <a:rPr sz="2499" b="1" i="0" u="none" dirty="0">
                <a:solidFill>
                  <a:srgbClr val="2B2F36"/>
                </a:solidFill>
                <a:latin typeface="Segoe UI"/>
              </a:rPr>
              <a:t> </a:t>
            </a:r>
            <a:r>
              <a:rPr sz="2499" b="1" i="0" u="none" dirty="0" err="1">
                <a:solidFill>
                  <a:srgbClr val="2B2F36"/>
                </a:solidFill>
                <a:latin typeface="Segoe UI"/>
              </a:rPr>
              <a:t>phẩm</a:t>
            </a:r>
            <a:r>
              <a:rPr sz="2499" b="1" i="0" u="none" dirty="0">
                <a:solidFill>
                  <a:srgbClr val="2B2F36"/>
                </a:solidFill>
                <a:latin typeface="Segoe UI"/>
              </a:rPr>
              <a:t> </a:t>
            </a:r>
            <a:r>
              <a:rPr sz="2499" b="1" i="0" u="none" dirty="0" err="1">
                <a:solidFill>
                  <a:srgbClr val="2B2F36"/>
                </a:solidFill>
                <a:latin typeface="Segoe UI"/>
              </a:rPr>
              <a:t>đầu</a:t>
            </a:r>
            <a:r>
              <a:rPr sz="2499" b="1" i="0" u="none" dirty="0">
                <a:solidFill>
                  <a:srgbClr val="2B2F36"/>
                </a:solidFill>
                <a:latin typeface="Segoe UI"/>
              </a:rPr>
              <a:t> </a:t>
            </a:r>
            <a:r>
              <a:rPr sz="2499" b="1" i="0" u="none" dirty="0" err="1">
                <a:solidFill>
                  <a:srgbClr val="2B2F36"/>
                </a:solidFill>
                <a:latin typeface="Segoe UI"/>
              </a:rPr>
              <a:t>ra</a:t>
            </a:r>
            <a:r>
              <a:rPr sz="2499" b="1" i="0" u="none" dirty="0">
                <a:solidFill>
                  <a:srgbClr val="2B2F36"/>
                </a:solidFill>
                <a:latin typeface="Segoe UI"/>
              </a:rPr>
              <a:t>:</a:t>
            </a:r>
            <a:r>
              <a:rPr sz="2499" b="0" i="0" u="none" dirty="0">
                <a:solidFill>
                  <a:srgbClr val="2B2F36"/>
                </a:solidFill>
                <a:latin typeface="Segoe UI"/>
              </a:rPr>
              <a:t> Kho </a:t>
            </a:r>
            <a:r>
              <a:rPr sz="2499" b="0" i="0" u="none" dirty="0" err="1">
                <a:solidFill>
                  <a:srgbClr val="2B2F36"/>
                </a:solidFill>
                <a:latin typeface="Segoe UI"/>
              </a:rPr>
              <a:t>dữ</a:t>
            </a:r>
            <a:r>
              <a:rPr sz="2499" b="0" i="0" u="none" dirty="0">
                <a:solidFill>
                  <a:srgbClr val="2B2F36"/>
                </a:solidFill>
                <a:latin typeface="Segoe UI"/>
              </a:rPr>
              <a:t> </a:t>
            </a:r>
            <a:r>
              <a:rPr sz="2499" b="0" i="0" u="none" dirty="0" err="1">
                <a:solidFill>
                  <a:srgbClr val="2B2F36"/>
                </a:solidFill>
                <a:latin typeface="Segoe UI"/>
              </a:rPr>
              <a:t>liệu</a:t>
            </a:r>
            <a:r>
              <a:rPr sz="2499" b="0" i="0" u="none" dirty="0">
                <a:solidFill>
                  <a:srgbClr val="2B2F36"/>
                </a:solidFill>
                <a:latin typeface="Segoe UI"/>
              </a:rPr>
              <a:t> Star Schema, </a:t>
            </a:r>
            <a:r>
              <a:rPr sz="2499" b="0" i="0" u="none" dirty="0" err="1">
                <a:solidFill>
                  <a:srgbClr val="2B2F36"/>
                </a:solidFill>
                <a:latin typeface="Segoe UI"/>
              </a:rPr>
              <a:t>bộ</a:t>
            </a:r>
            <a:r>
              <a:rPr sz="2499" b="0" i="0" u="none" dirty="0">
                <a:solidFill>
                  <a:srgbClr val="2B2F36"/>
                </a:solidFill>
                <a:latin typeface="Segoe UI"/>
              </a:rPr>
              <a:t> KPI </a:t>
            </a:r>
            <a:r>
              <a:rPr sz="2499" b="0" i="0" u="none" dirty="0" err="1">
                <a:solidFill>
                  <a:srgbClr val="2B2F36"/>
                </a:solidFill>
                <a:latin typeface="Segoe UI"/>
              </a:rPr>
              <a:t>chuẩn</a:t>
            </a:r>
            <a:r>
              <a:rPr sz="2499" b="0" i="0" u="none" dirty="0">
                <a:solidFill>
                  <a:srgbClr val="2B2F36"/>
                </a:solidFill>
                <a:latin typeface="Segoe UI"/>
              </a:rPr>
              <a:t>, dashboard 5 </a:t>
            </a:r>
            <a:r>
              <a:rPr sz="2499" b="0" i="0" u="none" dirty="0" err="1">
                <a:solidFill>
                  <a:srgbClr val="2B2F36"/>
                </a:solidFill>
                <a:latin typeface="Segoe UI"/>
              </a:rPr>
              <a:t>trang</a:t>
            </a:r>
            <a:r>
              <a:rPr sz="2499" b="0" i="0" u="none" dirty="0">
                <a:solidFill>
                  <a:srgbClr val="2B2F36"/>
                </a:solidFill>
                <a:latin typeface="Segoe UI"/>
              </a:rPr>
              <a:t> </a:t>
            </a:r>
            <a:r>
              <a:rPr sz="2499" b="0" i="0" u="none" dirty="0" err="1">
                <a:solidFill>
                  <a:srgbClr val="2B2F36"/>
                </a:solidFill>
                <a:latin typeface="Segoe UI"/>
              </a:rPr>
              <a:t>và</a:t>
            </a:r>
            <a:r>
              <a:rPr sz="2499" b="0" i="0" u="none" dirty="0">
                <a:solidFill>
                  <a:srgbClr val="2B2F36"/>
                </a:solidFill>
                <a:latin typeface="Segoe UI"/>
              </a:rPr>
              <a:t> </a:t>
            </a:r>
            <a:r>
              <a:rPr sz="2499" b="0" i="0" u="none" dirty="0" err="1">
                <a:solidFill>
                  <a:srgbClr val="2B2F36"/>
                </a:solidFill>
                <a:latin typeface="Segoe UI"/>
              </a:rPr>
              <a:t>khối</a:t>
            </a:r>
            <a:r>
              <a:rPr sz="2499" b="0" i="0" u="none" dirty="0">
                <a:solidFill>
                  <a:srgbClr val="2B2F36"/>
                </a:solidFill>
                <a:latin typeface="Segoe UI"/>
              </a:rPr>
              <a:t> OLAP.</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3EC"/>
        </a:solidFill>
        <a:effectLst/>
      </p:bgPr>
    </p:bg>
    <p:spTree>
      <p:nvGrpSpPr>
        <p:cNvPr id="1" name=""/>
        <p:cNvGrpSpPr/>
        <p:nvPr/>
      </p:nvGrpSpPr>
      <p:grpSpPr>
        <a:xfrm>
          <a:off x="0" y="0"/>
          <a:ext cx="0" cy="0"/>
          <a:chOff x="0" y="0"/>
          <a:chExt cx="0" cy="0"/>
        </a:xfrm>
      </p:grpSpPr>
      <p:sp>
        <p:nvSpPr>
          <p:cNvPr id="2" name="Rounded Rectangle 1"/>
          <p:cNvSpPr/>
          <p:nvPr/>
        </p:nvSpPr>
        <p:spPr>
          <a:xfrm>
            <a:off x="609600" y="3020615"/>
            <a:ext cx="3505200" cy="3102322"/>
          </a:xfrm>
          <a:prstGeom prst="roundRect">
            <a:avLst>
              <a:gd name="adj" fmla="val 2456"/>
            </a:avLst>
          </a:prstGeom>
          <a:solidFill>
            <a:srgbClr val="FA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4343400" y="3020615"/>
            <a:ext cx="3505200" cy="3102322"/>
          </a:xfrm>
          <a:prstGeom prst="roundRect">
            <a:avLst>
              <a:gd name="adj" fmla="val 2456"/>
            </a:avLst>
          </a:prstGeom>
          <a:solidFill>
            <a:srgbClr val="FA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8077200" y="3020615"/>
            <a:ext cx="3505200" cy="3102322"/>
          </a:xfrm>
          <a:prstGeom prst="roundRect">
            <a:avLst>
              <a:gd name="adj" fmla="val 2456"/>
            </a:avLst>
          </a:prstGeom>
          <a:solidFill>
            <a:srgbClr val="FA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09600" y="457200"/>
            <a:ext cx="11582400" cy="426541"/>
          </a:xfrm>
          <a:prstGeom prst="rect">
            <a:avLst/>
          </a:prstGeom>
          <a:noFill/>
        </p:spPr>
        <p:txBody>
          <a:bodyPr wrap="none" lIns="0" tIns="0" rIns="0" bIns="0" anchor="t">
            <a:spAutoFit/>
          </a:bodyPr>
          <a:lstStyle/>
          <a:p>
            <a:pPr algn="l">
              <a:lnSpc>
                <a:spcPts val="3359"/>
              </a:lnSpc>
            </a:pPr>
            <a:r>
              <a:rPr sz="2799" b="1" i="0" u="none">
                <a:solidFill>
                  <a:srgbClr val="0F172A"/>
                </a:solidFill>
                <a:latin typeface="Segoe UI"/>
              </a:rPr>
              <a:t>02 · INTRODUCTION</a:t>
            </a:r>
          </a:p>
        </p:txBody>
      </p:sp>
      <p:sp>
        <p:nvSpPr>
          <p:cNvPr id="6" name="TextBox 5"/>
          <p:cNvSpPr txBox="1"/>
          <p:nvPr/>
        </p:nvSpPr>
        <p:spPr>
          <a:xfrm>
            <a:off x="609600" y="959941"/>
            <a:ext cx="11582400" cy="525660"/>
          </a:xfrm>
          <a:prstGeom prst="rect">
            <a:avLst/>
          </a:prstGeom>
          <a:noFill/>
        </p:spPr>
        <p:txBody>
          <a:bodyPr wrap="none" lIns="0" tIns="0" rIns="0" bIns="0" anchor="t">
            <a:spAutoFit/>
          </a:bodyPr>
          <a:lstStyle/>
          <a:p>
            <a:pPr algn="l">
              <a:lnSpc>
                <a:spcPts val="4140"/>
              </a:lnSpc>
            </a:pPr>
            <a:r>
              <a:rPr sz="3600" b="1" i="0" u="none">
                <a:solidFill>
                  <a:srgbClr val="1F2D3D"/>
                </a:solidFill>
                <a:latin typeface="Constantia"/>
              </a:rPr>
              <a:t>Giới thiệu đề tài</a:t>
            </a:r>
          </a:p>
        </p:txBody>
      </p:sp>
      <p:sp>
        <p:nvSpPr>
          <p:cNvPr id="7" name="TextBox 6"/>
          <p:cNvSpPr txBox="1"/>
          <p:nvPr/>
        </p:nvSpPr>
        <p:spPr>
          <a:xfrm>
            <a:off x="609600" y="1599902"/>
            <a:ext cx="11582400" cy="914400"/>
          </a:xfrm>
          <a:prstGeom prst="rect">
            <a:avLst/>
          </a:prstGeom>
          <a:noFill/>
        </p:spPr>
        <p:txBody>
          <a:bodyPr wrap="square" lIns="0" tIns="0" rIns="0" bIns="0" anchor="t">
            <a:spAutoFit/>
          </a:bodyPr>
          <a:lstStyle/>
          <a:p>
            <a:pPr algn="l">
              <a:lnSpc>
                <a:spcPts val="3600"/>
              </a:lnSpc>
            </a:pPr>
            <a:r>
              <a:rPr sz="3000" b="0" i="0" u="none" dirty="0" err="1">
                <a:solidFill>
                  <a:srgbClr val="2B2F36"/>
                </a:solidFill>
                <a:latin typeface="Constantia"/>
              </a:rPr>
              <a:t>Nhân</a:t>
            </a:r>
            <a:r>
              <a:rPr sz="3000" b="0" i="0" u="none" dirty="0">
                <a:solidFill>
                  <a:srgbClr val="2B2F36"/>
                </a:solidFill>
                <a:latin typeface="Constantia"/>
              </a:rPr>
              <a:t> </a:t>
            </a:r>
            <a:r>
              <a:rPr sz="3000" b="0" i="0" u="none" dirty="0" err="1">
                <a:solidFill>
                  <a:srgbClr val="2B2F36"/>
                </a:solidFill>
                <a:latin typeface="Constantia"/>
              </a:rPr>
              <a:t>sự</a:t>
            </a:r>
            <a:r>
              <a:rPr sz="3000" b="0" i="0" u="none" dirty="0">
                <a:solidFill>
                  <a:srgbClr val="2B2F36"/>
                </a:solidFill>
                <a:latin typeface="Constantia"/>
              </a:rPr>
              <a:t> </a:t>
            </a:r>
            <a:r>
              <a:rPr sz="3000" b="0" i="0" u="none" dirty="0" err="1">
                <a:solidFill>
                  <a:srgbClr val="2B2F36"/>
                </a:solidFill>
                <a:latin typeface="Constantia"/>
              </a:rPr>
              <a:t>cần</a:t>
            </a:r>
            <a:r>
              <a:rPr sz="3000" b="0" i="0" u="none" dirty="0">
                <a:solidFill>
                  <a:srgbClr val="2B2F36"/>
                </a:solidFill>
                <a:latin typeface="Constantia"/>
              </a:rPr>
              <a:t> </a:t>
            </a:r>
            <a:r>
              <a:rPr sz="3000" b="0" i="0" u="none" dirty="0" err="1">
                <a:solidFill>
                  <a:srgbClr val="2B2F36"/>
                </a:solidFill>
                <a:latin typeface="Constantia"/>
              </a:rPr>
              <a:t>một</a:t>
            </a:r>
            <a:r>
              <a:rPr sz="3000" b="0" i="0" u="none" dirty="0">
                <a:solidFill>
                  <a:srgbClr val="2B2F36"/>
                </a:solidFill>
                <a:latin typeface="Constantia"/>
              </a:rPr>
              <a:t> con </a:t>
            </a:r>
            <a:r>
              <a:rPr sz="3000" b="0" i="0" u="none" dirty="0" err="1">
                <a:solidFill>
                  <a:srgbClr val="2B2F36"/>
                </a:solidFill>
                <a:latin typeface="Constantia"/>
              </a:rPr>
              <a:t>số</a:t>
            </a:r>
            <a:r>
              <a:rPr sz="3000" b="0" i="0" u="none" dirty="0">
                <a:solidFill>
                  <a:srgbClr val="2B2F36"/>
                </a:solidFill>
                <a:latin typeface="Constantia"/>
              </a:rPr>
              <a:t> </a:t>
            </a:r>
            <a:r>
              <a:rPr sz="3000" b="0" i="0" u="none" dirty="0" err="1">
                <a:solidFill>
                  <a:srgbClr val="2B2F36"/>
                </a:solidFill>
                <a:latin typeface="Constantia"/>
              </a:rPr>
              <a:t>minh</a:t>
            </a:r>
            <a:r>
              <a:rPr sz="3000" b="0" i="0" u="none" dirty="0">
                <a:solidFill>
                  <a:srgbClr val="2B2F36"/>
                </a:solidFill>
                <a:latin typeface="Constantia"/>
              </a:rPr>
              <a:t> </a:t>
            </a:r>
            <a:r>
              <a:rPr sz="3000" b="0" i="0" u="none" dirty="0" err="1">
                <a:solidFill>
                  <a:srgbClr val="2B2F36"/>
                </a:solidFill>
                <a:latin typeface="Constantia"/>
              </a:rPr>
              <a:t>bạch</a:t>
            </a:r>
            <a:r>
              <a:rPr sz="3000" b="0" i="0" u="none" dirty="0">
                <a:solidFill>
                  <a:srgbClr val="2B2F36"/>
                </a:solidFill>
                <a:latin typeface="Constantia"/>
              </a:rPr>
              <a:t>, </a:t>
            </a:r>
            <a:r>
              <a:rPr sz="3000" b="0" i="0" u="none" dirty="0" err="1">
                <a:solidFill>
                  <a:srgbClr val="2B2F36"/>
                </a:solidFill>
                <a:latin typeface="Constantia"/>
              </a:rPr>
              <a:t>vì</a:t>
            </a:r>
            <a:r>
              <a:rPr sz="3000" b="0" i="0" u="none" dirty="0">
                <a:solidFill>
                  <a:srgbClr val="2B2F36"/>
                </a:solidFill>
                <a:latin typeface="Constantia"/>
              </a:rPr>
              <a:t> </a:t>
            </a:r>
            <a:r>
              <a:rPr sz="3000" b="0" i="0" u="none" dirty="0" err="1">
                <a:solidFill>
                  <a:srgbClr val="2B2F36"/>
                </a:solidFill>
                <a:latin typeface="Constantia"/>
              </a:rPr>
              <a:t>mỗi</a:t>
            </a:r>
            <a:r>
              <a:rPr sz="3000" b="0" i="0" u="none" dirty="0">
                <a:solidFill>
                  <a:srgbClr val="2B2F36"/>
                </a:solidFill>
                <a:latin typeface="Constantia"/>
              </a:rPr>
              <a:t> </a:t>
            </a:r>
            <a:r>
              <a:rPr sz="3000" b="0" i="0" u="none" dirty="0" err="1">
                <a:solidFill>
                  <a:srgbClr val="2B2F36"/>
                </a:solidFill>
                <a:latin typeface="Constantia"/>
              </a:rPr>
              <a:t>người</a:t>
            </a:r>
            <a:r>
              <a:rPr sz="3000" b="0" i="0" u="none" dirty="0">
                <a:solidFill>
                  <a:srgbClr val="2B2F36"/>
                </a:solidFill>
                <a:latin typeface="Constantia"/>
              </a:rPr>
              <a:t> </a:t>
            </a:r>
            <a:r>
              <a:rPr sz="3000" b="0" i="0" u="none" dirty="0" err="1">
                <a:solidFill>
                  <a:srgbClr val="2B2F36"/>
                </a:solidFill>
                <a:latin typeface="Constantia"/>
              </a:rPr>
              <a:t>đang</a:t>
            </a:r>
            <a:r>
              <a:rPr sz="3000" b="0" i="0" u="none" dirty="0">
                <a:solidFill>
                  <a:srgbClr val="2B2F36"/>
                </a:solidFill>
                <a:latin typeface="Constantia"/>
              </a:rPr>
              <a:t> </a:t>
            </a:r>
            <a:r>
              <a:rPr sz="3000" b="0" i="0" u="none" dirty="0" err="1">
                <a:solidFill>
                  <a:srgbClr val="2B2F36"/>
                </a:solidFill>
                <a:latin typeface="Constantia"/>
              </a:rPr>
              <a:t>tính</a:t>
            </a:r>
            <a:r>
              <a:rPr sz="3000" b="0" i="0" u="none" dirty="0">
                <a:solidFill>
                  <a:srgbClr val="2B2F36"/>
                </a:solidFill>
                <a:latin typeface="Constantia"/>
              </a:rPr>
              <a:t> </a:t>
            </a:r>
            <a:r>
              <a:rPr sz="3000" b="0" i="0" u="none" dirty="0" err="1">
                <a:solidFill>
                  <a:srgbClr val="2B2F36"/>
                </a:solidFill>
                <a:latin typeface="Constantia"/>
              </a:rPr>
              <a:t>doanh</a:t>
            </a:r>
            <a:r>
              <a:rPr sz="3000" b="0" i="0" u="none" dirty="0">
                <a:solidFill>
                  <a:srgbClr val="2B2F36"/>
                </a:solidFill>
                <a:latin typeface="Constantia"/>
              </a:rPr>
              <a:t> </a:t>
            </a:r>
            <a:r>
              <a:rPr sz="3000" b="0" i="0" u="none" dirty="0" err="1">
                <a:solidFill>
                  <a:srgbClr val="2B2F36"/>
                </a:solidFill>
                <a:latin typeface="Constantia"/>
              </a:rPr>
              <a:t>số</a:t>
            </a:r>
            <a:r>
              <a:rPr sz="3000" b="0" i="0" u="none" dirty="0">
                <a:solidFill>
                  <a:srgbClr val="2B2F36"/>
                </a:solidFill>
                <a:latin typeface="Constantia"/>
              </a:rPr>
              <a:t> </a:t>
            </a:r>
            <a:r>
              <a:rPr sz="3000" b="0" i="0" u="none" dirty="0" err="1">
                <a:solidFill>
                  <a:srgbClr val="2B2F36"/>
                </a:solidFill>
                <a:latin typeface="Constantia"/>
              </a:rPr>
              <a:t>một</a:t>
            </a:r>
            <a:r>
              <a:rPr sz="3000" b="0" i="0" u="none" dirty="0">
                <a:solidFill>
                  <a:srgbClr val="2B2F36"/>
                </a:solidFill>
                <a:latin typeface="Constantia"/>
              </a:rPr>
              <a:t> </a:t>
            </a:r>
            <a:r>
              <a:rPr sz="3000" b="0" i="0" u="none" dirty="0" err="1">
                <a:solidFill>
                  <a:srgbClr val="2B2F36"/>
                </a:solidFill>
                <a:latin typeface="Constantia"/>
              </a:rPr>
              <a:t>kiểu</a:t>
            </a:r>
            <a:r>
              <a:rPr sz="3000" b="0" i="0" u="none" dirty="0">
                <a:solidFill>
                  <a:srgbClr val="2B2F36"/>
                </a:solidFill>
                <a:latin typeface="Constantia"/>
              </a:rPr>
              <a:t>.</a:t>
            </a:r>
          </a:p>
        </p:txBody>
      </p:sp>
      <p:sp>
        <p:nvSpPr>
          <p:cNvPr id="8" name="TextBox 7"/>
          <p:cNvSpPr txBox="1"/>
          <p:nvPr/>
        </p:nvSpPr>
        <p:spPr>
          <a:xfrm>
            <a:off x="838200" y="3249215"/>
            <a:ext cx="3810000" cy="426541"/>
          </a:xfrm>
          <a:prstGeom prst="rect">
            <a:avLst/>
          </a:prstGeom>
          <a:noFill/>
        </p:spPr>
        <p:txBody>
          <a:bodyPr wrap="none" lIns="0" tIns="0" rIns="0" bIns="0" anchor="t">
            <a:spAutoFit/>
          </a:bodyPr>
          <a:lstStyle/>
          <a:p>
            <a:pPr algn="l">
              <a:lnSpc>
                <a:spcPts val="3359"/>
              </a:lnSpc>
            </a:pPr>
            <a:r>
              <a:rPr sz="2799" b="1" i="0" u="none">
                <a:solidFill>
                  <a:srgbClr val="1F2D3D"/>
                </a:solidFill>
                <a:latin typeface="Constantia"/>
              </a:rPr>
              <a:t>Bối cảnh</a:t>
            </a:r>
          </a:p>
        </p:txBody>
      </p:sp>
      <p:sp>
        <p:nvSpPr>
          <p:cNvPr id="9" name="TextBox 8"/>
          <p:cNvSpPr txBox="1"/>
          <p:nvPr/>
        </p:nvSpPr>
        <p:spPr>
          <a:xfrm>
            <a:off x="838200" y="3751957"/>
            <a:ext cx="3143250" cy="2142380"/>
          </a:xfrm>
          <a:prstGeom prst="rect">
            <a:avLst/>
          </a:prstGeom>
          <a:noFill/>
        </p:spPr>
        <p:txBody>
          <a:bodyPr wrap="square" lIns="0" tIns="0" rIns="0" bIns="0" anchor="t">
            <a:spAutoFit/>
          </a:bodyPr>
          <a:lstStyle/>
          <a:p>
            <a:pPr algn="l">
              <a:lnSpc>
                <a:spcPts val="3375"/>
              </a:lnSpc>
            </a:pPr>
            <a:r>
              <a:rPr sz="2499" b="0" i="0" u="none">
                <a:solidFill>
                  <a:srgbClr val="2B2F36"/>
                </a:solidFill>
                <a:latin typeface="Segoe UI"/>
              </a:rPr>
              <a:t>2,412 sản phẩm thuộc 4 danh mục. 121,930 khách hàng tại 42 thành phố thuộc 3 vùng.</a:t>
            </a:r>
          </a:p>
        </p:txBody>
      </p:sp>
      <p:sp>
        <p:nvSpPr>
          <p:cNvPr id="10" name="TextBox 9"/>
          <p:cNvSpPr txBox="1"/>
          <p:nvPr/>
        </p:nvSpPr>
        <p:spPr>
          <a:xfrm>
            <a:off x="4572000" y="3249215"/>
            <a:ext cx="3810000" cy="426541"/>
          </a:xfrm>
          <a:prstGeom prst="rect">
            <a:avLst/>
          </a:prstGeom>
          <a:noFill/>
        </p:spPr>
        <p:txBody>
          <a:bodyPr wrap="none" lIns="0" tIns="0" rIns="0" bIns="0" anchor="t">
            <a:spAutoFit/>
          </a:bodyPr>
          <a:lstStyle/>
          <a:p>
            <a:pPr algn="l">
              <a:lnSpc>
                <a:spcPts val="3359"/>
              </a:lnSpc>
            </a:pPr>
            <a:r>
              <a:rPr sz="2799" b="1" i="0" u="none">
                <a:solidFill>
                  <a:srgbClr val="1F2D3D"/>
                </a:solidFill>
                <a:latin typeface="Constantia"/>
              </a:rPr>
              <a:t>Vấn đề</a:t>
            </a:r>
          </a:p>
        </p:txBody>
      </p:sp>
      <p:sp>
        <p:nvSpPr>
          <p:cNvPr id="11" name="TextBox 10"/>
          <p:cNvSpPr txBox="1"/>
          <p:nvPr/>
        </p:nvSpPr>
        <p:spPr>
          <a:xfrm>
            <a:off x="4572000" y="3751957"/>
            <a:ext cx="3143250" cy="2142380"/>
          </a:xfrm>
          <a:prstGeom prst="rect">
            <a:avLst/>
          </a:prstGeom>
          <a:noFill/>
        </p:spPr>
        <p:txBody>
          <a:bodyPr wrap="square" lIns="0" tIns="0" rIns="0" bIns="0" anchor="t">
            <a:spAutoFit/>
          </a:bodyPr>
          <a:lstStyle/>
          <a:p>
            <a:pPr algn="l">
              <a:lnSpc>
                <a:spcPts val="3375"/>
              </a:lnSpc>
            </a:pPr>
            <a:r>
              <a:rPr sz="2499" b="0" i="0" u="none">
                <a:solidFill>
                  <a:srgbClr val="2B2F36"/>
                </a:solidFill>
                <a:latin typeface="Segoe UI"/>
              </a:rPr>
              <a:t>Cách tính doanh số chưa thống nhất (tính cả đơn hủy, hoàn trả). Dữ liệu nằm rải rác ở 15 tệp.</a:t>
            </a:r>
          </a:p>
        </p:txBody>
      </p:sp>
      <p:sp>
        <p:nvSpPr>
          <p:cNvPr id="12" name="TextBox 11"/>
          <p:cNvSpPr txBox="1"/>
          <p:nvPr/>
        </p:nvSpPr>
        <p:spPr>
          <a:xfrm>
            <a:off x="8305800" y="3249215"/>
            <a:ext cx="3810000" cy="426541"/>
          </a:xfrm>
          <a:prstGeom prst="rect">
            <a:avLst/>
          </a:prstGeom>
          <a:noFill/>
        </p:spPr>
        <p:txBody>
          <a:bodyPr wrap="none" lIns="0" tIns="0" rIns="0" bIns="0" anchor="t">
            <a:spAutoFit/>
          </a:bodyPr>
          <a:lstStyle/>
          <a:p>
            <a:pPr algn="l">
              <a:lnSpc>
                <a:spcPts val="3359"/>
              </a:lnSpc>
            </a:pPr>
            <a:r>
              <a:rPr sz="2799" b="1" i="0" u="none">
                <a:solidFill>
                  <a:srgbClr val="1F2D3D"/>
                </a:solidFill>
                <a:latin typeface="Constantia"/>
              </a:rPr>
              <a:t>Mục tiêu</a:t>
            </a:r>
          </a:p>
        </p:txBody>
      </p:sp>
      <p:sp>
        <p:nvSpPr>
          <p:cNvPr id="13" name="TextBox 12"/>
          <p:cNvSpPr txBox="1"/>
          <p:nvPr/>
        </p:nvSpPr>
        <p:spPr>
          <a:xfrm>
            <a:off x="8305800" y="3751957"/>
            <a:ext cx="3143250" cy="2142380"/>
          </a:xfrm>
          <a:prstGeom prst="rect">
            <a:avLst/>
          </a:prstGeom>
          <a:noFill/>
        </p:spPr>
        <p:txBody>
          <a:bodyPr wrap="square" lIns="0" tIns="0" rIns="0" bIns="0" anchor="t">
            <a:spAutoFit/>
          </a:bodyPr>
          <a:lstStyle/>
          <a:p>
            <a:pPr algn="l">
              <a:lnSpc>
                <a:spcPts val="3375"/>
              </a:lnSpc>
            </a:pPr>
            <a:r>
              <a:rPr sz="2499" b="0" i="0" u="none">
                <a:solidFill>
                  <a:srgbClr val="2B2F36"/>
                </a:solidFill>
                <a:latin typeface="Segoe UI"/>
              </a:rPr>
              <a:t>Tạo một nguồn số liệu thống nhất, minh bạch, làm cơ sở đánh giá công bằng cho 200 nhân viên.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3EC"/>
        </a:solidFill>
        <a:effectLst/>
      </p:bgPr>
    </p:bg>
    <p:spTree>
      <p:nvGrpSpPr>
        <p:cNvPr id="1" name=""/>
        <p:cNvGrpSpPr/>
        <p:nvPr/>
      </p:nvGrpSpPr>
      <p:grpSpPr>
        <a:xfrm>
          <a:off x="0" y="0"/>
          <a:ext cx="0" cy="0"/>
          <a:chOff x="0" y="0"/>
          <a:chExt cx="0" cy="0"/>
        </a:xfrm>
      </p:grpSpPr>
      <p:sp>
        <p:nvSpPr>
          <p:cNvPr id="2" name="Rounded Rectangle 1"/>
          <p:cNvSpPr/>
          <p:nvPr/>
        </p:nvSpPr>
        <p:spPr>
          <a:xfrm>
            <a:off x="609600" y="2285702"/>
            <a:ext cx="3505200" cy="2459533"/>
          </a:xfrm>
          <a:prstGeom prst="roundRect">
            <a:avLst>
              <a:gd name="adj" fmla="val 2849"/>
            </a:avLst>
          </a:prstGeom>
          <a:solidFill>
            <a:srgbClr val="FA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4343400" y="2499866"/>
            <a:ext cx="3505200" cy="2245369"/>
          </a:xfrm>
          <a:prstGeom prst="roundRect">
            <a:avLst>
              <a:gd name="adj" fmla="val 3393"/>
            </a:avLst>
          </a:prstGeom>
          <a:solidFill>
            <a:srgbClr val="FA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8077200" y="2499866"/>
            <a:ext cx="3505200" cy="2245369"/>
          </a:xfrm>
          <a:prstGeom prst="roundRect">
            <a:avLst>
              <a:gd name="adj" fmla="val 3393"/>
            </a:avLst>
          </a:prstGeom>
          <a:solidFill>
            <a:srgbClr val="FA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09600" y="4859124"/>
            <a:ext cx="5334000" cy="1816893"/>
          </a:xfrm>
          <a:prstGeom prst="roundRect">
            <a:avLst>
              <a:gd name="adj" fmla="val 4193"/>
            </a:avLst>
          </a:prstGeom>
          <a:solidFill>
            <a:srgbClr val="FA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248400" y="4859124"/>
            <a:ext cx="5334000" cy="1816893"/>
          </a:xfrm>
          <a:prstGeom prst="roundRect">
            <a:avLst>
              <a:gd name="adj" fmla="val 4193"/>
            </a:avLst>
          </a:prstGeom>
          <a:solidFill>
            <a:srgbClr val="FA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09600" y="457200"/>
            <a:ext cx="11582400" cy="426541"/>
          </a:xfrm>
          <a:prstGeom prst="rect">
            <a:avLst/>
          </a:prstGeom>
          <a:noFill/>
        </p:spPr>
        <p:txBody>
          <a:bodyPr wrap="none" lIns="0" tIns="0" rIns="0" bIns="0" anchor="t">
            <a:spAutoFit/>
          </a:bodyPr>
          <a:lstStyle/>
          <a:p>
            <a:pPr algn="l">
              <a:lnSpc>
                <a:spcPts val="3359"/>
              </a:lnSpc>
            </a:pPr>
            <a:r>
              <a:rPr sz="2799" b="1" i="0" u="none">
                <a:solidFill>
                  <a:srgbClr val="0F172A"/>
                </a:solidFill>
                <a:latin typeface="Segoe UI"/>
              </a:rPr>
              <a:t>03 · RESEARCH QUESTIONS</a:t>
            </a:r>
          </a:p>
        </p:txBody>
      </p:sp>
      <p:sp>
        <p:nvSpPr>
          <p:cNvPr id="8" name="TextBox 7"/>
          <p:cNvSpPr txBox="1"/>
          <p:nvPr/>
        </p:nvSpPr>
        <p:spPr>
          <a:xfrm>
            <a:off x="609600" y="959941"/>
            <a:ext cx="11582400" cy="525660"/>
          </a:xfrm>
          <a:prstGeom prst="rect">
            <a:avLst/>
          </a:prstGeom>
          <a:noFill/>
        </p:spPr>
        <p:txBody>
          <a:bodyPr wrap="none" lIns="0" tIns="0" rIns="0" bIns="0" anchor="t">
            <a:spAutoFit/>
          </a:bodyPr>
          <a:lstStyle/>
          <a:p>
            <a:pPr algn="l">
              <a:lnSpc>
                <a:spcPts val="4140"/>
              </a:lnSpc>
            </a:pPr>
            <a:r>
              <a:rPr sz="3600" b="1" i="0" u="none">
                <a:solidFill>
                  <a:srgbClr val="1F2D3D"/>
                </a:solidFill>
                <a:latin typeface="Constantia"/>
              </a:rPr>
              <a:t>Năm câu hỏi cần trả lời</a:t>
            </a:r>
          </a:p>
        </p:txBody>
      </p:sp>
      <p:sp>
        <p:nvSpPr>
          <p:cNvPr id="9" name="TextBox 8"/>
          <p:cNvSpPr txBox="1"/>
          <p:nvPr/>
        </p:nvSpPr>
        <p:spPr>
          <a:xfrm>
            <a:off x="609600" y="1599902"/>
            <a:ext cx="11582400" cy="457200"/>
          </a:xfrm>
          <a:prstGeom prst="rect">
            <a:avLst/>
          </a:prstGeom>
          <a:noFill/>
        </p:spPr>
        <p:txBody>
          <a:bodyPr wrap="none" lIns="0" tIns="0" rIns="0" bIns="0" anchor="t">
            <a:spAutoFit/>
          </a:bodyPr>
          <a:lstStyle/>
          <a:p>
            <a:pPr algn="l">
              <a:lnSpc>
                <a:spcPts val="3600"/>
              </a:lnSpc>
            </a:pPr>
            <a:r>
              <a:rPr sz="3000" b="0" i="0" u="none">
                <a:solidFill>
                  <a:srgbClr val="2B2F36"/>
                </a:solidFill>
                <a:latin typeface="Constantia"/>
              </a:rPr>
              <a:t>Mỗi câu hỏi tương ứng với một trang của dashboard.</a:t>
            </a:r>
          </a:p>
        </p:txBody>
      </p:sp>
      <p:sp>
        <p:nvSpPr>
          <p:cNvPr id="10" name="TextBox 9"/>
          <p:cNvSpPr txBox="1"/>
          <p:nvPr/>
        </p:nvSpPr>
        <p:spPr>
          <a:xfrm>
            <a:off x="838200" y="2514302"/>
            <a:ext cx="3810000" cy="426541"/>
          </a:xfrm>
          <a:prstGeom prst="rect">
            <a:avLst/>
          </a:prstGeom>
          <a:noFill/>
        </p:spPr>
        <p:txBody>
          <a:bodyPr wrap="none" lIns="0" tIns="0" rIns="0" bIns="0" anchor="t">
            <a:spAutoFit/>
          </a:bodyPr>
          <a:lstStyle/>
          <a:p>
            <a:pPr algn="l">
              <a:lnSpc>
                <a:spcPts val="3359"/>
              </a:lnSpc>
            </a:pPr>
            <a:r>
              <a:rPr sz="2799" b="1" i="0" u="none">
                <a:solidFill>
                  <a:srgbClr val="1F2D3D"/>
                </a:solidFill>
                <a:latin typeface="Constantia"/>
              </a:rPr>
              <a:t>1. Đóng góp</a:t>
            </a:r>
          </a:p>
        </p:txBody>
      </p:sp>
      <p:sp>
        <p:nvSpPr>
          <p:cNvPr id="11" name="TextBox 10"/>
          <p:cNvSpPr txBox="1"/>
          <p:nvPr/>
        </p:nvSpPr>
        <p:spPr>
          <a:xfrm>
            <a:off x="838200" y="3017043"/>
            <a:ext cx="3143250" cy="1713904"/>
          </a:xfrm>
          <a:prstGeom prst="rect">
            <a:avLst/>
          </a:prstGeom>
          <a:noFill/>
        </p:spPr>
        <p:txBody>
          <a:bodyPr wrap="square" lIns="0" tIns="0" rIns="0" bIns="0" anchor="t">
            <a:spAutoFit/>
          </a:bodyPr>
          <a:lstStyle/>
          <a:p>
            <a:pPr algn="l">
              <a:lnSpc>
                <a:spcPts val="3375"/>
              </a:lnSpc>
            </a:pPr>
            <a:r>
              <a:rPr sz="2200" b="0" i="0" u="none" dirty="0" err="1">
                <a:solidFill>
                  <a:srgbClr val="2B2F36"/>
                </a:solidFill>
                <a:latin typeface="Segoe UI"/>
              </a:rPr>
              <a:t>Mỗi</a:t>
            </a:r>
            <a:r>
              <a:rPr sz="2200" b="0" i="0" u="none" dirty="0">
                <a:solidFill>
                  <a:srgbClr val="2B2F36"/>
                </a:solidFill>
                <a:latin typeface="Segoe UI"/>
              </a:rPr>
              <a:t> </a:t>
            </a:r>
            <a:r>
              <a:rPr sz="2200" b="0" i="0" u="none" dirty="0" err="1">
                <a:solidFill>
                  <a:srgbClr val="2B2F36"/>
                </a:solidFill>
                <a:latin typeface="Segoe UI"/>
              </a:rPr>
              <a:t>nhân</a:t>
            </a:r>
            <a:r>
              <a:rPr sz="2200" b="0" i="0" u="none" dirty="0">
                <a:solidFill>
                  <a:srgbClr val="2B2F36"/>
                </a:solidFill>
                <a:latin typeface="Segoe UI"/>
              </a:rPr>
              <a:t> </a:t>
            </a:r>
            <a:r>
              <a:rPr sz="2200" b="0" i="0" u="none" dirty="0" err="1">
                <a:solidFill>
                  <a:srgbClr val="2B2F36"/>
                </a:solidFill>
                <a:latin typeface="Segoe UI"/>
              </a:rPr>
              <a:t>viên</a:t>
            </a:r>
            <a:r>
              <a:rPr sz="2200" b="0" i="0" u="none" dirty="0">
                <a:solidFill>
                  <a:srgbClr val="2B2F36"/>
                </a:solidFill>
                <a:latin typeface="Segoe UI"/>
              </a:rPr>
              <a:t> </a:t>
            </a:r>
            <a:r>
              <a:rPr sz="2200" b="0" i="0" u="none" dirty="0" err="1">
                <a:solidFill>
                  <a:srgbClr val="2B2F36"/>
                </a:solidFill>
                <a:latin typeface="Segoe UI"/>
              </a:rPr>
              <a:t>tạo</a:t>
            </a:r>
            <a:r>
              <a:rPr sz="2200" b="0" i="0" u="none" dirty="0">
                <a:solidFill>
                  <a:srgbClr val="2B2F36"/>
                </a:solidFill>
                <a:latin typeface="Segoe UI"/>
              </a:rPr>
              <a:t> bao </a:t>
            </a:r>
            <a:r>
              <a:rPr sz="2200" b="0" i="0" u="none" dirty="0" err="1">
                <a:solidFill>
                  <a:srgbClr val="2B2F36"/>
                </a:solidFill>
                <a:latin typeface="Segoe UI"/>
              </a:rPr>
              <a:t>nhiêu</a:t>
            </a:r>
            <a:r>
              <a:rPr sz="2200" b="0" i="0" u="none" dirty="0">
                <a:solidFill>
                  <a:srgbClr val="2B2F36"/>
                </a:solidFill>
                <a:latin typeface="Segoe UI"/>
              </a:rPr>
              <a:t> </a:t>
            </a:r>
            <a:r>
              <a:rPr sz="2200" b="0" i="0" u="none" dirty="0" err="1">
                <a:solidFill>
                  <a:srgbClr val="2B2F36"/>
                </a:solidFill>
                <a:latin typeface="Segoe UI"/>
              </a:rPr>
              <a:t>doanh</a:t>
            </a:r>
            <a:r>
              <a:rPr sz="2200" b="0" i="0" u="none" dirty="0">
                <a:solidFill>
                  <a:srgbClr val="2B2F36"/>
                </a:solidFill>
                <a:latin typeface="Segoe UI"/>
              </a:rPr>
              <a:t> </a:t>
            </a:r>
            <a:r>
              <a:rPr sz="2200" b="0" i="0" u="none" dirty="0" err="1">
                <a:solidFill>
                  <a:srgbClr val="2B2F36"/>
                </a:solidFill>
                <a:latin typeface="Segoe UI"/>
              </a:rPr>
              <a:t>thu</a:t>
            </a:r>
            <a:r>
              <a:rPr sz="2200" b="0" i="0" u="none" dirty="0">
                <a:solidFill>
                  <a:srgbClr val="2B2F36"/>
                </a:solidFill>
                <a:latin typeface="Segoe UI"/>
              </a:rPr>
              <a:t> </a:t>
            </a:r>
            <a:r>
              <a:rPr sz="2200" b="0" i="0" u="none" dirty="0" err="1">
                <a:solidFill>
                  <a:srgbClr val="2B2F36"/>
                </a:solidFill>
                <a:latin typeface="Segoe UI"/>
              </a:rPr>
              <a:t>và</a:t>
            </a:r>
            <a:r>
              <a:rPr sz="2200" b="0" i="0" u="none" dirty="0">
                <a:solidFill>
                  <a:srgbClr val="2B2F36"/>
                </a:solidFill>
                <a:latin typeface="Segoe UI"/>
              </a:rPr>
              <a:t> </a:t>
            </a:r>
            <a:r>
              <a:rPr sz="2200" b="0" i="0" u="none" dirty="0" err="1">
                <a:solidFill>
                  <a:srgbClr val="2B2F36"/>
                </a:solidFill>
                <a:latin typeface="Segoe UI"/>
              </a:rPr>
              <a:t>xử</a:t>
            </a:r>
            <a:r>
              <a:rPr sz="2200" b="0" i="0" u="none" dirty="0">
                <a:solidFill>
                  <a:srgbClr val="2B2F36"/>
                </a:solidFill>
                <a:latin typeface="Segoe UI"/>
              </a:rPr>
              <a:t> </a:t>
            </a:r>
            <a:r>
              <a:rPr sz="2200" b="0" i="0" u="none" dirty="0" err="1">
                <a:solidFill>
                  <a:srgbClr val="2B2F36"/>
                </a:solidFill>
                <a:latin typeface="Segoe UI"/>
              </a:rPr>
              <a:t>lý</a:t>
            </a:r>
            <a:r>
              <a:rPr sz="2200" b="0" i="0" u="none" dirty="0">
                <a:solidFill>
                  <a:srgbClr val="2B2F36"/>
                </a:solidFill>
                <a:latin typeface="Segoe UI"/>
              </a:rPr>
              <a:t> bao </a:t>
            </a:r>
            <a:r>
              <a:rPr sz="2200" b="0" i="0" u="none" dirty="0" err="1">
                <a:solidFill>
                  <a:srgbClr val="2B2F36"/>
                </a:solidFill>
                <a:latin typeface="Segoe UI"/>
              </a:rPr>
              <a:t>nhiêu</a:t>
            </a:r>
            <a:r>
              <a:rPr sz="2200" b="0" i="0" u="none" dirty="0">
                <a:solidFill>
                  <a:srgbClr val="2B2F36"/>
                </a:solidFill>
                <a:latin typeface="Segoe UI"/>
              </a:rPr>
              <a:t> </a:t>
            </a:r>
            <a:r>
              <a:rPr sz="2200" b="0" i="0" u="none" dirty="0" err="1">
                <a:solidFill>
                  <a:srgbClr val="2B2F36"/>
                </a:solidFill>
                <a:latin typeface="Segoe UI"/>
              </a:rPr>
              <a:t>hóa</a:t>
            </a:r>
            <a:r>
              <a:rPr sz="2200" b="0" i="0" u="none" dirty="0">
                <a:solidFill>
                  <a:srgbClr val="2B2F36"/>
                </a:solidFill>
                <a:latin typeface="Segoe UI"/>
              </a:rPr>
              <a:t> </a:t>
            </a:r>
            <a:r>
              <a:rPr sz="2200" b="0" i="0" u="none" dirty="0" err="1">
                <a:solidFill>
                  <a:srgbClr val="2B2F36"/>
                </a:solidFill>
                <a:latin typeface="Segoe UI"/>
              </a:rPr>
              <a:t>đơn</a:t>
            </a:r>
            <a:r>
              <a:rPr sz="2200" b="0" i="0" u="none" dirty="0">
                <a:solidFill>
                  <a:srgbClr val="2B2F36"/>
                </a:solidFill>
                <a:latin typeface="Segoe UI"/>
              </a:rPr>
              <a:t> </a:t>
            </a:r>
            <a:r>
              <a:rPr sz="2200" b="0" i="0" u="none" dirty="0" err="1">
                <a:solidFill>
                  <a:srgbClr val="2B2F36"/>
                </a:solidFill>
                <a:latin typeface="Segoe UI"/>
              </a:rPr>
              <a:t>thành</a:t>
            </a:r>
            <a:r>
              <a:rPr sz="2200" b="0" i="0" u="none" dirty="0">
                <a:solidFill>
                  <a:srgbClr val="2B2F36"/>
                </a:solidFill>
                <a:latin typeface="Segoe UI"/>
              </a:rPr>
              <a:t> </a:t>
            </a:r>
            <a:r>
              <a:rPr sz="2200" b="0" i="0" u="none" dirty="0" err="1">
                <a:solidFill>
                  <a:srgbClr val="2B2F36"/>
                </a:solidFill>
                <a:latin typeface="Segoe UI"/>
              </a:rPr>
              <a:t>công</a:t>
            </a:r>
            <a:r>
              <a:rPr sz="2200" b="0" i="0" u="none" dirty="0">
                <a:solidFill>
                  <a:srgbClr val="2B2F36"/>
                </a:solidFill>
                <a:latin typeface="Segoe UI"/>
              </a:rPr>
              <a:t>?</a:t>
            </a:r>
          </a:p>
        </p:txBody>
      </p:sp>
      <p:sp>
        <p:nvSpPr>
          <p:cNvPr id="12" name="TextBox 11"/>
          <p:cNvSpPr txBox="1"/>
          <p:nvPr/>
        </p:nvSpPr>
        <p:spPr>
          <a:xfrm>
            <a:off x="4572000" y="2728466"/>
            <a:ext cx="3810000" cy="426541"/>
          </a:xfrm>
          <a:prstGeom prst="rect">
            <a:avLst/>
          </a:prstGeom>
          <a:noFill/>
        </p:spPr>
        <p:txBody>
          <a:bodyPr wrap="none" lIns="0" tIns="0" rIns="0" bIns="0" anchor="t">
            <a:spAutoFit/>
          </a:bodyPr>
          <a:lstStyle/>
          <a:p>
            <a:pPr algn="l">
              <a:lnSpc>
                <a:spcPts val="3359"/>
              </a:lnSpc>
            </a:pPr>
            <a:r>
              <a:rPr sz="2799" b="1" i="0" u="none">
                <a:solidFill>
                  <a:srgbClr val="1F2D3D"/>
                </a:solidFill>
                <a:latin typeface="Constantia"/>
              </a:rPr>
              <a:t>2. Phân hóa</a:t>
            </a:r>
          </a:p>
        </p:txBody>
      </p:sp>
      <p:sp>
        <p:nvSpPr>
          <p:cNvPr id="13" name="TextBox 12"/>
          <p:cNvSpPr txBox="1"/>
          <p:nvPr/>
        </p:nvSpPr>
        <p:spPr>
          <a:xfrm>
            <a:off x="4572000" y="3231207"/>
            <a:ext cx="3143250" cy="1268745"/>
          </a:xfrm>
          <a:prstGeom prst="rect">
            <a:avLst/>
          </a:prstGeom>
          <a:noFill/>
        </p:spPr>
        <p:txBody>
          <a:bodyPr wrap="square" lIns="0" tIns="0" rIns="0" bIns="0" anchor="t">
            <a:spAutoFit/>
          </a:bodyPr>
          <a:lstStyle/>
          <a:p>
            <a:pPr algn="l">
              <a:lnSpc>
                <a:spcPts val="3375"/>
              </a:lnSpc>
            </a:pPr>
            <a:r>
              <a:rPr sz="2200" b="0" i="0" u="none">
                <a:solidFill>
                  <a:srgbClr val="2B2F36"/>
                </a:solidFill>
                <a:latin typeface="Segoe UI"/>
              </a:rPr>
              <a:t>Ai thuộc nhóm vượt trội, ai thuộc nhóm dưới kỳ vọng?</a:t>
            </a:r>
          </a:p>
        </p:txBody>
      </p:sp>
      <p:sp>
        <p:nvSpPr>
          <p:cNvPr id="14" name="TextBox 13"/>
          <p:cNvSpPr txBox="1"/>
          <p:nvPr/>
        </p:nvSpPr>
        <p:spPr>
          <a:xfrm>
            <a:off x="8305800" y="2728466"/>
            <a:ext cx="3810000" cy="426541"/>
          </a:xfrm>
          <a:prstGeom prst="rect">
            <a:avLst/>
          </a:prstGeom>
          <a:noFill/>
        </p:spPr>
        <p:txBody>
          <a:bodyPr wrap="none" lIns="0" tIns="0" rIns="0" bIns="0" anchor="t">
            <a:spAutoFit/>
          </a:bodyPr>
          <a:lstStyle/>
          <a:p>
            <a:pPr algn="l">
              <a:lnSpc>
                <a:spcPts val="3359"/>
              </a:lnSpc>
            </a:pPr>
            <a:r>
              <a:rPr sz="2799" b="1" i="0" u="none">
                <a:solidFill>
                  <a:srgbClr val="1F2D3D"/>
                </a:solidFill>
                <a:latin typeface="Constantia"/>
              </a:rPr>
              <a:t>3. Xu hướng</a:t>
            </a:r>
          </a:p>
        </p:txBody>
      </p:sp>
      <p:sp>
        <p:nvSpPr>
          <p:cNvPr id="15" name="TextBox 14"/>
          <p:cNvSpPr txBox="1"/>
          <p:nvPr/>
        </p:nvSpPr>
        <p:spPr>
          <a:xfrm>
            <a:off x="8305800" y="3231207"/>
            <a:ext cx="3143250" cy="1285428"/>
          </a:xfrm>
          <a:prstGeom prst="rect">
            <a:avLst/>
          </a:prstGeom>
          <a:noFill/>
        </p:spPr>
        <p:txBody>
          <a:bodyPr wrap="square" lIns="0" tIns="0" rIns="0" bIns="0" anchor="t">
            <a:spAutoFit/>
          </a:bodyPr>
          <a:lstStyle/>
          <a:p>
            <a:pPr algn="l">
              <a:lnSpc>
                <a:spcPts val="3375"/>
              </a:lnSpc>
            </a:pPr>
            <a:r>
              <a:rPr sz="2200" b="0" i="0" u="none">
                <a:solidFill>
                  <a:srgbClr val="2B2F36"/>
                </a:solidFill>
                <a:latin typeface="Segoe UI"/>
              </a:rPr>
              <a:t>Doanh số của từng người biến động thế nào theo thời gian?</a:t>
            </a:r>
          </a:p>
        </p:txBody>
      </p:sp>
      <p:sp>
        <p:nvSpPr>
          <p:cNvPr id="16" name="TextBox 15"/>
          <p:cNvSpPr txBox="1"/>
          <p:nvPr/>
        </p:nvSpPr>
        <p:spPr>
          <a:xfrm>
            <a:off x="838200" y="5087724"/>
            <a:ext cx="6096000" cy="426541"/>
          </a:xfrm>
          <a:prstGeom prst="rect">
            <a:avLst/>
          </a:prstGeom>
          <a:noFill/>
        </p:spPr>
        <p:txBody>
          <a:bodyPr wrap="none" lIns="0" tIns="0" rIns="0" bIns="0" anchor="t">
            <a:spAutoFit/>
          </a:bodyPr>
          <a:lstStyle/>
          <a:p>
            <a:pPr algn="l">
              <a:lnSpc>
                <a:spcPts val="3359"/>
              </a:lnSpc>
            </a:pPr>
            <a:r>
              <a:rPr sz="2799" b="1" i="0" u="none">
                <a:solidFill>
                  <a:srgbClr val="1F2D3D"/>
                </a:solidFill>
                <a:latin typeface="Constantia"/>
              </a:rPr>
              <a:t>4. Phục vụ</a:t>
            </a:r>
          </a:p>
        </p:txBody>
      </p:sp>
      <p:sp>
        <p:nvSpPr>
          <p:cNvPr id="17" name="TextBox 16"/>
          <p:cNvSpPr txBox="1"/>
          <p:nvPr/>
        </p:nvSpPr>
        <p:spPr>
          <a:xfrm>
            <a:off x="838200" y="5590465"/>
            <a:ext cx="4972050" cy="832728"/>
          </a:xfrm>
          <a:prstGeom prst="rect">
            <a:avLst/>
          </a:prstGeom>
          <a:noFill/>
        </p:spPr>
        <p:txBody>
          <a:bodyPr wrap="square" lIns="0" tIns="0" rIns="0" bIns="0" anchor="t">
            <a:spAutoFit/>
          </a:bodyPr>
          <a:lstStyle/>
          <a:p>
            <a:pPr algn="l">
              <a:lnSpc>
                <a:spcPts val="3375"/>
              </a:lnSpc>
            </a:pPr>
            <a:r>
              <a:rPr sz="2200" b="0" i="0" u="none" dirty="0">
                <a:solidFill>
                  <a:srgbClr val="2B2F36"/>
                </a:solidFill>
                <a:latin typeface="Segoe UI"/>
              </a:rPr>
              <a:t>Thái </a:t>
            </a:r>
            <a:r>
              <a:rPr sz="2200" b="0" i="0" u="none" dirty="0" err="1">
                <a:solidFill>
                  <a:srgbClr val="2B2F36"/>
                </a:solidFill>
                <a:latin typeface="Segoe UI"/>
              </a:rPr>
              <a:t>độ</a:t>
            </a:r>
            <a:r>
              <a:rPr sz="2200" b="0" i="0" u="none" dirty="0">
                <a:solidFill>
                  <a:srgbClr val="2B2F36"/>
                </a:solidFill>
                <a:latin typeface="Segoe UI"/>
              </a:rPr>
              <a:t> </a:t>
            </a:r>
            <a:r>
              <a:rPr sz="2200" b="0" i="0" u="none" dirty="0" err="1">
                <a:solidFill>
                  <a:srgbClr val="2B2F36"/>
                </a:solidFill>
                <a:latin typeface="Segoe UI"/>
              </a:rPr>
              <a:t>phục</a:t>
            </a:r>
            <a:r>
              <a:rPr sz="2200" b="0" i="0" u="none" dirty="0">
                <a:solidFill>
                  <a:srgbClr val="2B2F36"/>
                </a:solidFill>
                <a:latin typeface="Segoe UI"/>
              </a:rPr>
              <a:t> </a:t>
            </a:r>
            <a:r>
              <a:rPr sz="2200" b="0" i="0" u="none" dirty="0" err="1">
                <a:solidFill>
                  <a:srgbClr val="2B2F36"/>
                </a:solidFill>
                <a:latin typeface="Segoe UI"/>
              </a:rPr>
              <a:t>vụ</a:t>
            </a:r>
            <a:r>
              <a:rPr sz="2200" b="0" i="0" u="none" dirty="0">
                <a:solidFill>
                  <a:srgbClr val="2B2F36"/>
                </a:solidFill>
                <a:latin typeface="Segoe UI"/>
              </a:rPr>
              <a:t> </a:t>
            </a:r>
            <a:r>
              <a:rPr sz="2200" b="0" i="0" u="none" dirty="0" err="1">
                <a:solidFill>
                  <a:srgbClr val="2B2F36"/>
                </a:solidFill>
                <a:latin typeface="Segoe UI"/>
              </a:rPr>
              <a:t>khách</a:t>
            </a:r>
            <a:r>
              <a:rPr sz="2200" b="0" i="0" u="none" dirty="0">
                <a:solidFill>
                  <a:srgbClr val="2B2F36"/>
                </a:solidFill>
                <a:latin typeface="Segoe UI"/>
              </a:rPr>
              <a:t> </a:t>
            </a:r>
            <a:r>
              <a:rPr sz="2200" b="0" i="0" u="none" dirty="0" err="1">
                <a:solidFill>
                  <a:srgbClr val="2B2F36"/>
                </a:solidFill>
                <a:latin typeface="Segoe UI"/>
              </a:rPr>
              <a:t>hàng</a:t>
            </a:r>
            <a:r>
              <a:rPr sz="2200" b="0" i="0" u="none" dirty="0">
                <a:solidFill>
                  <a:srgbClr val="2B2F36"/>
                </a:solidFill>
                <a:latin typeface="Segoe UI"/>
              </a:rPr>
              <a:t> </a:t>
            </a:r>
            <a:r>
              <a:rPr sz="2200" b="0" i="0" u="none" dirty="0" err="1">
                <a:solidFill>
                  <a:srgbClr val="2B2F36"/>
                </a:solidFill>
                <a:latin typeface="Segoe UI"/>
              </a:rPr>
              <a:t>của</a:t>
            </a:r>
            <a:r>
              <a:rPr sz="2200" b="0" i="0" u="none" dirty="0">
                <a:solidFill>
                  <a:srgbClr val="2B2F36"/>
                </a:solidFill>
                <a:latin typeface="Segoe UI"/>
              </a:rPr>
              <a:t> </a:t>
            </a:r>
            <a:r>
              <a:rPr sz="2200" b="0" i="0" u="none" dirty="0" err="1">
                <a:solidFill>
                  <a:srgbClr val="2B2F36"/>
                </a:solidFill>
                <a:latin typeface="Segoe UI"/>
              </a:rPr>
              <a:t>nhân</a:t>
            </a:r>
            <a:r>
              <a:rPr sz="2200" b="0" i="0" u="none" dirty="0">
                <a:solidFill>
                  <a:srgbClr val="2B2F36"/>
                </a:solidFill>
                <a:latin typeface="Segoe UI"/>
              </a:rPr>
              <a:t> </a:t>
            </a:r>
            <a:r>
              <a:rPr sz="2200" b="0" i="0" u="none" dirty="0" err="1">
                <a:solidFill>
                  <a:srgbClr val="2B2F36"/>
                </a:solidFill>
                <a:latin typeface="Segoe UI"/>
              </a:rPr>
              <a:t>viên</a:t>
            </a:r>
            <a:r>
              <a:rPr sz="2200" b="0" i="0" u="none" dirty="0">
                <a:solidFill>
                  <a:srgbClr val="2B2F36"/>
                </a:solidFill>
                <a:latin typeface="Segoe UI"/>
              </a:rPr>
              <a:t> </a:t>
            </a:r>
            <a:r>
              <a:rPr sz="2200" b="0" i="0" u="none" dirty="0" err="1">
                <a:solidFill>
                  <a:srgbClr val="2B2F36"/>
                </a:solidFill>
                <a:latin typeface="Segoe UI"/>
              </a:rPr>
              <a:t>ra</a:t>
            </a:r>
            <a:r>
              <a:rPr sz="2200" b="0" i="0" u="none" dirty="0">
                <a:solidFill>
                  <a:srgbClr val="2B2F36"/>
                </a:solidFill>
                <a:latin typeface="Segoe UI"/>
              </a:rPr>
              <a:t> </a:t>
            </a:r>
            <a:r>
              <a:rPr sz="2200" b="0" i="0" u="none" dirty="0" err="1">
                <a:solidFill>
                  <a:srgbClr val="2B2F36"/>
                </a:solidFill>
                <a:latin typeface="Segoe UI"/>
              </a:rPr>
              <a:t>sao</a:t>
            </a:r>
            <a:r>
              <a:rPr sz="2200" b="0" i="0" u="none" dirty="0">
                <a:solidFill>
                  <a:srgbClr val="2B2F36"/>
                </a:solidFill>
                <a:latin typeface="Segoe UI"/>
              </a:rPr>
              <a:t>?</a:t>
            </a:r>
          </a:p>
        </p:txBody>
      </p:sp>
      <p:sp>
        <p:nvSpPr>
          <p:cNvPr id="18" name="TextBox 17"/>
          <p:cNvSpPr txBox="1"/>
          <p:nvPr/>
        </p:nvSpPr>
        <p:spPr>
          <a:xfrm>
            <a:off x="6477000" y="5087724"/>
            <a:ext cx="5715000" cy="426541"/>
          </a:xfrm>
          <a:prstGeom prst="rect">
            <a:avLst/>
          </a:prstGeom>
          <a:noFill/>
        </p:spPr>
        <p:txBody>
          <a:bodyPr wrap="none" lIns="0" tIns="0" rIns="0" bIns="0" anchor="t">
            <a:spAutoFit/>
          </a:bodyPr>
          <a:lstStyle/>
          <a:p>
            <a:pPr algn="l">
              <a:lnSpc>
                <a:spcPts val="3359"/>
              </a:lnSpc>
            </a:pPr>
            <a:r>
              <a:rPr sz="2799" b="1" i="0" u="none">
                <a:solidFill>
                  <a:srgbClr val="1F2D3D"/>
                </a:solidFill>
                <a:latin typeface="Constantia"/>
              </a:rPr>
              <a:t>5. Hiệu quả</a:t>
            </a:r>
          </a:p>
        </p:txBody>
      </p:sp>
      <p:sp>
        <p:nvSpPr>
          <p:cNvPr id="19" name="TextBox 18"/>
          <p:cNvSpPr txBox="1"/>
          <p:nvPr/>
        </p:nvSpPr>
        <p:spPr>
          <a:xfrm>
            <a:off x="6477000" y="5590465"/>
            <a:ext cx="4972050" cy="832728"/>
          </a:xfrm>
          <a:prstGeom prst="rect">
            <a:avLst/>
          </a:prstGeom>
          <a:noFill/>
        </p:spPr>
        <p:txBody>
          <a:bodyPr wrap="square" lIns="0" tIns="0" rIns="0" bIns="0" anchor="t">
            <a:spAutoFit/>
          </a:bodyPr>
          <a:lstStyle/>
          <a:p>
            <a:pPr algn="l">
              <a:lnSpc>
                <a:spcPts val="3375"/>
              </a:lnSpc>
            </a:pPr>
            <a:r>
              <a:rPr sz="2200" b="0" i="0" u="none">
                <a:solidFill>
                  <a:srgbClr val="2B2F36"/>
                </a:solidFill>
                <a:latin typeface="Segoe UI"/>
              </a:rPr>
              <a:t>Ai hoàn tất đơn hiệu quả và có chất lượng giao dịch tốt?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3EC"/>
        </a:solidFill>
        <a:effectLst/>
      </p:bgPr>
    </p:bg>
    <p:spTree>
      <p:nvGrpSpPr>
        <p:cNvPr id="1" name=""/>
        <p:cNvGrpSpPr/>
        <p:nvPr/>
      </p:nvGrpSpPr>
      <p:grpSpPr>
        <a:xfrm>
          <a:off x="0" y="0"/>
          <a:ext cx="0" cy="0"/>
          <a:chOff x="0" y="0"/>
          <a:chExt cx="0" cy="0"/>
        </a:xfrm>
      </p:grpSpPr>
      <p:sp>
        <p:nvSpPr>
          <p:cNvPr id="2" name="Rectangle 1"/>
          <p:cNvSpPr/>
          <p:nvPr/>
        </p:nvSpPr>
        <p:spPr>
          <a:xfrm>
            <a:off x="609600" y="6057602"/>
            <a:ext cx="10972800" cy="9525"/>
          </a:xfrm>
          <a:prstGeom prst="rect">
            <a:avLst/>
          </a:prstGeom>
          <a:solidFill>
            <a:srgbClr val="A68A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609600" y="2466677"/>
            <a:ext cx="3505200" cy="1428750"/>
          </a:xfrm>
          <a:prstGeom prst="roundRect">
            <a:avLst>
              <a:gd name="adj" fmla="val 5333"/>
            </a:avLst>
          </a:prstGeom>
          <a:solidFill>
            <a:srgbClr val="FA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4343400" y="2285702"/>
            <a:ext cx="3505200" cy="1790700"/>
          </a:xfrm>
          <a:prstGeom prst="roundRect">
            <a:avLst>
              <a:gd name="adj" fmla="val 4255"/>
            </a:avLst>
          </a:prstGeom>
          <a:solidFill>
            <a:srgbClr val="FA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8077200" y="2285702"/>
            <a:ext cx="3505200" cy="1790700"/>
          </a:xfrm>
          <a:prstGeom prst="roundRect">
            <a:avLst>
              <a:gd name="adj" fmla="val 4255"/>
            </a:avLst>
          </a:prstGeom>
          <a:solidFill>
            <a:srgbClr val="FA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09600" y="4266902"/>
            <a:ext cx="3505200" cy="1790700"/>
          </a:xfrm>
          <a:prstGeom prst="roundRect">
            <a:avLst>
              <a:gd name="adj" fmla="val 4255"/>
            </a:avLst>
          </a:prstGeom>
          <a:solidFill>
            <a:srgbClr val="FA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4343400" y="4266902"/>
            <a:ext cx="3505200" cy="1790700"/>
          </a:xfrm>
          <a:prstGeom prst="roundRect">
            <a:avLst>
              <a:gd name="adj" fmla="val 4255"/>
            </a:avLst>
          </a:prstGeom>
          <a:solidFill>
            <a:srgbClr val="FA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8077200" y="4266902"/>
            <a:ext cx="3505200" cy="1790700"/>
          </a:xfrm>
          <a:prstGeom prst="roundRect">
            <a:avLst>
              <a:gd name="adj" fmla="val 4255"/>
            </a:avLst>
          </a:prstGeom>
          <a:solidFill>
            <a:srgbClr val="FA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09600" y="457200"/>
            <a:ext cx="11582400" cy="426541"/>
          </a:xfrm>
          <a:prstGeom prst="rect">
            <a:avLst/>
          </a:prstGeom>
          <a:noFill/>
        </p:spPr>
        <p:txBody>
          <a:bodyPr wrap="none" lIns="0" tIns="0" rIns="0" bIns="0" anchor="t">
            <a:spAutoFit/>
          </a:bodyPr>
          <a:lstStyle/>
          <a:p>
            <a:pPr algn="l">
              <a:lnSpc>
                <a:spcPts val="3359"/>
              </a:lnSpc>
            </a:pPr>
            <a:r>
              <a:rPr sz="2799" b="1" i="0" u="none">
                <a:solidFill>
                  <a:srgbClr val="0F172A"/>
                </a:solidFill>
                <a:latin typeface="Segoe UI"/>
              </a:rPr>
              <a:t>04 · DATA OVERVIEW</a:t>
            </a:r>
          </a:p>
        </p:txBody>
      </p:sp>
      <p:sp>
        <p:nvSpPr>
          <p:cNvPr id="10" name="TextBox 9"/>
          <p:cNvSpPr txBox="1"/>
          <p:nvPr/>
        </p:nvSpPr>
        <p:spPr>
          <a:xfrm>
            <a:off x="609600" y="959941"/>
            <a:ext cx="11582400" cy="525660"/>
          </a:xfrm>
          <a:prstGeom prst="rect">
            <a:avLst/>
          </a:prstGeom>
          <a:noFill/>
        </p:spPr>
        <p:txBody>
          <a:bodyPr wrap="none" lIns="0" tIns="0" rIns="0" bIns="0" anchor="t">
            <a:spAutoFit/>
          </a:bodyPr>
          <a:lstStyle/>
          <a:p>
            <a:pPr algn="l">
              <a:lnSpc>
                <a:spcPts val="4140"/>
              </a:lnSpc>
            </a:pPr>
            <a:r>
              <a:rPr sz="3600" b="1" i="0" u="none">
                <a:solidFill>
                  <a:srgbClr val="1F2D3D"/>
                </a:solidFill>
                <a:latin typeface="Constantia"/>
              </a:rPr>
              <a:t>Tổng quan dữ liệu</a:t>
            </a:r>
          </a:p>
        </p:txBody>
      </p:sp>
      <p:sp>
        <p:nvSpPr>
          <p:cNvPr id="11" name="TextBox 10"/>
          <p:cNvSpPr txBox="1"/>
          <p:nvPr/>
        </p:nvSpPr>
        <p:spPr>
          <a:xfrm>
            <a:off x="609600" y="1599902"/>
            <a:ext cx="11582400" cy="457200"/>
          </a:xfrm>
          <a:prstGeom prst="rect">
            <a:avLst/>
          </a:prstGeom>
          <a:noFill/>
        </p:spPr>
        <p:txBody>
          <a:bodyPr wrap="none" lIns="0" tIns="0" rIns="0" bIns="0" anchor="t">
            <a:spAutoFit/>
          </a:bodyPr>
          <a:lstStyle/>
          <a:p>
            <a:pPr algn="l">
              <a:lnSpc>
                <a:spcPts val="3600"/>
              </a:lnSpc>
            </a:pPr>
            <a:r>
              <a:rPr sz="3000" b="0" i="0" u="none">
                <a:solidFill>
                  <a:srgbClr val="2B2F36"/>
                </a:solidFill>
                <a:latin typeface="Constantia"/>
              </a:rPr>
              <a:t>Mười năm rưỡi giao dịch, từ 04/07/2012 đến hết năm 2022.</a:t>
            </a:r>
          </a:p>
        </p:txBody>
      </p:sp>
      <p:sp>
        <p:nvSpPr>
          <p:cNvPr id="12" name="TextBox 11"/>
          <p:cNvSpPr txBox="1"/>
          <p:nvPr/>
        </p:nvSpPr>
        <p:spPr>
          <a:xfrm>
            <a:off x="609600" y="6171902"/>
            <a:ext cx="11068050" cy="371475"/>
          </a:xfrm>
          <a:prstGeom prst="rect">
            <a:avLst/>
          </a:prstGeom>
          <a:noFill/>
        </p:spPr>
        <p:txBody>
          <a:bodyPr wrap="square" lIns="0" tIns="0" rIns="0" bIns="0" anchor="t">
            <a:spAutoFit/>
          </a:bodyPr>
          <a:lstStyle/>
          <a:p>
            <a:pPr algn="l"/>
            <a:r>
              <a:rPr sz="2499" b="0" i="1" u="none">
                <a:solidFill>
                  <a:srgbClr val="2B2F36"/>
                </a:solidFill>
                <a:latin typeface="Segoe UI"/>
              </a:rPr>
              <a:t> Chú thích: Dữ liệu gồm 15 bảng. Gần 90% đơn hàng chỉ có một dòng hàng. </a:t>
            </a:r>
          </a:p>
        </p:txBody>
      </p:sp>
      <p:sp>
        <p:nvSpPr>
          <p:cNvPr id="13" name="TextBox 12"/>
          <p:cNvSpPr txBox="1"/>
          <p:nvPr/>
        </p:nvSpPr>
        <p:spPr>
          <a:xfrm>
            <a:off x="838200" y="2695277"/>
            <a:ext cx="3810000" cy="533400"/>
          </a:xfrm>
          <a:prstGeom prst="rect">
            <a:avLst/>
          </a:prstGeom>
          <a:noFill/>
        </p:spPr>
        <p:txBody>
          <a:bodyPr wrap="none" lIns="0" tIns="0" rIns="0" bIns="0" anchor="t">
            <a:spAutoFit/>
          </a:bodyPr>
          <a:lstStyle/>
          <a:p>
            <a:pPr algn="l">
              <a:lnSpc>
                <a:spcPts val="4200"/>
              </a:lnSpc>
            </a:pPr>
            <a:r>
              <a:rPr sz="4200" b="1" i="0" u="none">
                <a:solidFill>
                  <a:srgbClr val="A68A5B"/>
                </a:solidFill>
                <a:latin typeface="Constantia"/>
              </a:rPr>
              <a:t>646,945</a:t>
            </a:r>
          </a:p>
        </p:txBody>
      </p:sp>
      <p:sp>
        <p:nvSpPr>
          <p:cNvPr id="14" name="TextBox 13"/>
          <p:cNvSpPr txBox="1"/>
          <p:nvPr/>
        </p:nvSpPr>
        <p:spPr>
          <a:xfrm>
            <a:off x="838200" y="3304877"/>
            <a:ext cx="3810000" cy="361950"/>
          </a:xfrm>
          <a:prstGeom prst="rect">
            <a:avLst/>
          </a:prstGeom>
          <a:noFill/>
        </p:spPr>
        <p:txBody>
          <a:bodyPr wrap="none" lIns="0" tIns="0" rIns="0" bIns="0" anchor="t">
            <a:spAutoFit/>
          </a:bodyPr>
          <a:lstStyle/>
          <a:p>
            <a:pPr algn="l"/>
            <a:r>
              <a:rPr sz="2499" b="0" i="0" u="none">
                <a:solidFill>
                  <a:srgbClr val="2B2F36"/>
                </a:solidFill>
                <a:latin typeface="Segoe UI"/>
              </a:rPr>
              <a:t>Đơn hàng tổng cộng</a:t>
            </a:r>
          </a:p>
        </p:txBody>
      </p:sp>
      <p:sp>
        <p:nvSpPr>
          <p:cNvPr id="15" name="TextBox 14"/>
          <p:cNvSpPr txBox="1"/>
          <p:nvPr/>
        </p:nvSpPr>
        <p:spPr>
          <a:xfrm>
            <a:off x="4572000" y="2514302"/>
            <a:ext cx="3810000" cy="533400"/>
          </a:xfrm>
          <a:prstGeom prst="rect">
            <a:avLst/>
          </a:prstGeom>
          <a:noFill/>
        </p:spPr>
        <p:txBody>
          <a:bodyPr wrap="none" lIns="0" tIns="0" rIns="0" bIns="0" anchor="t">
            <a:spAutoFit/>
          </a:bodyPr>
          <a:lstStyle/>
          <a:p>
            <a:pPr algn="l">
              <a:lnSpc>
                <a:spcPts val="4200"/>
              </a:lnSpc>
            </a:pPr>
            <a:r>
              <a:rPr sz="4200" b="1" i="0" u="none">
                <a:solidFill>
                  <a:srgbClr val="A68A5B"/>
                </a:solidFill>
                <a:latin typeface="Constantia"/>
              </a:rPr>
              <a:t>714,653</a:t>
            </a:r>
          </a:p>
        </p:txBody>
      </p:sp>
      <p:sp>
        <p:nvSpPr>
          <p:cNvPr id="16" name="TextBox 15"/>
          <p:cNvSpPr txBox="1"/>
          <p:nvPr/>
        </p:nvSpPr>
        <p:spPr>
          <a:xfrm>
            <a:off x="4572000" y="3123902"/>
            <a:ext cx="3143250" cy="723900"/>
          </a:xfrm>
          <a:prstGeom prst="rect">
            <a:avLst/>
          </a:prstGeom>
          <a:noFill/>
        </p:spPr>
        <p:txBody>
          <a:bodyPr wrap="square" lIns="0" tIns="0" rIns="0" bIns="0" anchor="t">
            <a:spAutoFit/>
          </a:bodyPr>
          <a:lstStyle/>
          <a:p>
            <a:pPr algn="l"/>
            <a:r>
              <a:rPr sz="2499" b="0" i="0" u="none">
                <a:solidFill>
                  <a:srgbClr val="2B2F36"/>
                </a:solidFill>
                <a:latin typeface="Segoe UI"/>
              </a:rPr>
              <a:t>Dòng hàng (1.1 dòng/đơn)</a:t>
            </a:r>
          </a:p>
        </p:txBody>
      </p:sp>
      <p:sp>
        <p:nvSpPr>
          <p:cNvPr id="17" name="TextBox 16"/>
          <p:cNvSpPr txBox="1"/>
          <p:nvPr/>
        </p:nvSpPr>
        <p:spPr>
          <a:xfrm>
            <a:off x="8305800" y="2514302"/>
            <a:ext cx="3810000" cy="533400"/>
          </a:xfrm>
          <a:prstGeom prst="rect">
            <a:avLst/>
          </a:prstGeom>
          <a:noFill/>
        </p:spPr>
        <p:txBody>
          <a:bodyPr wrap="none" lIns="0" tIns="0" rIns="0" bIns="0" anchor="t">
            <a:spAutoFit/>
          </a:bodyPr>
          <a:lstStyle/>
          <a:p>
            <a:pPr algn="l">
              <a:lnSpc>
                <a:spcPts val="4200"/>
              </a:lnSpc>
            </a:pPr>
            <a:r>
              <a:rPr sz="4200" b="1" i="0" u="none">
                <a:solidFill>
                  <a:srgbClr val="A68A5B"/>
                </a:solidFill>
                <a:latin typeface="Constantia"/>
              </a:rPr>
              <a:t>200</a:t>
            </a:r>
          </a:p>
        </p:txBody>
      </p:sp>
      <p:sp>
        <p:nvSpPr>
          <p:cNvPr id="18" name="TextBox 17"/>
          <p:cNvSpPr txBox="1"/>
          <p:nvPr/>
        </p:nvSpPr>
        <p:spPr>
          <a:xfrm>
            <a:off x="8305800" y="3123902"/>
            <a:ext cx="3143250" cy="723900"/>
          </a:xfrm>
          <a:prstGeom prst="rect">
            <a:avLst/>
          </a:prstGeom>
          <a:noFill/>
        </p:spPr>
        <p:txBody>
          <a:bodyPr wrap="square" lIns="0" tIns="0" rIns="0" bIns="0" anchor="t">
            <a:spAutoFit/>
          </a:bodyPr>
          <a:lstStyle/>
          <a:p>
            <a:pPr algn="l"/>
            <a:r>
              <a:rPr sz="2499" b="0" i="0" u="none">
                <a:solidFill>
                  <a:srgbClr val="2B2F36"/>
                </a:solidFill>
                <a:latin typeface="Segoe UI"/>
              </a:rPr>
              <a:t>Nhân viên (3,235 đơn/người)</a:t>
            </a:r>
          </a:p>
        </p:txBody>
      </p:sp>
      <p:sp>
        <p:nvSpPr>
          <p:cNvPr id="19" name="TextBox 18"/>
          <p:cNvSpPr txBox="1"/>
          <p:nvPr/>
        </p:nvSpPr>
        <p:spPr>
          <a:xfrm>
            <a:off x="838200" y="4495502"/>
            <a:ext cx="3810000" cy="533400"/>
          </a:xfrm>
          <a:prstGeom prst="rect">
            <a:avLst/>
          </a:prstGeom>
          <a:noFill/>
        </p:spPr>
        <p:txBody>
          <a:bodyPr wrap="none" lIns="0" tIns="0" rIns="0" bIns="0" anchor="t">
            <a:spAutoFit/>
          </a:bodyPr>
          <a:lstStyle/>
          <a:p>
            <a:pPr algn="l">
              <a:lnSpc>
                <a:spcPts val="4200"/>
              </a:lnSpc>
            </a:pPr>
            <a:r>
              <a:rPr sz="4200" b="1" i="0" u="none">
                <a:solidFill>
                  <a:srgbClr val="A68A5B"/>
                </a:solidFill>
                <a:latin typeface="Constantia"/>
              </a:rPr>
              <a:t>121,930</a:t>
            </a:r>
          </a:p>
        </p:txBody>
      </p:sp>
      <p:sp>
        <p:nvSpPr>
          <p:cNvPr id="20" name="TextBox 19"/>
          <p:cNvSpPr txBox="1"/>
          <p:nvPr/>
        </p:nvSpPr>
        <p:spPr>
          <a:xfrm>
            <a:off x="838200" y="5105102"/>
            <a:ext cx="3143250" cy="723900"/>
          </a:xfrm>
          <a:prstGeom prst="rect">
            <a:avLst/>
          </a:prstGeom>
          <a:noFill/>
        </p:spPr>
        <p:txBody>
          <a:bodyPr wrap="square" lIns="0" tIns="0" rIns="0" bIns="0" anchor="t">
            <a:spAutoFit/>
          </a:bodyPr>
          <a:lstStyle/>
          <a:p>
            <a:pPr algn="l"/>
            <a:r>
              <a:rPr sz="2499" b="0" i="0" u="none">
                <a:solidFill>
                  <a:srgbClr val="2B2F36"/>
                </a:solidFill>
                <a:latin typeface="Segoe UI"/>
              </a:rPr>
              <a:t>Khách đăng ký (90,246 đã mua)</a:t>
            </a:r>
          </a:p>
        </p:txBody>
      </p:sp>
      <p:sp>
        <p:nvSpPr>
          <p:cNvPr id="21" name="TextBox 20"/>
          <p:cNvSpPr txBox="1"/>
          <p:nvPr/>
        </p:nvSpPr>
        <p:spPr>
          <a:xfrm>
            <a:off x="4572000" y="4495502"/>
            <a:ext cx="3810000" cy="533400"/>
          </a:xfrm>
          <a:prstGeom prst="rect">
            <a:avLst/>
          </a:prstGeom>
          <a:noFill/>
        </p:spPr>
        <p:txBody>
          <a:bodyPr wrap="none" lIns="0" tIns="0" rIns="0" bIns="0" anchor="t">
            <a:spAutoFit/>
          </a:bodyPr>
          <a:lstStyle/>
          <a:p>
            <a:pPr algn="l">
              <a:lnSpc>
                <a:spcPts val="4200"/>
              </a:lnSpc>
            </a:pPr>
            <a:r>
              <a:rPr sz="4200" b="1" i="0" u="none">
                <a:solidFill>
                  <a:srgbClr val="A68A5B"/>
                </a:solidFill>
                <a:latin typeface="Constantia"/>
              </a:rPr>
              <a:t>2,412</a:t>
            </a:r>
          </a:p>
        </p:txBody>
      </p:sp>
      <p:sp>
        <p:nvSpPr>
          <p:cNvPr id="22" name="TextBox 21"/>
          <p:cNvSpPr txBox="1"/>
          <p:nvPr/>
        </p:nvSpPr>
        <p:spPr>
          <a:xfrm>
            <a:off x="4572000" y="5105102"/>
            <a:ext cx="3143250" cy="723900"/>
          </a:xfrm>
          <a:prstGeom prst="rect">
            <a:avLst/>
          </a:prstGeom>
          <a:noFill/>
        </p:spPr>
        <p:txBody>
          <a:bodyPr wrap="square" lIns="0" tIns="0" rIns="0" bIns="0" anchor="t">
            <a:spAutoFit/>
          </a:bodyPr>
          <a:lstStyle/>
          <a:p>
            <a:pPr algn="l"/>
            <a:r>
              <a:rPr sz="2499" b="0" i="0" u="none">
                <a:solidFill>
                  <a:srgbClr val="2B2F36"/>
                </a:solidFill>
                <a:latin typeface="Segoe UI"/>
              </a:rPr>
              <a:t>Sản phẩm thuộc 4 danh mục</a:t>
            </a:r>
          </a:p>
        </p:txBody>
      </p:sp>
      <p:sp>
        <p:nvSpPr>
          <p:cNvPr id="23" name="TextBox 22"/>
          <p:cNvSpPr txBox="1"/>
          <p:nvPr/>
        </p:nvSpPr>
        <p:spPr>
          <a:xfrm>
            <a:off x="8305800" y="4495502"/>
            <a:ext cx="3810000" cy="533400"/>
          </a:xfrm>
          <a:prstGeom prst="rect">
            <a:avLst/>
          </a:prstGeom>
          <a:noFill/>
        </p:spPr>
        <p:txBody>
          <a:bodyPr wrap="none" lIns="0" tIns="0" rIns="0" bIns="0" anchor="t">
            <a:spAutoFit/>
          </a:bodyPr>
          <a:lstStyle/>
          <a:p>
            <a:pPr algn="l">
              <a:lnSpc>
                <a:spcPts val="4200"/>
              </a:lnSpc>
            </a:pPr>
            <a:r>
              <a:rPr sz="4200" b="1" i="0" u="none">
                <a:solidFill>
                  <a:srgbClr val="A68A5B"/>
                </a:solidFill>
                <a:latin typeface="Constantia"/>
              </a:rPr>
              <a:t>3,833</a:t>
            </a:r>
          </a:p>
        </p:txBody>
      </p:sp>
      <p:sp>
        <p:nvSpPr>
          <p:cNvPr id="24" name="TextBox 23"/>
          <p:cNvSpPr txBox="1"/>
          <p:nvPr/>
        </p:nvSpPr>
        <p:spPr>
          <a:xfrm>
            <a:off x="8305800" y="5105102"/>
            <a:ext cx="3143250" cy="723900"/>
          </a:xfrm>
          <a:prstGeom prst="rect">
            <a:avLst/>
          </a:prstGeom>
          <a:noFill/>
        </p:spPr>
        <p:txBody>
          <a:bodyPr wrap="square" lIns="0" tIns="0" rIns="0" bIns="0" anchor="t">
            <a:spAutoFit/>
          </a:bodyPr>
          <a:lstStyle/>
          <a:p>
            <a:pPr algn="l"/>
            <a:r>
              <a:rPr sz="2499" b="0" i="0" u="none">
                <a:solidFill>
                  <a:srgbClr val="2B2F36"/>
                </a:solidFill>
                <a:latin typeface="Segoe UI"/>
              </a:rPr>
              <a:t>Ngày dữ liệu (10.5 năm)</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3EC"/>
        </a:solidFill>
        <a:effectLst/>
      </p:bgPr>
    </p:bg>
    <p:spTree>
      <p:nvGrpSpPr>
        <p:cNvPr id="1" name=""/>
        <p:cNvGrpSpPr/>
        <p:nvPr/>
      </p:nvGrpSpPr>
      <p:grpSpPr>
        <a:xfrm>
          <a:off x="0" y="0"/>
          <a:ext cx="0" cy="0"/>
          <a:chOff x="0" y="0"/>
          <a:chExt cx="0" cy="0"/>
        </a:xfrm>
      </p:grpSpPr>
      <p:sp>
        <p:nvSpPr>
          <p:cNvPr id="2" name="Rectangle 1"/>
          <p:cNvSpPr/>
          <p:nvPr/>
        </p:nvSpPr>
        <p:spPr>
          <a:xfrm>
            <a:off x="609600" y="6243042"/>
            <a:ext cx="10972800" cy="9525"/>
          </a:xfrm>
          <a:prstGeom prst="rect">
            <a:avLst/>
          </a:prstGeom>
          <a:solidFill>
            <a:srgbClr val="A68A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609600" y="2285703"/>
            <a:ext cx="3505200" cy="3529756"/>
          </a:xfrm>
          <a:prstGeom prst="roundRect">
            <a:avLst>
              <a:gd name="adj" fmla="val 2173"/>
            </a:avLst>
          </a:prstGeom>
          <a:solidFill>
            <a:srgbClr val="FA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4343400" y="2713136"/>
            <a:ext cx="3505200" cy="3102322"/>
          </a:xfrm>
          <a:prstGeom prst="roundRect">
            <a:avLst>
              <a:gd name="adj" fmla="val 2456"/>
            </a:avLst>
          </a:prstGeom>
          <a:solidFill>
            <a:srgbClr val="FA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8077200" y="2713136"/>
            <a:ext cx="3505200" cy="3102322"/>
          </a:xfrm>
          <a:prstGeom prst="roundRect">
            <a:avLst>
              <a:gd name="adj" fmla="val 2456"/>
            </a:avLst>
          </a:prstGeom>
          <a:solidFill>
            <a:srgbClr val="FA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09600" y="457200"/>
            <a:ext cx="11582400" cy="426541"/>
          </a:xfrm>
          <a:prstGeom prst="rect">
            <a:avLst/>
          </a:prstGeom>
          <a:noFill/>
        </p:spPr>
        <p:txBody>
          <a:bodyPr wrap="none" lIns="0" tIns="0" rIns="0" bIns="0" anchor="t">
            <a:spAutoFit/>
          </a:bodyPr>
          <a:lstStyle/>
          <a:p>
            <a:pPr algn="l">
              <a:lnSpc>
                <a:spcPts val="3359"/>
              </a:lnSpc>
            </a:pPr>
            <a:r>
              <a:rPr sz="2799" b="1" i="0" u="none">
                <a:solidFill>
                  <a:srgbClr val="0F172A"/>
                </a:solidFill>
                <a:latin typeface="Segoe UI"/>
              </a:rPr>
              <a:t>05 · DATA ISSUES</a:t>
            </a:r>
          </a:p>
        </p:txBody>
      </p:sp>
      <p:sp>
        <p:nvSpPr>
          <p:cNvPr id="7" name="TextBox 6"/>
          <p:cNvSpPr txBox="1"/>
          <p:nvPr/>
        </p:nvSpPr>
        <p:spPr>
          <a:xfrm>
            <a:off x="609600" y="959941"/>
            <a:ext cx="11582400" cy="525660"/>
          </a:xfrm>
          <a:prstGeom prst="rect">
            <a:avLst/>
          </a:prstGeom>
          <a:noFill/>
        </p:spPr>
        <p:txBody>
          <a:bodyPr wrap="none" lIns="0" tIns="0" rIns="0" bIns="0" anchor="t">
            <a:spAutoFit/>
          </a:bodyPr>
          <a:lstStyle/>
          <a:p>
            <a:pPr algn="l">
              <a:lnSpc>
                <a:spcPts val="4140"/>
              </a:lnSpc>
            </a:pPr>
            <a:r>
              <a:rPr sz="3600" b="1" i="0" u="none">
                <a:solidFill>
                  <a:srgbClr val="1F2D3D"/>
                </a:solidFill>
                <a:latin typeface="Constantia"/>
              </a:rPr>
              <a:t>Vấn đề nằm ở cấu trúc và định nghĩa</a:t>
            </a:r>
          </a:p>
        </p:txBody>
      </p:sp>
      <p:sp>
        <p:nvSpPr>
          <p:cNvPr id="8" name="TextBox 7"/>
          <p:cNvSpPr txBox="1"/>
          <p:nvPr/>
        </p:nvSpPr>
        <p:spPr>
          <a:xfrm>
            <a:off x="609600" y="1599902"/>
            <a:ext cx="11582400" cy="457200"/>
          </a:xfrm>
          <a:prstGeom prst="rect">
            <a:avLst/>
          </a:prstGeom>
          <a:noFill/>
        </p:spPr>
        <p:txBody>
          <a:bodyPr wrap="none" lIns="0" tIns="0" rIns="0" bIns="0" anchor="t">
            <a:spAutoFit/>
          </a:bodyPr>
          <a:lstStyle/>
          <a:p>
            <a:pPr algn="l">
              <a:lnSpc>
                <a:spcPts val="3600"/>
              </a:lnSpc>
            </a:pPr>
            <a:r>
              <a:rPr sz="3000" b="0" i="0" u="none">
                <a:solidFill>
                  <a:srgbClr val="2B2F36"/>
                </a:solidFill>
                <a:latin typeface="Constantia"/>
              </a:rPr>
              <a:t>Dữ liệu sạch định dạng, nhưng cộng mọi đơn sẽ làm phồng doanh số.</a:t>
            </a:r>
          </a:p>
        </p:txBody>
      </p:sp>
      <p:sp>
        <p:nvSpPr>
          <p:cNvPr id="9" name="TextBox 8"/>
          <p:cNvSpPr txBox="1"/>
          <p:nvPr/>
        </p:nvSpPr>
        <p:spPr>
          <a:xfrm>
            <a:off x="609600" y="6357342"/>
            <a:ext cx="11068050" cy="276999"/>
          </a:xfrm>
          <a:prstGeom prst="rect">
            <a:avLst/>
          </a:prstGeom>
          <a:noFill/>
        </p:spPr>
        <p:txBody>
          <a:bodyPr wrap="square" lIns="0" tIns="0" rIns="0" bIns="0" anchor="t">
            <a:spAutoFit/>
          </a:bodyPr>
          <a:lstStyle/>
          <a:p>
            <a:pPr algn="l"/>
            <a:r>
              <a:rPr b="0" i="1" u="none" dirty="0">
                <a:solidFill>
                  <a:srgbClr val="2B2F36"/>
                </a:solidFill>
                <a:latin typeface="Segoe UI"/>
              </a:rPr>
              <a:t> </a:t>
            </a:r>
            <a:r>
              <a:rPr b="0" i="1" u="none" dirty="0" err="1">
                <a:solidFill>
                  <a:srgbClr val="2B2F36"/>
                </a:solidFill>
                <a:latin typeface="Segoe UI"/>
              </a:rPr>
              <a:t>Chú</a:t>
            </a:r>
            <a:r>
              <a:rPr b="0" i="1" u="none" dirty="0">
                <a:solidFill>
                  <a:srgbClr val="2B2F36"/>
                </a:solidFill>
                <a:latin typeface="Segoe UI"/>
              </a:rPr>
              <a:t> </a:t>
            </a:r>
            <a:r>
              <a:rPr b="0" i="1" u="none" dirty="0" err="1">
                <a:solidFill>
                  <a:srgbClr val="2B2F36"/>
                </a:solidFill>
                <a:latin typeface="Segoe UI"/>
              </a:rPr>
              <a:t>thích</a:t>
            </a:r>
            <a:r>
              <a:rPr b="0" i="1" u="none" dirty="0">
                <a:solidFill>
                  <a:srgbClr val="2B2F36"/>
                </a:solidFill>
                <a:latin typeface="Segoe UI"/>
              </a:rPr>
              <a:t>: Các </a:t>
            </a:r>
            <a:r>
              <a:rPr b="0" i="1" u="none" dirty="0" err="1">
                <a:solidFill>
                  <a:srgbClr val="2B2F36"/>
                </a:solidFill>
                <a:latin typeface="Segoe UI"/>
              </a:rPr>
              <a:t>bảng</a:t>
            </a:r>
            <a:r>
              <a:rPr b="0" i="1" u="none" dirty="0">
                <a:solidFill>
                  <a:srgbClr val="2B2F36"/>
                </a:solidFill>
                <a:latin typeface="Segoe UI"/>
              </a:rPr>
              <a:t> </a:t>
            </a:r>
            <a:r>
              <a:rPr b="0" i="1" u="none" dirty="0" err="1">
                <a:solidFill>
                  <a:srgbClr val="2B2F36"/>
                </a:solidFill>
                <a:latin typeface="Segoe UI"/>
              </a:rPr>
              <a:t>chính</a:t>
            </a:r>
            <a:r>
              <a:rPr b="0" i="1" u="none" dirty="0">
                <a:solidFill>
                  <a:srgbClr val="2B2F36"/>
                </a:solidFill>
                <a:latin typeface="Segoe UI"/>
              </a:rPr>
              <a:t> </a:t>
            </a:r>
            <a:r>
              <a:rPr b="0" i="1" u="none" dirty="0" err="1">
                <a:solidFill>
                  <a:srgbClr val="2B2F36"/>
                </a:solidFill>
                <a:latin typeface="Segoe UI"/>
              </a:rPr>
              <a:t>không</a:t>
            </a:r>
            <a:r>
              <a:rPr b="0" i="1" u="none" dirty="0">
                <a:solidFill>
                  <a:srgbClr val="2B2F36"/>
                </a:solidFill>
                <a:latin typeface="Segoe UI"/>
              </a:rPr>
              <a:t> </a:t>
            </a:r>
            <a:r>
              <a:rPr b="0" i="1" u="none" dirty="0" err="1">
                <a:solidFill>
                  <a:srgbClr val="2B2F36"/>
                </a:solidFill>
                <a:latin typeface="Segoe UI"/>
              </a:rPr>
              <a:t>có</a:t>
            </a:r>
            <a:r>
              <a:rPr b="0" i="1" u="none" dirty="0">
                <a:solidFill>
                  <a:srgbClr val="2B2F36"/>
                </a:solidFill>
                <a:latin typeface="Segoe UI"/>
              </a:rPr>
              <a:t> ô </a:t>
            </a:r>
            <a:r>
              <a:rPr b="0" i="1" u="none" dirty="0" err="1">
                <a:solidFill>
                  <a:srgbClr val="2B2F36"/>
                </a:solidFill>
                <a:latin typeface="Segoe UI"/>
              </a:rPr>
              <a:t>trống</a:t>
            </a:r>
            <a:r>
              <a:rPr b="0" i="1" u="none" dirty="0">
                <a:solidFill>
                  <a:srgbClr val="2B2F36"/>
                </a:solidFill>
                <a:latin typeface="Segoe UI"/>
              </a:rPr>
              <a:t>, </a:t>
            </a:r>
            <a:r>
              <a:rPr b="0" i="1" u="none" dirty="0" err="1">
                <a:solidFill>
                  <a:srgbClr val="2B2F36"/>
                </a:solidFill>
                <a:latin typeface="Segoe UI"/>
              </a:rPr>
              <a:t>ngày</a:t>
            </a:r>
            <a:r>
              <a:rPr b="0" i="1" u="none" dirty="0">
                <a:solidFill>
                  <a:srgbClr val="2B2F36"/>
                </a:solidFill>
                <a:latin typeface="Segoe UI"/>
              </a:rPr>
              <a:t> </a:t>
            </a:r>
            <a:r>
              <a:rPr b="0" i="1" u="none" dirty="0" err="1">
                <a:solidFill>
                  <a:srgbClr val="2B2F36"/>
                </a:solidFill>
                <a:latin typeface="Segoe UI"/>
              </a:rPr>
              <a:t>tháng</a:t>
            </a:r>
            <a:r>
              <a:rPr b="0" i="1" u="none" dirty="0">
                <a:solidFill>
                  <a:srgbClr val="2B2F36"/>
                </a:solidFill>
                <a:latin typeface="Segoe UI"/>
              </a:rPr>
              <a:t> </a:t>
            </a:r>
            <a:r>
              <a:rPr b="0" i="1" u="none" dirty="0" err="1">
                <a:solidFill>
                  <a:srgbClr val="2B2F36"/>
                </a:solidFill>
                <a:latin typeface="Segoe UI"/>
              </a:rPr>
              <a:t>chuẩn</a:t>
            </a:r>
            <a:r>
              <a:rPr b="0" i="1" u="none" dirty="0">
                <a:solidFill>
                  <a:srgbClr val="2B2F36"/>
                </a:solidFill>
                <a:latin typeface="Segoe UI"/>
              </a:rPr>
              <a:t> 100%, 14 </a:t>
            </a:r>
            <a:r>
              <a:rPr b="0" i="1" u="none" dirty="0" err="1">
                <a:solidFill>
                  <a:srgbClr val="2B2F36"/>
                </a:solidFill>
                <a:latin typeface="Segoe UI"/>
              </a:rPr>
              <a:t>khóa</a:t>
            </a:r>
            <a:r>
              <a:rPr b="0" i="1" u="none" dirty="0">
                <a:solidFill>
                  <a:srgbClr val="2B2F36"/>
                </a:solidFill>
                <a:latin typeface="Segoe UI"/>
              </a:rPr>
              <a:t> </a:t>
            </a:r>
            <a:r>
              <a:rPr b="0" i="1" u="none" dirty="0" err="1">
                <a:solidFill>
                  <a:srgbClr val="2B2F36"/>
                </a:solidFill>
                <a:latin typeface="Segoe UI"/>
              </a:rPr>
              <a:t>ngoại</a:t>
            </a:r>
            <a:r>
              <a:rPr b="0" i="1" u="none" dirty="0">
                <a:solidFill>
                  <a:srgbClr val="2B2F36"/>
                </a:solidFill>
                <a:latin typeface="Segoe UI"/>
              </a:rPr>
              <a:t> </a:t>
            </a:r>
            <a:r>
              <a:rPr b="0" i="1" u="none" dirty="0" err="1">
                <a:solidFill>
                  <a:srgbClr val="2B2F36"/>
                </a:solidFill>
                <a:latin typeface="Segoe UI"/>
              </a:rPr>
              <a:t>không</a:t>
            </a:r>
            <a:r>
              <a:rPr b="0" i="1" u="none" dirty="0">
                <a:solidFill>
                  <a:srgbClr val="2B2F36"/>
                </a:solidFill>
                <a:latin typeface="Segoe UI"/>
              </a:rPr>
              <a:t> </a:t>
            </a:r>
            <a:r>
              <a:rPr b="0" i="1" u="none" dirty="0" err="1">
                <a:solidFill>
                  <a:srgbClr val="2B2F36"/>
                </a:solidFill>
                <a:latin typeface="Segoe UI"/>
              </a:rPr>
              <a:t>có</a:t>
            </a:r>
            <a:r>
              <a:rPr b="0" i="1" u="none" dirty="0">
                <a:solidFill>
                  <a:srgbClr val="2B2F36"/>
                </a:solidFill>
                <a:latin typeface="Segoe UI"/>
              </a:rPr>
              <a:t> </a:t>
            </a:r>
            <a:r>
              <a:rPr b="0" i="1" u="none" dirty="0" err="1">
                <a:solidFill>
                  <a:srgbClr val="2B2F36"/>
                </a:solidFill>
                <a:latin typeface="Segoe UI"/>
              </a:rPr>
              <a:t>bản</a:t>
            </a:r>
            <a:r>
              <a:rPr b="0" i="1" u="none" dirty="0">
                <a:solidFill>
                  <a:srgbClr val="2B2F36"/>
                </a:solidFill>
                <a:latin typeface="Segoe UI"/>
              </a:rPr>
              <a:t> </a:t>
            </a:r>
            <a:r>
              <a:rPr b="0" i="1" u="none" dirty="0" err="1">
                <a:solidFill>
                  <a:srgbClr val="2B2F36"/>
                </a:solidFill>
                <a:latin typeface="Segoe UI"/>
              </a:rPr>
              <a:t>ghi</a:t>
            </a:r>
            <a:r>
              <a:rPr b="0" i="1" u="none" dirty="0">
                <a:solidFill>
                  <a:srgbClr val="2B2F36"/>
                </a:solidFill>
                <a:latin typeface="Segoe UI"/>
              </a:rPr>
              <a:t> </a:t>
            </a:r>
            <a:r>
              <a:rPr b="0" i="1" u="none" dirty="0" err="1">
                <a:solidFill>
                  <a:srgbClr val="2B2F36"/>
                </a:solidFill>
                <a:latin typeface="Segoe UI"/>
              </a:rPr>
              <a:t>mồ</a:t>
            </a:r>
            <a:r>
              <a:rPr b="0" i="1" u="none" dirty="0">
                <a:solidFill>
                  <a:srgbClr val="2B2F36"/>
                </a:solidFill>
                <a:latin typeface="Segoe UI"/>
              </a:rPr>
              <a:t> </a:t>
            </a:r>
            <a:r>
              <a:rPr b="0" i="1" u="none" dirty="0" err="1">
                <a:solidFill>
                  <a:srgbClr val="2B2F36"/>
                </a:solidFill>
                <a:latin typeface="Segoe UI"/>
              </a:rPr>
              <a:t>côi</a:t>
            </a:r>
            <a:r>
              <a:rPr b="0" i="1" u="none" dirty="0">
                <a:solidFill>
                  <a:srgbClr val="2B2F36"/>
                </a:solidFill>
                <a:latin typeface="Segoe UI"/>
              </a:rPr>
              <a:t>. </a:t>
            </a:r>
          </a:p>
        </p:txBody>
      </p:sp>
      <p:sp>
        <p:nvSpPr>
          <p:cNvPr id="10" name="TextBox 9"/>
          <p:cNvSpPr txBox="1"/>
          <p:nvPr/>
        </p:nvSpPr>
        <p:spPr>
          <a:xfrm>
            <a:off x="838200" y="2514302"/>
            <a:ext cx="3143250" cy="853082"/>
          </a:xfrm>
          <a:prstGeom prst="rect">
            <a:avLst/>
          </a:prstGeom>
          <a:noFill/>
        </p:spPr>
        <p:txBody>
          <a:bodyPr wrap="square" lIns="0" tIns="0" rIns="0" bIns="0" anchor="t">
            <a:spAutoFit/>
          </a:bodyPr>
          <a:lstStyle/>
          <a:p>
            <a:pPr algn="l">
              <a:lnSpc>
                <a:spcPts val="3359"/>
              </a:lnSpc>
            </a:pPr>
            <a:r>
              <a:rPr sz="2799" b="1" i="0" u="none">
                <a:solidFill>
                  <a:srgbClr val="1F2D3D"/>
                </a:solidFill>
                <a:latin typeface="Constantia"/>
              </a:rPr>
              <a:t>Trạng thái đơn hàng</a:t>
            </a:r>
          </a:p>
        </p:txBody>
      </p:sp>
      <p:sp>
        <p:nvSpPr>
          <p:cNvPr id="11" name="TextBox 10"/>
          <p:cNvSpPr txBox="1"/>
          <p:nvPr/>
        </p:nvSpPr>
        <p:spPr>
          <a:xfrm>
            <a:off x="838200" y="3443585"/>
            <a:ext cx="3143250" cy="2140779"/>
          </a:xfrm>
          <a:prstGeom prst="rect">
            <a:avLst/>
          </a:prstGeom>
          <a:noFill/>
        </p:spPr>
        <p:txBody>
          <a:bodyPr wrap="square" lIns="0" tIns="0" rIns="0" bIns="0" anchor="t">
            <a:spAutoFit/>
          </a:bodyPr>
          <a:lstStyle/>
          <a:p>
            <a:pPr algn="l">
              <a:lnSpc>
                <a:spcPts val="3375"/>
              </a:lnSpc>
            </a:pPr>
            <a:r>
              <a:rPr sz="2400" b="0" i="0" u="none" dirty="0" err="1">
                <a:solidFill>
                  <a:srgbClr val="2B2F36"/>
                </a:solidFill>
                <a:latin typeface="Segoe UI"/>
              </a:rPr>
              <a:t>Chỉ</a:t>
            </a:r>
            <a:r>
              <a:rPr sz="2400" b="0" i="0" u="none" dirty="0">
                <a:solidFill>
                  <a:srgbClr val="2B2F36"/>
                </a:solidFill>
                <a:latin typeface="Segoe UI"/>
              </a:rPr>
              <a:t> 79.87% </a:t>
            </a:r>
            <a:r>
              <a:rPr sz="2400" b="0" i="0" u="none" dirty="0" err="1">
                <a:solidFill>
                  <a:srgbClr val="2B2F36"/>
                </a:solidFill>
                <a:latin typeface="Segoe UI"/>
              </a:rPr>
              <a:t>đơn</a:t>
            </a:r>
            <a:r>
              <a:rPr sz="2400" b="0" i="0" u="none" dirty="0">
                <a:solidFill>
                  <a:srgbClr val="2B2F36"/>
                </a:solidFill>
                <a:latin typeface="Segoe UI"/>
              </a:rPr>
              <a:t> </a:t>
            </a:r>
            <a:r>
              <a:rPr sz="2400" b="0" i="0" u="none" dirty="0" err="1">
                <a:solidFill>
                  <a:srgbClr val="2B2F36"/>
                </a:solidFill>
                <a:latin typeface="Segoe UI"/>
              </a:rPr>
              <a:t>là</a:t>
            </a:r>
            <a:r>
              <a:rPr sz="2400" b="0" i="0" u="none" dirty="0">
                <a:solidFill>
                  <a:srgbClr val="2B2F36"/>
                </a:solidFill>
                <a:latin typeface="Segoe UI"/>
              </a:rPr>
              <a:t> delivered (79.84% </a:t>
            </a:r>
            <a:r>
              <a:rPr sz="2400" b="0" i="0" u="none" dirty="0" err="1">
                <a:solidFill>
                  <a:srgbClr val="2B2F36"/>
                </a:solidFill>
                <a:latin typeface="Segoe UI"/>
              </a:rPr>
              <a:t>giá</a:t>
            </a:r>
            <a:r>
              <a:rPr sz="2400" b="0" i="0" u="none" dirty="0">
                <a:solidFill>
                  <a:srgbClr val="2B2F36"/>
                </a:solidFill>
                <a:latin typeface="Segoe UI"/>
              </a:rPr>
              <a:t> </a:t>
            </a:r>
            <a:r>
              <a:rPr sz="2400" b="0" i="0" u="none" dirty="0" err="1">
                <a:solidFill>
                  <a:srgbClr val="2B2F36"/>
                </a:solidFill>
                <a:latin typeface="Segoe UI"/>
              </a:rPr>
              <a:t>trị</a:t>
            </a:r>
            <a:r>
              <a:rPr sz="2400" b="0" i="0" u="none" dirty="0">
                <a:solidFill>
                  <a:srgbClr val="2B2F36"/>
                </a:solidFill>
                <a:latin typeface="Segoe UI"/>
              </a:rPr>
              <a:t>). </a:t>
            </a:r>
            <a:r>
              <a:rPr sz="2400" b="0" i="0" u="none" dirty="0" err="1">
                <a:solidFill>
                  <a:srgbClr val="2B2F36"/>
                </a:solidFill>
                <a:latin typeface="Segoe UI"/>
              </a:rPr>
              <a:t>Hơn</a:t>
            </a:r>
            <a:r>
              <a:rPr sz="2400" b="0" i="0" u="none" dirty="0">
                <a:solidFill>
                  <a:srgbClr val="2B2F36"/>
                </a:solidFill>
                <a:latin typeface="Segoe UI"/>
              </a:rPr>
              <a:t> 20% </a:t>
            </a:r>
            <a:r>
              <a:rPr sz="2400" b="0" i="0" u="none" dirty="0" err="1">
                <a:solidFill>
                  <a:srgbClr val="2B2F36"/>
                </a:solidFill>
                <a:latin typeface="Segoe UI"/>
              </a:rPr>
              <a:t>là</a:t>
            </a:r>
            <a:r>
              <a:rPr sz="2400" b="0" i="0" u="none" dirty="0">
                <a:solidFill>
                  <a:srgbClr val="2B2F36"/>
                </a:solidFill>
                <a:latin typeface="Segoe UI"/>
              </a:rPr>
              <a:t> </a:t>
            </a:r>
            <a:r>
              <a:rPr sz="2400" b="0" i="0" u="none" dirty="0" err="1">
                <a:solidFill>
                  <a:srgbClr val="2B2F36"/>
                </a:solidFill>
                <a:latin typeface="Segoe UI"/>
              </a:rPr>
              <a:t>đơn</a:t>
            </a:r>
            <a:r>
              <a:rPr sz="2400" b="0" i="0" u="none" dirty="0">
                <a:solidFill>
                  <a:srgbClr val="2B2F36"/>
                </a:solidFill>
                <a:latin typeface="Segoe UI"/>
              </a:rPr>
              <a:t> </a:t>
            </a:r>
            <a:r>
              <a:rPr sz="2400" b="0" i="0" u="none" dirty="0" err="1">
                <a:solidFill>
                  <a:srgbClr val="2B2F36"/>
                </a:solidFill>
                <a:latin typeface="Segoe UI"/>
              </a:rPr>
              <a:t>hủy</a:t>
            </a:r>
            <a:r>
              <a:rPr sz="2400" b="0" i="0" u="none" dirty="0">
                <a:solidFill>
                  <a:srgbClr val="2B2F36"/>
                </a:solidFill>
                <a:latin typeface="Segoe UI"/>
              </a:rPr>
              <a:t>/</a:t>
            </a:r>
            <a:r>
              <a:rPr sz="2400" b="0" i="0" u="none" dirty="0" err="1">
                <a:solidFill>
                  <a:srgbClr val="2B2F36"/>
                </a:solidFill>
                <a:latin typeface="Segoe UI"/>
              </a:rPr>
              <a:t>hoàn</a:t>
            </a:r>
            <a:r>
              <a:rPr sz="2400" b="0" i="0" u="none" dirty="0">
                <a:solidFill>
                  <a:srgbClr val="2B2F36"/>
                </a:solidFill>
                <a:latin typeface="Segoe UI"/>
              </a:rPr>
              <a:t>. </a:t>
            </a:r>
            <a:r>
              <a:rPr sz="2400" b="0" i="0" u="none" dirty="0" err="1">
                <a:solidFill>
                  <a:srgbClr val="2B2F36"/>
                </a:solidFill>
                <a:latin typeface="Segoe UI"/>
              </a:rPr>
              <a:t>Quyết</a:t>
            </a:r>
            <a:r>
              <a:rPr sz="2400" b="0" i="0" u="none" dirty="0">
                <a:solidFill>
                  <a:srgbClr val="2B2F36"/>
                </a:solidFill>
                <a:latin typeface="Segoe UI"/>
              </a:rPr>
              <a:t> </a:t>
            </a:r>
            <a:r>
              <a:rPr sz="2400" b="0" i="0" u="none" dirty="0" err="1">
                <a:solidFill>
                  <a:srgbClr val="2B2F36"/>
                </a:solidFill>
                <a:latin typeface="Segoe UI"/>
              </a:rPr>
              <a:t>định</a:t>
            </a:r>
            <a:r>
              <a:rPr sz="2400" b="0" i="0" u="none" dirty="0">
                <a:solidFill>
                  <a:srgbClr val="2B2F36"/>
                </a:solidFill>
                <a:latin typeface="Segoe UI"/>
              </a:rPr>
              <a:t>: </a:t>
            </a:r>
            <a:r>
              <a:rPr sz="2400" b="0" i="0" u="none" dirty="0" err="1">
                <a:solidFill>
                  <a:srgbClr val="2B2F36"/>
                </a:solidFill>
                <a:latin typeface="Segoe UI"/>
              </a:rPr>
              <a:t>Chỉ</a:t>
            </a:r>
            <a:r>
              <a:rPr sz="2400" b="0" i="0" u="none" dirty="0">
                <a:solidFill>
                  <a:srgbClr val="2B2F36"/>
                </a:solidFill>
                <a:latin typeface="Segoe UI"/>
              </a:rPr>
              <a:t> </a:t>
            </a:r>
            <a:r>
              <a:rPr sz="2400" b="0" i="0" u="none" dirty="0" err="1">
                <a:solidFill>
                  <a:srgbClr val="2B2F36"/>
                </a:solidFill>
                <a:latin typeface="Segoe UI"/>
              </a:rPr>
              <a:t>tính</a:t>
            </a:r>
            <a:r>
              <a:rPr sz="2400" b="0" i="0" u="none" dirty="0">
                <a:solidFill>
                  <a:srgbClr val="2B2F36"/>
                </a:solidFill>
                <a:latin typeface="Segoe UI"/>
              </a:rPr>
              <a:t> </a:t>
            </a:r>
            <a:r>
              <a:rPr sz="2400" b="0" i="0" u="none" dirty="0" err="1">
                <a:solidFill>
                  <a:srgbClr val="2B2F36"/>
                </a:solidFill>
                <a:latin typeface="Segoe UI"/>
              </a:rPr>
              <a:t>đơn</a:t>
            </a:r>
            <a:r>
              <a:rPr sz="2400" b="0" i="0" u="none" dirty="0">
                <a:solidFill>
                  <a:srgbClr val="2B2F36"/>
                </a:solidFill>
                <a:latin typeface="Segoe UI"/>
              </a:rPr>
              <a:t> delivered.</a:t>
            </a:r>
          </a:p>
        </p:txBody>
      </p:sp>
      <p:sp>
        <p:nvSpPr>
          <p:cNvPr id="12" name="TextBox 11"/>
          <p:cNvSpPr txBox="1"/>
          <p:nvPr/>
        </p:nvSpPr>
        <p:spPr>
          <a:xfrm>
            <a:off x="4572000" y="2941736"/>
            <a:ext cx="3810000" cy="426541"/>
          </a:xfrm>
          <a:prstGeom prst="rect">
            <a:avLst/>
          </a:prstGeom>
          <a:noFill/>
        </p:spPr>
        <p:txBody>
          <a:bodyPr wrap="none" lIns="0" tIns="0" rIns="0" bIns="0" anchor="t">
            <a:spAutoFit/>
          </a:bodyPr>
          <a:lstStyle/>
          <a:p>
            <a:pPr algn="l">
              <a:lnSpc>
                <a:spcPts val="3359"/>
              </a:lnSpc>
            </a:pPr>
            <a:r>
              <a:rPr sz="2799" b="1" i="0" u="none">
                <a:solidFill>
                  <a:srgbClr val="1F2D3D"/>
                </a:solidFill>
                <a:latin typeface="Constantia"/>
              </a:rPr>
              <a:t>Cấu trúc gộp phẳng</a:t>
            </a:r>
          </a:p>
        </p:txBody>
      </p:sp>
      <p:sp>
        <p:nvSpPr>
          <p:cNvPr id="13" name="TextBox 12"/>
          <p:cNvSpPr txBox="1"/>
          <p:nvPr/>
        </p:nvSpPr>
        <p:spPr>
          <a:xfrm>
            <a:off x="4572000" y="3444478"/>
            <a:ext cx="3143250" cy="1704762"/>
          </a:xfrm>
          <a:prstGeom prst="rect">
            <a:avLst/>
          </a:prstGeom>
          <a:noFill/>
        </p:spPr>
        <p:txBody>
          <a:bodyPr wrap="square" lIns="0" tIns="0" rIns="0" bIns="0" anchor="t">
            <a:spAutoFit/>
          </a:bodyPr>
          <a:lstStyle/>
          <a:p>
            <a:pPr algn="l">
              <a:lnSpc>
                <a:spcPts val="3375"/>
              </a:lnSpc>
            </a:pPr>
            <a:r>
              <a:rPr sz="2400" b="0" i="0" u="none">
                <a:solidFill>
                  <a:srgbClr val="2B2F36"/>
                </a:solidFill>
                <a:latin typeface="Segoe UI"/>
              </a:rPr>
              <a:t>Thông tin nhân viên, địa lý và thanh toán lặp lại trên từng đơn hàng, gây dư thừa dữ liệu.</a:t>
            </a:r>
          </a:p>
        </p:txBody>
      </p:sp>
      <p:sp>
        <p:nvSpPr>
          <p:cNvPr id="14" name="TextBox 13"/>
          <p:cNvSpPr txBox="1"/>
          <p:nvPr/>
        </p:nvSpPr>
        <p:spPr>
          <a:xfrm>
            <a:off x="8305800" y="2941736"/>
            <a:ext cx="3810000" cy="426541"/>
          </a:xfrm>
          <a:prstGeom prst="rect">
            <a:avLst/>
          </a:prstGeom>
          <a:noFill/>
        </p:spPr>
        <p:txBody>
          <a:bodyPr wrap="none" lIns="0" tIns="0" rIns="0" bIns="0" anchor="t">
            <a:spAutoFit/>
          </a:bodyPr>
          <a:lstStyle/>
          <a:p>
            <a:pPr algn="l">
              <a:lnSpc>
                <a:spcPts val="3359"/>
              </a:lnSpc>
            </a:pPr>
            <a:r>
              <a:rPr sz="2799" b="1" i="0" u="none">
                <a:solidFill>
                  <a:srgbClr val="1F2D3D"/>
                </a:solidFill>
                <a:latin typeface="Constantia"/>
              </a:rPr>
              <a:t>Trùng lặp dòng</a:t>
            </a:r>
          </a:p>
        </p:txBody>
      </p:sp>
      <p:sp>
        <p:nvSpPr>
          <p:cNvPr id="15" name="TextBox 14"/>
          <p:cNvSpPr txBox="1"/>
          <p:nvPr/>
        </p:nvSpPr>
        <p:spPr>
          <a:xfrm>
            <a:off x="8305800" y="3444478"/>
            <a:ext cx="3143250" cy="1704762"/>
          </a:xfrm>
          <a:prstGeom prst="rect">
            <a:avLst/>
          </a:prstGeom>
          <a:noFill/>
        </p:spPr>
        <p:txBody>
          <a:bodyPr wrap="square" lIns="0" tIns="0" rIns="0" bIns="0" anchor="t">
            <a:spAutoFit/>
          </a:bodyPr>
          <a:lstStyle/>
          <a:p>
            <a:pPr algn="l">
              <a:lnSpc>
                <a:spcPts val="3375"/>
              </a:lnSpc>
            </a:pPr>
            <a:r>
              <a:rPr sz="2400" b="0" i="0" u="none">
                <a:solidFill>
                  <a:srgbClr val="2B2F36"/>
                </a:solidFill>
                <a:latin typeface="Segoe UI"/>
              </a:rPr>
              <a:t>Có 16 cặp đơn hàng và sản phẩm xuất hiện hai lần trong bảng dòng hàng cần gộp lại.</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3EC"/>
        </a:solidFill>
        <a:effectLst/>
      </p:bgPr>
    </p:bg>
    <p:spTree>
      <p:nvGrpSpPr>
        <p:cNvPr id="1" name=""/>
        <p:cNvGrpSpPr/>
        <p:nvPr/>
      </p:nvGrpSpPr>
      <p:grpSpPr>
        <a:xfrm>
          <a:off x="0" y="0"/>
          <a:ext cx="0" cy="0"/>
          <a:chOff x="0" y="0"/>
          <a:chExt cx="0" cy="0"/>
        </a:xfrm>
      </p:grpSpPr>
      <p:sp>
        <p:nvSpPr>
          <p:cNvPr id="2" name="TextBox 1"/>
          <p:cNvSpPr txBox="1"/>
          <p:nvPr/>
        </p:nvSpPr>
        <p:spPr>
          <a:xfrm>
            <a:off x="609600" y="457200"/>
            <a:ext cx="11582400" cy="426541"/>
          </a:xfrm>
          <a:prstGeom prst="rect">
            <a:avLst/>
          </a:prstGeom>
          <a:noFill/>
        </p:spPr>
        <p:txBody>
          <a:bodyPr wrap="none" lIns="0" tIns="0" rIns="0" bIns="0" anchor="t">
            <a:spAutoFit/>
          </a:bodyPr>
          <a:lstStyle/>
          <a:p>
            <a:pPr algn="l">
              <a:lnSpc>
                <a:spcPts val="3359"/>
              </a:lnSpc>
            </a:pPr>
            <a:r>
              <a:rPr sz="2799" b="1" i="0" u="none">
                <a:solidFill>
                  <a:srgbClr val="0F172A"/>
                </a:solidFill>
                <a:latin typeface="Segoe UI"/>
              </a:rPr>
              <a:t>06 · RAW → SILVER</a:t>
            </a:r>
          </a:p>
        </p:txBody>
      </p:sp>
      <p:sp>
        <p:nvSpPr>
          <p:cNvPr id="3" name="TextBox 2"/>
          <p:cNvSpPr txBox="1"/>
          <p:nvPr/>
        </p:nvSpPr>
        <p:spPr>
          <a:xfrm>
            <a:off x="609600" y="959941"/>
            <a:ext cx="11582400" cy="525660"/>
          </a:xfrm>
          <a:prstGeom prst="rect">
            <a:avLst/>
          </a:prstGeom>
          <a:noFill/>
        </p:spPr>
        <p:txBody>
          <a:bodyPr wrap="none" lIns="0" tIns="0" rIns="0" bIns="0" anchor="t">
            <a:spAutoFit/>
          </a:bodyPr>
          <a:lstStyle/>
          <a:p>
            <a:pPr algn="l">
              <a:lnSpc>
                <a:spcPts val="4140"/>
              </a:lnSpc>
            </a:pPr>
            <a:r>
              <a:rPr sz="3600" b="1" i="0" u="none">
                <a:solidFill>
                  <a:srgbClr val="1F2D3D"/>
                </a:solidFill>
                <a:latin typeface="Constantia"/>
              </a:rPr>
              <a:t>Từ dữ liệu thô đến tầng Silver</a:t>
            </a:r>
          </a:p>
        </p:txBody>
      </p:sp>
      <p:sp>
        <p:nvSpPr>
          <p:cNvPr id="4" name="TextBox 3"/>
          <p:cNvSpPr txBox="1"/>
          <p:nvPr/>
        </p:nvSpPr>
        <p:spPr>
          <a:xfrm>
            <a:off x="609600" y="1599902"/>
            <a:ext cx="11582400" cy="457200"/>
          </a:xfrm>
          <a:prstGeom prst="rect">
            <a:avLst/>
          </a:prstGeom>
          <a:noFill/>
        </p:spPr>
        <p:txBody>
          <a:bodyPr wrap="none" lIns="0" tIns="0" rIns="0" bIns="0" anchor="t">
            <a:spAutoFit/>
          </a:bodyPr>
          <a:lstStyle/>
          <a:p>
            <a:pPr algn="l">
              <a:lnSpc>
                <a:spcPts val="3600"/>
              </a:lnSpc>
            </a:pPr>
            <a:r>
              <a:rPr sz="3000" b="0" i="0" u="none">
                <a:solidFill>
                  <a:srgbClr val="2B2F36"/>
                </a:solidFill>
                <a:latin typeface="Constantia"/>
              </a:rPr>
              <a:t>Mỗi bảng đi qua một quy trình, đối chiếu số liệu trước và sau xử lý.</a:t>
            </a:r>
          </a:p>
        </p:txBody>
      </p:sp>
      <p:sp>
        <p:nvSpPr>
          <p:cNvPr id="5" name="TextBox 4"/>
          <p:cNvSpPr txBox="1"/>
          <p:nvPr/>
        </p:nvSpPr>
        <p:spPr>
          <a:xfrm>
            <a:off x="609600" y="2285702"/>
            <a:ext cx="11068050" cy="856952"/>
          </a:xfrm>
          <a:prstGeom prst="rect">
            <a:avLst/>
          </a:prstGeom>
          <a:noFill/>
        </p:spPr>
        <p:txBody>
          <a:bodyPr wrap="square" lIns="0" tIns="0" rIns="0" bIns="0" anchor="t">
            <a:spAutoFit/>
          </a:bodyPr>
          <a:lstStyle/>
          <a:p>
            <a:pPr algn="l">
              <a:lnSpc>
                <a:spcPts val="3375"/>
              </a:lnSpc>
            </a:pPr>
            <a:r>
              <a:rPr sz="2400" b="1" i="0" u="none" dirty="0">
                <a:solidFill>
                  <a:srgbClr val="2B2F36"/>
                </a:solidFill>
                <a:latin typeface="Segoe UI"/>
              </a:rPr>
              <a:t>Quy </a:t>
            </a:r>
            <a:r>
              <a:rPr sz="2400" b="1" i="0" u="none" dirty="0" err="1">
                <a:solidFill>
                  <a:srgbClr val="2B2F36"/>
                </a:solidFill>
                <a:latin typeface="Segoe UI"/>
              </a:rPr>
              <a:t>trình</a:t>
            </a:r>
            <a:r>
              <a:rPr sz="2400" b="1" i="0" u="none" dirty="0">
                <a:solidFill>
                  <a:srgbClr val="2B2F36"/>
                </a:solidFill>
                <a:latin typeface="Segoe UI"/>
              </a:rPr>
              <a:t> </a:t>
            </a:r>
            <a:r>
              <a:rPr sz="2400" b="1" i="0" u="none" dirty="0" err="1">
                <a:solidFill>
                  <a:srgbClr val="2B2F36"/>
                </a:solidFill>
                <a:latin typeface="Segoe UI"/>
              </a:rPr>
              <a:t>chung</a:t>
            </a:r>
            <a:r>
              <a:rPr sz="2400" b="1" i="0" u="none" dirty="0">
                <a:solidFill>
                  <a:srgbClr val="2B2F36"/>
                </a:solidFill>
                <a:latin typeface="Segoe UI"/>
              </a:rPr>
              <a:t>:</a:t>
            </a:r>
            <a:r>
              <a:rPr sz="2400" b="0" i="0" u="none" dirty="0">
                <a:solidFill>
                  <a:srgbClr val="2B2F36"/>
                </a:solidFill>
                <a:latin typeface="Segoe UI"/>
              </a:rPr>
              <a:t> </a:t>
            </a:r>
            <a:r>
              <a:rPr sz="2400" b="0" i="0" u="none" dirty="0" err="1">
                <a:solidFill>
                  <a:srgbClr val="2B2F36"/>
                </a:solidFill>
                <a:latin typeface="Segoe UI"/>
              </a:rPr>
              <a:t>Kiểm</a:t>
            </a:r>
            <a:r>
              <a:rPr sz="2400" b="0" i="0" u="none" dirty="0">
                <a:solidFill>
                  <a:srgbClr val="2B2F36"/>
                </a:solidFill>
                <a:latin typeface="Segoe UI"/>
              </a:rPr>
              <a:t> </a:t>
            </a:r>
            <a:r>
              <a:rPr sz="2400" b="0" i="0" u="none" dirty="0" err="1">
                <a:solidFill>
                  <a:srgbClr val="2B2F36"/>
                </a:solidFill>
                <a:latin typeface="Segoe UI"/>
              </a:rPr>
              <a:t>tra</a:t>
            </a:r>
            <a:r>
              <a:rPr sz="2400" b="0" i="0" u="none" dirty="0">
                <a:solidFill>
                  <a:srgbClr val="2B2F36"/>
                </a:solidFill>
                <a:latin typeface="Segoe UI"/>
              </a:rPr>
              <a:t> → </a:t>
            </a:r>
            <a:r>
              <a:rPr sz="2400" b="0" i="0" u="none" dirty="0" err="1">
                <a:solidFill>
                  <a:srgbClr val="2B2F36"/>
                </a:solidFill>
                <a:latin typeface="Segoe UI"/>
              </a:rPr>
              <a:t>xử</a:t>
            </a:r>
            <a:r>
              <a:rPr sz="2400" b="0" i="0" u="none" dirty="0">
                <a:solidFill>
                  <a:srgbClr val="2B2F36"/>
                </a:solidFill>
                <a:latin typeface="Segoe UI"/>
              </a:rPr>
              <a:t> </a:t>
            </a:r>
            <a:r>
              <a:rPr sz="2400" b="0" i="0" u="none" dirty="0" err="1">
                <a:solidFill>
                  <a:srgbClr val="2B2F36"/>
                </a:solidFill>
                <a:latin typeface="Segoe UI"/>
              </a:rPr>
              <a:t>lý</a:t>
            </a:r>
            <a:r>
              <a:rPr sz="2400" b="0" i="0" u="none" dirty="0">
                <a:solidFill>
                  <a:srgbClr val="2B2F36"/>
                </a:solidFill>
                <a:latin typeface="Segoe UI"/>
              </a:rPr>
              <a:t> ô </a:t>
            </a:r>
            <a:r>
              <a:rPr sz="2400" b="0" i="0" u="none" dirty="0" err="1">
                <a:solidFill>
                  <a:srgbClr val="2B2F36"/>
                </a:solidFill>
                <a:latin typeface="Segoe UI"/>
              </a:rPr>
              <a:t>thiếu</a:t>
            </a:r>
            <a:r>
              <a:rPr sz="2400" b="0" i="0" u="none" dirty="0">
                <a:solidFill>
                  <a:srgbClr val="2B2F36"/>
                </a:solidFill>
                <a:latin typeface="Segoe UI"/>
              </a:rPr>
              <a:t> → </a:t>
            </a:r>
            <a:r>
              <a:rPr sz="2400" b="0" i="0" u="none" dirty="0" err="1">
                <a:solidFill>
                  <a:srgbClr val="2B2F36"/>
                </a:solidFill>
                <a:latin typeface="Segoe UI"/>
              </a:rPr>
              <a:t>ép</a:t>
            </a:r>
            <a:r>
              <a:rPr sz="2400" b="0" i="0" u="none" dirty="0">
                <a:solidFill>
                  <a:srgbClr val="2B2F36"/>
                </a:solidFill>
                <a:latin typeface="Segoe UI"/>
              </a:rPr>
              <a:t> </a:t>
            </a:r>
            <a:r>
              <a:rPr sz="2400" b="0" i="0" u="none" dirty="0" err="1">
                <a:solidFill>
                  <a:srgbClr val="2B2F36"/>
                </a:solidFill>
                <a:latin typeface="Segoe UI"/>
              </a:rPr>
              <a:t>kiểu</a:t>
            </a:r>
            <a:r>
              <a:rPr sz="2400" b="0" i="0" u="none" dirty="0">
                <a:solidFill>
                  <a:srgbClr val="2B2F36"/>
                </a:solidFill>
                <a:latin typeface="Segoe UI"/>
              </a:rPr>
              <a:t> → </a:t>
            </a:r>
            <a:r>
              <a:rPr sz="2400" b="0" i="0" u="none" dirty="0" err="1">
                <a:solidFill>
                  <a:srgbClr val="2B2F36"/>
                </a:solidFill>
                <a:latin typeface="Segoe UI"/>
              </a:rPr>
              <a:t>khử</a:t>
            </a:r>
            <a:r>
              <a:rPr sz="2400" b="0" i="0" u="none" dirty="0">
                <a:solidFill>
                  <a:srgbClr val="2B2F36"/>
                </a:solidFill>
                <a:latin typeface="Segoe UI"/>
              </a:rPr>
              <a:t> </a:t>
            </a:r>
            <a:r>
              <a:rPr sz="2400" b="0" i="0" u="none" dirty="0" err="1">
                <a:solidFill>
                  <a:srgbClr val="2B2F36"/>
                </a:solidFill>
                <a:latin typeface="Segoe UI"/>
              </a:rPr>
              <a:t>trùng</a:t>
            </a:r>
            <a:r>
              <a:rPr sz="2400" b="0" i="0" u="none" dirty="0">
                <a:solidFill>
                  <a:srgbClr val="2B2F36"/>
                </a:solidFill>
                <a:latin typeface="Segoe UI"/>
              </a:rPr>
              <a:t> </a:t>
            </a:r>
            <a:r>
              <a:rPr sz="2400" b="0" i="0" u="none" dirty="0" err="1">
                <a:solidFill>
                  <a:srgbClr val="2B2F36"/>
                </a:solidFill>
                <a:latin typeface="Segoe UI"/>
              </a:rPr>
              <a:t>lặp</a:t>
            </a:r>
            <a:r>
              <a:rPr sz="2400" b="0" i="0" u="none" dirty="0">
                <a:solidFill>
                  <a:srgbClr val="2B2F36"/>
                </a:solidFill>
                <a:latin typeface="Segoe UI"/>
              </a:rPr>
              <a:t> → </a:t>
            </a:r>
            <a:r>
              <a:rPr sz="2400" b="0" i="0" u="none" dirty="0" err="1">
                <a:solidFill>
                  <a:srgbClr val="2B2F36"/>
                </a:solidFill>
                <a:latin typeface="Segoe UI"/>
              </a:rPr>
              <a:t>kiểm</a:t>
            </a:r>
            <a:r>
              <a:rPr sz="2400" b="0" i="0" u="none" dirty="0">
                <a:solidFill>
                  <a:srgbClr val="2B2F36"/>
                </a:solidFill>
                <a:latin typeface="Segoe UI"/>
              </a:rPr>
              <a:t> </a:t>
            </a:r>
            <a:r>
              <a:rPr sz="2400" b="0" i="0" u="none" dirty="0" err="1">
                <a:solidFill>
                  <a:srgbClr val="2B2F36"/>
                </a:solidFill>
                <a:latin typeface="Segoe UI"/>
              </a:rPr>
              <a:t>tra</a:t>
            </a:r>
            <a:r>
              <a:rPr sz="2400" b="0" i="0" u="none" dirty="0">
                <a:solidFill>
                  <a:srgbClr val="2B2F36"/>
                </a:solidFill>
                <a:latin typeface="Segoe UI"/>
              </a:rPr>
              <a:t> </a:t>
            </a:r>
            <a:r>
              <a:rPr sz="2400" b="0" i="0" u="none" dirty="0" err="1">
                <a:solidFill>
                  <a:srgbClr val="2B2F36"/>
                </a:solidFill>
                <a:latin typeface="Segoe UI"/>
              </a:rPr>
              <a:t>khóa</a:t>
            </a:r>
            <a:r>
              <a:rPr sz="2400" b="0" i="0" u="none" dirty="0">
                <a:solidFill>
                  <a:srgbClr val="2B2F36"/>
                </a:solidFill>
                <a:latin typeface="Segoe UI"/>
              </a:rPr>
              <a:t> </a:t>
            </a:r>
            <a:r>
              <a:rPr sz="2400" b="0" i="0" u="none" dirty="0" err="1">
                <a:solidFill>
                  <a:srgbClr val="2B2F36"/>
                </a:solidFill>
                <a:latin typeface="Segoe UI"/>
              </a:rPr>
              <a:t>ngoại</a:t>
            </a:r>
            <a:r>
              <a:rPr sz="2400" b="0" i="0" u="none" dirty="0">
                <a:solidFill>
                  <a:srgbClr val="2B2F36"/>
                </a:solidFill>
                <a:latin typeface="Segoe UI"/>
              </a:rPr>
              <a:t> → </a:t>
            </a:r>
            <a:r>
              <a:rPr sz="2400" b="0" i="0" u="none" dirty="0" err="1">
                <a:solidFill>
                  <a:srgbClr val="2B2F36"/>
                </a:solidFill>
                <a:latin typeface="Segoe UI"/>
              </a:rPr>
              <a:t>xuất</a:t>
            </a:r>
            <a:r>
              <a:rPr sz="2400" b="0" i="0" u="none" dirty="0">
                <a:solidFill>
                  <a:srgbClr val="2B2F36"/>
                </a:solidFill>
                <a:latin typeface="Segoe UI"/>
              </a:rPr>
              <a:t> </a:t>
            </a:r>
            <a:r>
              <a:rPr sz="2400" b="0" i="0" u="none" dirty="0" err="1">
                <a:solidFill>
                  <a:srgbClr val="2B2F36"/>
                </a:solidFill>
                <a:latin typeface="Segoe UI"/>
              </a:rPr>
              <a:t>kết</a:t>
            </a:r>
            <a:r>
              <a:rPr sz="2400" b="0" i="0" u="none" dirty="0">
                <a:solidFill>
                  <a:srgbClr val="2B2F36"/>
                </a:solidFill>
                <a:latin typeface="Segoe UI"/>
              </a:rPr>
              <a:t> </a:t>
            </a:r>
            <a:r>
              <a:rPr sz="2400" b="0" i="0" u="none" dirty="0" err="1">
                <a:solidFill>
                  <a:srgbClr val="2B2F36"/>
                </a:solidFill>
                <a:latin typeface="Segoe UI"/>
              </a:rPr>
              <a:t>quả</a:t>
            </a:r>
            <a:r>
              <a:rPr sz="2400" b="0" i="0" u="none" dirty="0">
                <a:solidFill>
                  <a:srgbClr val="2B2F36"/>
                </a:solidFill>
                <a:latin typeface="Segoe UI"/>
              </a:rPr>
              <a:t>.</a:t>
            </a:r>
          </a:p>
        </p:txBody>
      </p:sp>
      <p:sp>
        <p:nvSpPr>
          <p:cNvPr id="6" name="TextBox 5"/>
          <p:cNvSpPr txBox="1"/>
          <p:nvPr/>
        </p:nvSpPr>
        <p:spPr>
          <a:xfrm>
            <a:off x="609600" y="3256954"/>
            <a:ext cx="11068050" cy="856952"/>
          </a:xfrm>
          <a:prstGeom prst="rect">
            <a:avLst/>
          </a:prstGeom>
          <a:noFill/>
        </p:spPr>
        <p:txBody>
          <a:bodyPr wrap="square" lIns="0" tIns="0" rIns="0" bIns="0" anchor="t">
            <a:spAutoFit/>
          </a:bodyPr>
          <a:lstStyle/>
          <a:p>
            <a:pPr algn="l">
              <a:lnSpc>
                <a:spcPts val="3375"/>
              </a:lnSpc>
            </a:pPr>
            <a:r>
              <a:rPr sz="2400" b="1" i="0" u="none">
                <a:solidFill>
                  <a:srgbClr val="2B2F36"/>
                </a:solidFill>
                <a:latin typeface="Segoe UI"/>
              </a:rPr>
              <a:t>Bảng đơn hàng:</a:t>
            </a:r>
            <a:r>
              <a:rPr sz="2400" b="0" i="0" u="none">
                <a:solidFill>
                  <a:srgbClr val="2B2F36"/>
                </a:solidFill>
                <a:latin typeface="Segoe UI"/>
              </a:rPr>
              <a:t> Bỏ 8 cột lặp từ 17 cột gốc, còn 9 cột chuẩn giữ nguyên 646,945 đơn.</a:t>
            </a:r>
          </a:p>
        </p:txBody>
      </p:sp>
      <p:sp>
        <p:nvSpPr>
          <p:cNvPr id="7" name="TextBox 6"/>
          <p:cNvSpPr txBox="1"/>
          <p:nvPr/>
        </p:nvSpPr>
        <p:spPr>
          <a:xfrm>
            <a:off x="609600" y="4228207"/>
            <a:ext cx="11068050" cy="856952"/>
          </a:xfrm>
          <a:prstGeom prst="rect">
            <a:avLst/>
          </a:prstGeom>
          <a:noFill/>
        </p:spPr>
        <p:txBody>
          <a:bodyPr wrap="square" lIns="0" tIns="0" rIns="0" bIns="0" anchor="t">
            <a:spAutoFit/>
          </a:bodyPr>
          <a:lstStyle/>
          <a:p>
            <a:pPr algn="l">
              <a:lnSpc>
                <a:spcPts val="3375"/>
              </a:lnSpc>
            </a:pPr>
            <a:r>
              <a:rPr sz="2400" b="1" i="0" u="none">
                <a:solidFill>
                  <a:srgbClr val="2B2F36"/>
                </a:solidFill>
                <a:latin typeface="Segoe UI"/>
              </a:rPr>
              <a:t>Bảng dòng hàng:</a:t>
            </a:r>
            <a:r>
              <a:rPr sz="2400" b="0" i="0" u="none">
                <a:solidFill>
                  <a:srgbClr val="2B2F36"/>
                </a:solidFill>
                <a:latin typeface="Segoe UI"/>
              </a:rPr>
              <a:t> Gộp 16 cặp trùng, từ 714,669 còn 714,653 dòng. Bảo toàn 3,213,143 đơn vị bán.</a:t>
            </a:r>
          </a:p>
        </p:txBody>
      </p:sp>
      <p:sp>
        <p:nvSpPr>
          <p:cNvPr id="8" name="TextBox 7"/>
          <p:cNvSpPr txBox="1"/>
          <p:nvPr/>
        </p:nvSpPr>
        <p:spPr>
          <a:xfrm>
            <a:off x="609600" y="5199459"/>
            <a:ext cx="11068050" cy="856952"/>
          </a:xfrm>
          <a:prstGeom prst="rect">
            <a:avLst/>
          </a:prstGeom>
          <a:noFill/>
        </p:spPr>
        <p:txBody>
          <a:bodyPr wrap="square" lIns="0" tIns="0" rIns="0" bIns="0" anchor="t">
            <a:spAutoFit/>
          </a:bodyPr>
          <a:lstStyle/>
          <a:p>
            <a:pPr algn="l">
              <a:lnSpc>
                <a:spcPts val="3375"/>
              </a:lnSpc>
            </a:pPr>
            <a:r>
              <a:rPr sz="2400" b="1" i="0" u="none">
                <a:solidFill>
                  <a:srgbClr val="2B2F36"/>
                </a:solidFill>
                <a:latin typeface="Segoe UI"/>
              </a:rPr>
              <a:t>Bảng nhân viên &amp; giao hàng:</a:t>
            </a:r>
            <a:r>
              <a:rPr sz="2400" b="0" i="0" u="none">
                <a:solidFill>
                  <a:srgbClr val="2B2F36"/>
                </a:solidFill>
                <a:latin typeface="Segoe UI"/>
              </a:rPr>
              <a:t> Tách bảng nhân viên riêng đúng 200 dòng. Người giao hàng gộp còn 80 người.</a:t>
            </a:r>
          </a:p>
        </p:txBody>
      </p:sp>
      <p:sp>
        <p:nvSpPr>
          <p:cNvPr id="9" name="TextBox 8"/>
          <p:cNvSpPr txBox="1"/>
          <p:nvPr/>
        </p:nvSpPr>
        <p:spPr>
          <a:xfrm>
            <a:off x="609600" y="6170711"/>
            <a:ext cx="11068050" cy="396712"/>
          </a:xfrm>
          <a:prstGeom prst="rect">
            <a:avLst/>
          </a:prstGeom>
          <a:noFill/>
        </p:spPr>
        <p:txBody>
          <a:bodyPr wrap="square" lIns="0" tIns="0" rIns="0" bIns="0" anchor="t">
            <a:spAutoFit/>
          </a:bodyPr>
          <a:lstStyle/>
          <a:p>
            <a:pPr algn="l">
              <a:lnSpc>
                <a:spcPts val="3375"/>
              </a:lnSpc>
            </a:pPr>
            <a:r>
              <a:rPr sz="2400" b="1" i="0" u="none">
                <a:solidFill>
                  <a:srgbClr val="2B2F36"/>
                </a:solidFill>
                <a:latin typeface="Segoe UI"/>
              </a:rPr>
              <a:t>Giá trị bất thường:</a:t>
            </a:r>
            <a:r>
              <a:rPr sz="2400" b="0" i="0" u="none">
                <a:solidFill>
                  <a:srgbClr val="2B2F36"/>
                </a:solidFill>
                <a:latin typeface="Segoe UI"/>
              </a:rPr>
              <a:t> Chặn trần và đánh dấu cờ, không xóa để bảo toàn doanh thu.</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3EC"/>
        </a:solidFill>
        <a:effectLst/>
      </p:bgPr>
    </p:bg>
    <p:spTree>
      <p:nvGrpSpPr>
        <p:cNvPr id="1" name=""/>
        <p:cNvGrpSpPr/>
        <p:nvPr/>
      </p:nvGrpSpPr>
      <p:grpSpPr>
        <a:xfrm>
          <a:off x="0" y="0"/>
          <a:ext cx="0" cy="0"/>
          <a:chOff x="0" y="0"/>
          <a:chExt cx="0" cy="0"/>
        </a:xfrm>
      </p:grpSpPr>
      <p:sp>
        <p:nvSpPr>
          <p:cNvPr id="2" name="Rectangle 1"/>
          <p:cNvSpPr/>
          <p:nvPr/>
        </p:nvSpPr>
        <p:spPr>
          <a:xfrm>
            <a:off x="609600" y="6271766"/>
            <a:ext cx="10972800" cy="9525"/>
          </a:xfrm>
          <a:prstGeom prst="rect">
            <a:avLst/>
          </a:prstGeom>
          <a:solidFill>
            <a:srgbClr val="A68A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609600" y="2742902"/>
            <a:ext cx="2600325" cy="3528863"/>
          </a:xfrm>
          <a:prstGeom prst="roundRect">
            <a:avLst>
              <a:gd name="adj" fmla="val 2930"/>
            </a:avLst>
          </a:prstGeom>
          <a:solidFill>
            <a:srgbClr val="FA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3400425" y="2742902"/>
            <a:ext cx="2600325" cy="3528863"/>
          </a:xfrm>
          <a:prstGeom prst="roundRect">
            <a:avLst>
              <a:gd name="adj" fmla="val 2930"/>
            </a:avLst>
          </a:prstGeom>
          <a:solidFill>
            <a:srgbClr val="FA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191250" y="2742902"/>
            <a:ext cx="2600325" cy="3528863"/>
          </a:xfrm>
          <a:prstGeom prst="roundRect">
            <a:avLst>
              <a:gd name="adj" fmla="val 2930"/>
            </a:avLst>
          </a:prstGeom>
          <a:solidFill>
            <a:srgbClr val="FA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8982075" y="2742902"/>
            <a:ext cx="2600325" cy="3528863"/>
          </a:xfrm>
          <a:prstGeom prst="roundRect">
            <a:avLst>
              <a:gd name="adj" fmla="val 2930"/>
            </a:avLst>
          </a:prstGeom>
          <a:solidFill>
            <a:srgbClr val="FA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09600" y="457200"/>
            <a:ext cx="11582400" cy="426541"/>
          </a:xfrm>
          <a:prstGeom prst="rect">
            <a:avLst/>
          </a:prstGeom>
          <a:noFill/>
        </p:spPr>
        <p:txBody>
          <a:bodyPr wrap="none" lIns="0" tIns="0" rIns="0" bIns="0" anchor="t">
            <a:spAutoFit/>
          </a:bodyPr>
          <a:lstStyle/>
          <a:p>
            <a:pPr algn="l">
              <a:lnSpc>
                <a:spcPts val="3359"/>
              </a:lnSpc>
            </a:pPr>
            <a:r>
              <a:rPr sz="2799" b="1" i="0" u="none" dirty="0">
                <a:solidFill>
                  <a:srgbClr val="0F172A"/>
                </a:solidFill>
                <a:latin typeface="Segoe UI"/>
              </a:rPr>
              <a:t>07 · ENTITY RELATIONSHIP</a:t>
            </a:r>
          </a:p>
        </p:txBody>
      </p:sp>
      <p:sp>
        <p:nvSpPr>
          <p:cNvPr id="8" name="TextBox 7"/>
          <p:cNvSpPr txBox="1"/>
          <p:nvPr/>
        </p:nvSpPr>
        <p:spPr>
          <a:xfrm>
            <a:off x="609600" y="959941"/>
            <a:ext cx="11582400" cy="525660"/>
          </a:xfrm>
          <a:prstGeom prst="rect">
            <a:avLst/>
          </a:prstGeom>
          <a:noFill/>
        </p:spPr>
        <p:txBody>
          <a:bodyPr wrap="none" lIns="0" tIns="0" rIns="0" bIns="0" anchor="t">
            <a:spAutoFit/>
          </a:bodyPr>
          <a:lstStyle/>
          <a:p>
            <a:pPr algn="l">
              <a:lnSpc>
                <a:spcPts val="4140"/>
              </a:lnSpc>
            </a:pPr>
            <a:r>
              <a:rPr sz="3600" b="1" i="0" u="none" dirty="0" err="1">
                <a:solidFill>
                  <a:srgbClr val="1F2D3D"/>
                </a:solidFill>
                <a:latin typeface="Constantia"/>
              </a:rPr>
              <a:t>Mô</a:t>
            </a:r>
            <a:r>
              <a:rPr sz="3600" b="1" i="0" u="none" dirty="0">
                <a:solidFill>
                  <a:srgbClr val="1F2D3D"/>
                </a:solidFill>
                <a:latin typeface="Constantia"/>
              </a:rPr>
              <a:t> </a:t>
            </a:r>
            <a:r>
              <a:rPr sz="3600" b="1" i="0" u="none" dirty="0" err="1">
                <a:solidFill>
                  <a:srgbClr val="1F2D3D"/>
                </a:solidFill>
                <a:latin typeface="Constantia"/>
              </a:rPr>
              <a:t>hình</a:t>
            </a:r>
            <a:r>
              <a:rPr sz="3600" b="1" i="0" u="none" dirty="0">
                <a:solidFill>
                  <a:srgbClr val="1F2D3D"/>
                </a:solidFill>
                <a:latin typeface="Constantia"/>
              </a:rPr>
              <a:t> ERD </a:t>
            </a:r>
            <a:r>
              <a:rPr sz="3600" b="1" i="0" u="none" dirty="0" err="1">
                <a:solidFill>
                  <a:srgbClr val="1F2D3D"/>
                </a:solidFill>
                <a:latin typeface="Constantia"/>
              </a:rPr>
              <a:t>gồm</a:t>
            </a:r>
            <a:r>
              <a:rPr sz="3600" b="1" i="0" u="none" dirty="0">
                <a:solidFill>
                  <a:srgbClr val="1F2D3D"/>
                </a:solidFill>
                <a:latin typeface="Constantia"/>
              </a:rPr>
              <a:t> 15 </a:t>
            </a:r>
            <a:r>
              <a:rPr sz="3600" b="1" i="0" u="none" dirty="0" err="1">
                <a:solidFill>
                  <a:srgbClr val="1F2D3D"/>
                </a:solidFill>
                <a:latin typeface="Constantia"/>
              </a:rPr>
              <a:t>bảng</a:t>
            </a:r>
            <a:endParaRPr sz="3600" b="1" i="0" u="none" dirty="0">
              <a:solidFill>
                <a:srgbClr val="1F2D3D"/>
              </a:solidFill>
              <a:latin typeface="Constantia"/>
            </a:endParaRPr>
          </a:p>
        </p:txBody>
      </p:sp>
      <p:sp>
        <p:nvSpPr>
          <p:cNvPr id="9" name="TextBox 8"/>
          <p:cNvSpPr txBox="1"/>
          <p:nvPr/>
        </p:nvSpPr>
        <p:spPr>
          <a:xfrm>
            <a:off x="609600" y="1599902"/>
            <a:ext cx="11582400" cy="914400"/>
          </a:xfrm>
          <a:prstGeom prst="rect">
            <a:avLst/>
          </a:prstGeom>
          <a:noFill/>
        </p:spPr>
        <p:txBody>
          <a:bodyPr wrap="square" lIns="0" tIns="0" rIns="0" bIns="0" anchor="t">
            <a:spAutoFit/>
          </a:bodyPr>
          <a:lstStyle/>
          <a:p>
            <a:pPr algn="l">
              <a:lnSpc>
                <a:spcPts val="3600"/>
              </a:lnSpc>
            </a:pPr>
            <a:r>
              <a:rPr sz="3000" b="0" i="0" u="none" dirty="0">
                <a:solidFill>
                  <a:srgbClr val="2B2F36"/>
                </a:solidFill>
                <a:latin typeface="Constantia"/>
              </a:rPr>
              <a:t>Các </a:t>
            </a:r>
            <a:r>
              <a:rPr sz="3000" b="0" i="0" u="none" dirty="0" err="1">
                <a:solidFill>
                  <a:srgbClr val="2B2F36"/>
                </a:solidFill>
                <a:latin typeface="Constantia"/>
              </a:rPr>
              <a:t>quan</a:t>
            </a:r>
            <a:r>
              <a:rPr sz="3000" b="0" i="0" u="none" dirty="0">
                <a:solidFill>
                  <a:srgbClr val="2B2F36"/>
                </a:solidFill>
                <a:latin typeface="Constantia"/>
              </a:rPr>
              <a:t> </a:t>
            </a:r>
            <a:r>
              <a:rPr sz="3000" b="0" i="0" u="none" dirty="0" err="1">
                <a:solidFill>
                  <a:srgbClr val="2B2F36"/>
                </a:solidFill>
                <a:latin typeface="Constantia"/>
              </a:rPr>
              <a:t>hệ</a:t>
            </a:r>
            <a:r>
              <a:rPr sz="3000" b="0" i="0" u="none" dirty="0">
                <a:solidFill>
                  <a:srgbClr val="2B2F36"/>
                </a:solidFill>
                <a:latin typeface="Constantia"/>
              </a:rPr>
              <a:t> </a:t>
            </a:r>
            <a:r>
              <a:rPr sz="3000" b="0" i="0" u="none" dirty="0" err="1">
                <a:solidFill>
                  <a:srgbClr val="2B2F36"/>
                </a:solidFill>
                <a:latin typeface="Constantia"/>
              </a:rPr>
              <a:t>giữa</a:t>
            </a:r>
            <a:r>
              <a:rPr sz="3000" b="0" i="0" u="none" dirty="0">
                <a:solidFill>
                  <a:srgbClr val="2B2F36"/>
                </a:solidFill>
                <a:latin typeface="Constantia"/>
              </a:rPr>
              <a:t> </a:t>
            </a:r>
            <a:r>
              <a:rPr sz="3000" b="0" i="0" u="none" dirty="0" err="1">
                <a:solidFill>
                  <a:srgbClr val="2B2F36"/>
                </a:solidFill>
                <a:latin typeface="Constantia"/>
              </a:rPr>
              <a:t>nhân</a:t>
            </a:r>
            <a:r>
              <a:rPr sz="3000" b="0" i="0" u="none" dirty="0">
                <a:solidFill>
                  <a:srgbClr val="2B2F36"/>
                </a:solidFill>
                <a:latin typeface="Constantia"/>
              </a:rPr>
              <a:t> </a:t>
            </a:r>
            <a:r>
              <a:rPr sz="3000" b="0" i="0" u="none" dirty="0" err="1">
                <a:solidFill>
                  <a:srgbClr val="2B2F36"/>
                </a:solidFill>
                <a:latin typeface="Constantia"/>
              </a:rPr>
              <a:t>viên</a:t>
            </a:r>
            <a:r>
              <a:rPr sz="3000" b="0" i="0" u="none" dirty="0">
                <a:solidFill>
                  <a:srgbClr val="2B2F36"/>
                </a:solidFill>
                <a:latin typeface="Constantia"/>
              </a:rPr>
              <a:t>, </a:t>
            </a:r>
            <a:r>
              <a:rPr sz="3000" b="0" i="0" u="none" dirty="0" err="1">
                <a:solidFill>
                  <a:srgbClr val="2B2F36"/>
                </a:solidFill>
                <a:latin typeface="Constantia"/>
              </a:rPr>
              <a:t>đơn</a:t>
            </a:r>
            <a:r>
              <a:rPr sz="3000" b="0" i="0" u="none" dirty="0">
                <a:solidFill>
                  <a:srgbClr val="2B2F36"/>
                </a:solidFill>
                <a:latin typeface="Constantia"/>
              </a:rPr>
              <a:t> </a:t>
            </a:r>
            <a:r>
              <a:rPr sz="3000" b="0" i="0" u="none" dirty="0" err="1">
                <a:solidFill>
                  <a:srgbClr val="2B2F36"/>
                </a:solidFill>
                <a:latin typeface="Constantia"/>
              </a:rPr>
              <a:t>hàng</a:t>
            </a:r>
            <a:r>
              <a:rPr sz="3000" b="0" i="0" u="none" dirty="0">
                <a:solidFill>
                  <a:srgbClr val="2B2F36"/>
                </a:solidFill>
                <a:latin typeface="Constantia"/>
              </a:rPr>
              <a:t> </a:t>
            </a:r>
            <a:r>
              <a:rPr sz="3000" b="0" i="0" u="none" dirty="0" err="1">
                <a:solidFill>
                  <a:srgbClr val="2B2F36"/>
                </a:solidFill>
                <a:latin typeface="Constantia"/>
              </a:rPr>
              <a:t>và</a:t>
            </a:r>
            <a:r>
              <a:rPr sz="3000" b="0" i="0" u="none" dirty="0">
                <a:solidFill>
                  <a:srgbClr val="2B2F36"/>
                </a:solidFill>
                <a:latin typeface="Constantia"/>
              </a:rPr>
              <a:t> </a:t>
            </a:r>
            <a:r>
              <a:rPr sz="3000" b="0" i="0" u="none" dirty="0" err="1">
                <a:solidFill>
                  <a:srgbClr val="2B2F36"/>
                </a:solidFill>
                <a:latin typeface="Constantia"/>
              </a:rPr>
              <a:t>sản</a:t>
            </a:r>
            <a:r>
              <a:rPr sz="3000" b="0" i="0" u="none" dirty="0">
                <a:solidFill>
                  <a:srgbClr val="2B2F36"/>
                </a:solidFill>
                <a:latin typeface="Constantia"/>
              </a:rPr>
              <a:t> </a:t>
            </a:r>
            <a:r>
              <a:rPr sz="3000" b="0" i="0" u="none" dirty="0" err="1">
                <a:solidFill>
                  <a:srgbClr val="2B2F36"/>
                </a:solidFill>
                <a:latin typeface="Constantia"/>
              </a:rPr>
              <a:t>phẩm</a:t>
            </a:r>
            <a:r>
              <a:rPr sz="3000" b="0" i="0" u="none" dirty="0">
                <a:solidFill>
                  <a:srgbClr val="2B2F36"/>
                </a:solidFill>
                <a:latin typeface="Constantia"/>
              </a:rPr>
              <a:t> </a:t>
            </a:r>
            <a:r>
              <a:rPr sz="3000" b="0" i="0" u="none" dirty="0" err="1">
                <a:solidFill>
                  <a:srgbClr val="2B2F36"/>
                </a:solidFill>
                <a:latin typeface="Constantia"/>
              </a:rPr>
              <a:t>được</a:t>
            </a:r>
            <a:r>
              <a:rPr sz="3000" b="0" i="0" u="none" dirty="0">
                <a:solidFill>
                  <a:srgbClr val="2B2F36"/>
                </a:solidFill>
                <a:latin typeface="Constantia"/>
              </a:rPr>
              <a:t> </a:t>
            </a:r>
            <a:r>
              <a:rPr sz="3000" b="0" i="0" u="none" dirty="0" err="1">
                <a:solidFill>
                  <a:srgbClr val="2B2F36"/>
                </a:solidFill>
                <a:latin typeface="Constantia"/>
              </a:rPr>
              <a:t>xác</a:t>
            </a:r>
            <a:r>
              <a:rPr sz="3000" b="0" i="0" u="none" dirty="0">
                <a:solidFill>
                  <a:srgbClr val="2B2F36"/>
                </a:solidFill>
                <a:latin typeface="Constantia"/>
              </a:rPr>
              <a:t> </a:t>
            </a:r>
            <a:r>
              <a:rPr sz="3000" b="0" i="0" u="none" dirty="0" err="1">
                <a:solidFill>
                  <a:srgbClr val="2B2F36"/>
                </a:solidFill>
                <a:latin typeface="Constantia"/>
              </a:rPr>
              <a:t>định</a:t>
            </a:r>
            <a:r>
              <a:rPr sz="3000" b="0" i="0" u="none" dirty="0">
                <a:solidFill>
                  <a:srgbClr val="2B2F36"/>
                </a:solidFill>
                <a:latin typeface="Constantia"/>
              </a:rPr>
              <a:t> </a:t>
            </a:r>
            <a:r>
              <a:rPr sz="3000" b="0" i="0" u="none" dirty="0" err="1">
                <a:solidFill>
                  <a:srgbClr val="2B2F36"/>
                </a:solidFill>
                <a:latin typeface="Constantia"/>
              </a:rPr>
              <a:t>rõ</a:t>
            </a:r>
            <a:r>
              <a:rPr sz="3000" b="0" i="0" u="none" dirty="0">
                <a:solidFill>
                  <a:srgbClr val="2B2F36"/>
                </a:solidFill>
                <a:latin typeface="Constantia"/>
              </a:rPr>
              <a:t> </a:t>
            </a:r>
            <a:r>
              <a:rPr sz="3000" b="0" i="0" u="none" dirty="0" err="1">
                <a:solidFill>
                  <a:srgbClr val="2B2F36"/>
                </a:solidFill>
                <a:latin typeface="Constantia"/>
              </a:rPr>
              <a:t>ràng</a:t>
            </a:r>
            <a:r>
              <a:rPr sz="3000" b="0" i="0" u="none" dirty="0">
                <a:solidFill>
                  <a:srgbClr val="2B2F36"/>
                </a:solidFill>
                <a:latin typeface="Constantia"/>
              </a:rPr>
              <a:t>.</a:t>
            </a:r>
          </a:p>
        </p:txBody>
      </p:sp>
      <p:sp>
        <p:nvSpPr>
          <p:cNvPr id="10" name="TextBox 9"/>
          <p:cNvSpPr txBox="1"/>
          <p:nvPr/>
        </p:nvSpPr>
        <p:spPr>
          <a:xfrm>
            <a:off x="609600" y="6386066"/>
            <a:ext cx="11068050" cy="371475"/>
          </a:xfrm>
          <a:prstGeom prst="rect">
            <a:avLst/>
          </a:prstGeom>
          <a:noFill/>
        </p:spPr>
        <p:txBody>
          <a:bodyPr wrap="square" lIns="0" tIns="0" rIns="0" bIns="0" anchor="t">
            <a:spAutoFit/>
          </a:bodyPr>
          <a:lstStyle/>
          <a:p>
            <a:pPr algn="l"/>
            <a:r>
              <a:rPr sz="2499" b="0" i="1" u="none" dirty="0">
                <a:solidFill>
                  <a:srgbClr val="2B2F36"/>
                </a:solidFill>
                <a:latin typeface="Segoe UI"/>
              </a:rPr>
              <a:t> </a:t>
            </a:r>
            <a:r>
              <a:rPr sz="2499" b="0" i="1" u="none" dirty="0" err="1">
                <a:solidFill>
                  <a:srgbClr val="2B2F36"/>
                </a:solidFill>
                <a:latin typeface="Segoe UI"/>
              </a:rPr>
              <a:t>Chú</a:t>
            </a:r>
            <a:r>
              <a:rPr sz="2499" b="0" i="1" u="none" dirty="0">
                <a:solidFill>
                  <a:srgbClr val="2B2F36"/>
                </a:solidFill>
                <a:latin typeface="Segoe UI"/>
              </a:rPr>
              <a:t> </a:t>
            </a:r>
            <a:r>
              <a:rPr sz="2499" b="0" i="1" u="none" dirty="0" err="1">
                <a:solidFill>
                  <a:srgbClr val="2B2F36"/>
                </a:solidFill>
                <a:latin typeface="Segoe UI"/>
              </a:rPr>
              <a:t>thích</a:t>
            </a:r>
            <a:r>
              <a:rPr sz="2499" b="0" i="1" u="none" dirty="0">
                <a:solidFill>
                  <a:srgbClr val="2B2F36"/>
                </a:solidFill>
                <a:latin typeface="Segoe UI"/>
              </a:rPr>
              <a:t>: </a:t>
            </a:r>
            <a:r>
              <a:rPr sz="2499" b="0" i="1" u="none" dirty="0" err="1">
                <a:solidFill>
                  <a:srgbClr val="2B2F36"/>
                </a:solidFill>
                <a:latin typeface="Segoe UI"/>
              </a:rPr>
              <a:t>Toàn</a:t>
            </a:r>
            <a:r>
              <a:rPr sz="2499" b="0" i="1" u="none" dirty="0">
                <a:solidFill>
                  <a:srgbClr val="2B2F36"/>
                </a:solidFill>
                <a:latin typeface="Segoe UI"/>
              </a:rPr>
              <a:t> </a:t>
            </a:r>
            <a:r>
              <a:rPr sz="2499" b="0" i="1" u="none" dirty="0" err="1">
                <a:solidFill>
                  <a:srgbClr val="2B2F36"/>
                </a:solidFill>
                <a:latin typeface="Segoe UI"/>
              </a:rPr>
              <a:t>bộ</a:t>
            </a:r>
            <a:r>
              <a:rPr sz="2499" b="0" i="1" u="none" dirty="0">
                <a:solidFill>
                  <a:srgbClr val="2B2F36"/>
                </a:solidFill>
                <a:latin typeface="Segoe UI"/>
              </a:rPr>
              <a:t> 15 </a:t>
            </a:r>
            <a:r>
              <a:rPr sz="2499" b="0" i="1" u="none" dirty="0" err="1">
                <a:solidFill>
                  <a:srgbClr val="2B2F36"/>
                </a:solidFill>
                <a:latin typeface="Segoe UI"/>
              </a:rPr>
              <a:t>bảng</a:t>
            </a:r>
            <a:r>
              <a:rPr sz="2499" b="0" i="1" u="none" dirty="0">
                <a:solidFill>
                  <a:srgbClr val="2B2F36"/>
                </a:solidFill>
                <a:latin typeface="Segoe UI"/>
              </a:rPr>
              <a:t> </a:t>
            </a:r>
            <a:r>
              <a:rPr sz="2499" b="0" i="1" u="none" dirty="0" err="1">
                <a:solidFill>
                  <a:srgbClr val="2B2F36"/>
                </a:solidFill>
                <a:latin typeface="Segoe UI"/>
              </a:rPr>
              <a:t>đạt</a:t>
            </a:r>
            <a:r>
              <a:rPr sz="2499" b="0" i="1" u="none" dirty="0">
                <a:solidFill>
                  <a:srgbClr val="2B2F36"/>
                </a:solidFill>
                <a:latin typeface="Segoe UI"/>
              </a:rPr>
              <a:t> </a:t>
            </a:r>
            <a:r>
              <a:rPr sz="2499" b="0" i="1" u="none" dirty="0" err="1">
                <a:solidFill>
                  <a:srgbClr val="2B2F36"/>
                </a:solidFill>
                <a:latin typeface="Segoe UI"/>
              </a:rPr>
              <a:t>toàn</a:t>
            </a:r>
            <a:r>
              <a:rPr sz="2499" b="0" i="1" u="none" dirty="0">
                <a:solidFill>
                  <a:srgbClr val="2B2F36"/>
                </a:solidFill>
                <a:latin typeface="Segoe UI"/>
              </a:rPr>
              <a:t> </a:t>
            </a:r>
            <a:r>
              <a:rPr sz="2499" b="0" i="1" u="none" dirty="0" err="1">
                <a:solidFill>
                  <a:srgbClr val="2B2F36"/>
                </a:solidFill>
                <a:latin typeface="Segoe UI"/>
              </a:rPr>
              <a:t>vẹn</a:t>
            </a:r>
            <a:r>
              <a:rPr sz="2499" b="0" i="1" u="none" dirty="0">
                <a:solidFill>
                  <a:srgbClr val="2B2F36"/>
                </a:solidFill>
                <a:latin typeface="Segoe UI"/>
              </a:rPr>
              <a:t> </a:t>
            </a:r>
            <a:r>
              <a:rPr sz="2499" b="0" i="1" u="none" dirty="0" err="1">
                <a:solidFill>
                  <a:srgbClr val="2B2F36"/>
                </a:solidFill>
                <a:latin typeface="Segoe UI"/>
              </a:rPr>
              <a:t>khóa</a:t>
            </a:r>
            <a:r>
              <a:rPr sz="2499" b="0" i="1" u="none" dirty="0">
                <a:solidFill>
                  <a:srgbClr val="2B2F36"/>
                </a:solidFill>
                <a:latin typeface="Segoe UI"/>
              </a:rPr>
              <a:t> </a:t>
            </a:r>
            <a:r>
              <a:rPr sz="2499" b="0" i="1" u="none" dirty="0" err="1">
                <a:solidFill>
                  <a:srgbClr val="2B2F36"/>
                </a:solidFill>
                <a:latin typeface="Segoe UI"/>
              </a:rPr>
              <a:t>ngoại</a:t>
            </a:r>
            <a:r>
              <a:rPr sz="2499" b="0" i="1" u="none" dirty="0">
                <a:solidFill>
                  <a:srgbClr val="2B2F36"/>
                </a:solidFill>
                <a:latin typeface="Segoe UI"/>
              </a:rPr>
              <a:t> 100% </a:t>
            </a:r>
            <a:r>
              <a:rPr sz="2499" b="0" i="1" u="none" dirty="0" err="1">
                <a:solidFill>
                  <a:srgbClr val="2B2F36"/>
                </a:solidFill>
                <a:latin typeface="Segoe UI"/>
              </a:rPr>
              <a:t>sau</a:t>
            </a:r>
            <a:r>
              <a:rPr sz="2499" b="0" i="1" u="none" dirty="0">
                <a:solidFill>
                  <a:srgbClr val="2B2F36"/>
                </a:solidFill>
                <a:latin typeface="Segoe UI"/>
              </a:rPr>
              <a:t> </a:t>
            </a:r>
            <a:r>
              <a:rPr sz="2499" b="0" i="1" u="none" dirty="0" err="1">
                <a:solidFill>
                  <a:srgbClr val="2B2F36"/>
                </a:solidFill>
                <a:latin typeface="Segoe UI"/>
              </a:rPr>
              <a:t>khi</a:t>
            </a:r>
            <a:r>
              <a:rPr sz="2499" b="0" i="1" u="none" dirty="0">
                <a:solidFill>
                  <a:srgbClr val="2B2F36"/>
                </a:solidFill>
                <a:latin typeface="Segoe UI"/>
              </a:rPr>
              <a:t> </a:t>
            </a:r>
            <a:r>
              <a:rPr sz="2499" b="0" i="1" u="none" dirty="0" err="1">
                <a:solidFill>
                  <a:srgbClr val="2B2F36"/>
                </a:solidFill>
                <a:latin typeface="Segoe UI"/>
              </a:rPr>
              <a:t>làm</a:t>
            </a:r>
            <a:r>
              <a:rPr sz="2499" b="0" i="1" u="none" dirty="0">
                <a:solidFill>
                  <a:srgbClr val="2B2F36"/>
                </a:solidFill>
                <a:latin typeface="Segoe UI"/>
              </a:rPr>
              <a:t> </a:t>
            </a:r>
            <a:r>
              <a:rPr sz="2499" b="0" i="1" u="none" dirty="0" err="1">
                <a:solidFill>
                  <a:srgbClr val="2B2F36"/>
                </a:solidFill>
                <a:latin typeface="Segoe UI"/>
              </a:rPr>
              <a:t>sạch</a:t>
            </a:r>
            <a:r>
              <a:rPr sz="2499" b="0" i="1" u="none" dirty="0">
                <a:solidFill>
                  <a:srgbClr val="2B2F36"/>
                </a:solidFill>
                <a:latin typeface="Segoe UI"/>
              </a:rPr>
              <a:t>. </a:t>
            </a:r>
          </a:p>
        </p:txBody>
      </p:sp>
      <p:sp>
        <p:nvSpPr>
          <p:cNvPr id="11" name="TextBox 10"/>
          <p:cNvSpPr txBox="1"/>
          <p:nvPr/>
        </p:nvSpPr>
        <p:spPr>
          <a:xfrm>
            <a:off x="838200" y="2971502"/>
            <a:ext cx="2238375" cy="853082"/>
          </a:xfrm>
          <a:prstGeom prst="rect">
            <a:avLst/>
          </a:prstGeom>
          <a:noFill/>
        </p:spPr>
        <p:txBody>
          <a:bodyPr wrap="square" lIns="0" tIns="0" rIns="0" bIns="0" anchor="t">
            <a:spAutoFit/>
          </a:bodyPr>
          <a:lstStyle/>
          <a:p>
            <a:pPr algn="l">
              <a:lnSpc>
                <a:spcPts val="3359"/>
              </a:lnSpc>
            </a:pPr>
            <a:r>
              <a:rPr sz="2799" b="1" i="0" u="none">
                <a:solidFill>
                  <a:srgbClr val="1F2D3D"/>
                </a:solidFill>
                <a:latin typeface="Constantia"/>
              </a:rPr>
              <a:t>Nhân viên – Đơn hàng</a:t>
            </a:r>
          </a:p>
        </p:txBody>
      </p:sp>
      <p:sp>
        <p:nvSpPr>
          <p:cNvPr id="12" name="TextBox 11"/>
          <p:cNvSpPr txBox="1"/>
          <p:nvPr/>
        </p:nvSpPr>
        <p:spPr>
          <a:xfrm>
            <a:off x="838200" y="3900785"/>
            <a:ext cx="2238375" cy="2142380"/>
          </a:xfrm>
          <a:prstGeom prst="rect">
            <a:avLst/>
          </a:prstGeom>
          <a:noFill/>
        </p:spPr>
        <p:txBody>
          <a:bodyPr wrap="square" lIns="0" tIns="0" rIns="0" bIns="0" anchor="t">
            <a:spAutoFit/>
          </a:bodyPr>
          <a:lstStyle/>
          <a:p>
            <a:pPr algn="l">
              <a:lnSpc>
                <a:spcPts val="3375"/>
              </a:lnSpc>
            </a:pPr>
            <a:r>
              <a:rPr sz="2499" b="0" i="0" u="none">
                <a:solidFill>
                  <a:srgbClr val="2B2F36"/>
                </a:solidFill>
                <a:latin typeface="Segoe UI"/>
              </a:rPr>
              <a:t>Quan hệ 1 - N: Một nhân viên bán hàng xử lý nhiều đơn hàng.</a:t>
            </a:r>
          </a:p>
        </p:txBody>
      </p:sp>
      <p:sp>
        <p:nvSpPr>
          <p:cNvPr id="13" name="TextBox 12"/>
          <p:cNvSpPr txBox="1"/>
          <p:nvPr/>
        </p:nvSpPr>
        <p:spPr>
          <a:xfrm>
            <a:off x="3629025" y="2971502"/>
            <a:ext cx="2238375" cy="853082"/>
          </a:xfrm>
          <a:prstGeom prst="rect">
            <a:avLst/>
          </a:prstGeom>
          <a:noFill/>
        </p:spPr>
        <p:txBody>
          <a:bodyPr wrap="square" lIns="0" tIns="0" rIns="0" bIns="0" anchor="t">
            <a:spAutoFit/>
          </a:bodyPr>
          <a:lstStyle/>
          <a:p>
            <a:pPr algn="l">
              <a:lnSpc>
                <a:spcPts val="3359"/>
              </a:lnSpc>
            </a:pPr>
            <a:r>
              <a:rPr sz="2799" b="1" i="0" u="none">
                <a:solidFill>
                  <a:srgbClr val="1F2D3D"/>
                </a:solidFill>
                <a:latin typeface="Constantia"/>
              </a:rPr>
              <a:t>Đơn hàng – Dòng hàng</a:t>
            </a:r>
          </a:p>
        </p:txBody>
      </p:sp>
      <p:sp>
        <p:nvSpPr>
          <p:cNvPr id="14" name="TextBox 13"/>
          <p:cNvSpPr txBox="1"/>
          <p:nvPr/>
        </p:nvSpPr>
        <p:spPr>
          <a:xfrm>
            <a:off x="3629025" y="3900785"/>
            <a:ext cx="2238375" cy="2142380"/>
          </a:xfrm>
          <a:prstGeom prst="rect">
            <a:avLst/>
          </a:prstGeom>
          <a:noFill/>
        </p:spPr>
        <p:txBody>
          <a:bodyPr wrap="square" lIns="0" tIns="0" rIns="0" bIns="0" anchor="t">
            <a:spAutoFit/>
          </a:bodyPr>
          <a:lstStyle/>
          <a:p>
            <a:pPr algn="l">
              <a:lnSpc>
                <a:spcPts val="3375"/>
              </a:lnSpc>
            </a:pPr>
            <a:r>
              <a:rPr sz="2499" b="0" i="0" u="none">
                <a:solidFill>
                  <a:srgbClr val="2B2F36"/>
                </a:solidFill>
                <a:latin typeface="Segoe UI"/>
              </a:rPr>
              <a:t>Quan hệ 1 - N: Một đơn hàng chứa nhiều dòng hàng chi tiết.</a:t>
            </a:r>
          </a:p>
        </p:txBody>
      </p:sp>
      <p:sp>
        <p:nvSpPr>
          <p:cNvPr id="15" name="TextBox 14"/>
          <p:cNvSpPr txBox="1"/>
          <p:nvPr/>
        </p:nvSpPr>
        <p:spPr>
          <a:xfrm>
            <a:off x="6419850" y="2971502"/>
            <a:ext cx="2238375" cy="853082"/>
          </a:xfrm>
          <a:prstGeom prst="rect">
            <a:avLst/>
          </a:prstGeom>
          <a:noFill/>
        </p:spPr>
        <p:txBody>
          <a:bodyPr wrap="square" lIns="0" tIns="0" rIns="0" bIns="0" anchor="t">
            <a:spAutoFit/>
          </a:bodyPr>
          <a:lstStyle/>
          <a:p>
            <a:pPr algn="l">
              <a:lnSpc>
                <a:spcPts val="3359"/>
              </a:lnSpc>
            </a:pPr>
            <a:r>
              <a:rPr sz="2799" b="1" i="0" u="none">
                <a:solidFill>
                  <a:srgbClr val="1F2D3D"/>
                </a:solidFill>
                <a:latin typeface="Constantia"/>
              </a:rPr>
              <a:t>Đơn hàng – Thanh toán</a:t>
            </a:r>
          </a:p>
        </p:txBody>
      </p:sp>
      <p:sp>
        <p:nvSpPr>
          <p:cNvPr id="16" name="TextBox 15"/>
          <p:cNvSpPr txBox="1"/>
          <p:nvPr/>
        </p:nvSpPr>
        <p:spPr>
          <a:xfrm>
            <a:off x="6419850" y="3900785"/>
            <a:ext cx="2238375" cy="2142380"/>
          </a:xfrm>
          <a:prstGeom prst="rect">
            <a:avLst/>
          </a:prstGeom>
          <a:noFill/>
        </p:spPr>
        <p:txBody>
          <a:bodyPr wrap="square" lIns="0" tIns="0" rIns="0" bIns="0" anchor="t">
            <a:spAutoFit/>
          </a:bodyPr>
          <a:lstStyle/>
          <a:p>
            <a:pPr algn="l">
              <a:lnSpc>
                <a:spcPts val="3375"/>
              </a:lnSpc>
            </a:pPr>
            <a:r>
              <a:rPr sz="2499" b="0" i="0" u="none">
                <a:solidFill>
                  <a:srgbClr val="2B2F36"/>
                </a:solidFill>
                <a:latin typeface="Segoe UI"/>
              </a:rPr>
              <a:t>Quan hệ 1 - 1: Mỗi đơn hàng có đúng một bản ghi thanh toán.</a:t>
            </a:r>
          </a:p>
        </p:txBody>
      </p:sp>
      <p:sp>
        <p:nvSpPr>
          <p:cNvPr id="17" name="TextBox 16"/>
          <p:cNvSpPr txBox="1"/>
          <p:nvPr/>
        </p:nvSpPr>
        <p:spPr>
          <a:xfrm>
            <a:off x="9210675" y="2971502"/>
            <a:ext cx="2238375" cy="853082"/>
          </a:xfrm>
          <a:prstGeom prst="rect">
            <a:avLst/>
          </a:prstGeom>
          <a:noFill/>
        </p:spPr>
        <p:txBody>
          <a:bodyPr wrap="square" lIns="0" tIns="0" rIns="0" bIns="0" anchor="t">
            <a:spAutoFit/>
          </a:bodyPr>
          <a:lstStyle/>
          <a:p>
            <a:pPr algn="l">
              <a:lnSpc>
                <a:spcPts val="3359"/>
              </a:lnSpc>
            </a:pPr>
            <a:r>
              <a:rPr sz="2799" b="1" i="0" u="none">
                <a:solidFill>
                  <a:srgbClr val="1F2D3D"/>
                </a:solidFill>
                <a:latin typeface="Constantia"/>
              </a:rPr>
              <a:t>Sản phẩm – Đơn hàng</a:t>
            </a:r>
          </a:p>
        </p:txBody>
      </p:sp>
      <p:sp>
        <p:nvSpPr>
          <p:cNvPr id="18" name="TextBox 17"/>
          <p:cNvSpPr txBox="1"/>
          <p:nvPr/>
        </p:nvSpPr>
        <p:spPr>
          <a:xfrm>
            <a:off x="9210675" y="3900785"/>
            <a:ext cx="2238375" cy="2142380"/>
          </a:xfrm>
          <a:prstGeom prst="rect">
            <a:avLst/>
          </a:prstGeom>
          <a:noFill/>
        </p:spPr>
        <p:txBody>
          <a:bodyPr wrap="square" lIns="0" tIns="0" rIns="0" bIns="0" anchor="t">
            <a:spAutoFit/>
          </a:bodyPr>
          <a:lstStyle/>
          <a:p>
            <a:pPr algn="l">
              <a:lnSpc>
                <a:spcPts val="3375"/>
              </a:lnSpc>
            </a:pPr>
            <a:r>
              <a:rPr sz="2499" b="0" i="0" u="none">
                <a:solidFill>
                  <a:srgbClr val="2B2F36"/>
                </a:solidFill>
                <a:latin typeface="Segoe UI"/>
              </a:rPr>
              <a:t>Quan hệ N - N: Nối thông qua bảng trung gian Dòng hàng.</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3EC"/>
        </a:solidFill>
        <a:effectLst/>
      </p:bgPr>
    </p:bg>
    <p:spTree>
      <p:nvGrpSpPr>
        <p:cNvPr id="1" name="">
          <a:extLst>
            <a:ext uri="{FF2B5EF4-FFF2-40B4-BE49-F238E27FC236}">
              <a16:creationId xmlns:a16="http://schemas.microsoft.com/office/drawing/2014/main" id="{79F80404-EEE0-CFD8-0178-9CF7D2804ED0}"/>
            </a:ext>
          </a:extLst>
        </p:cNvPr>
        <p:cNvGrpSpPr/>
        <p:nvPr/>
      </p:nvGrpSpPr>
      <p:grpSpPr>
        <a:xfrm>
          <a:off x="0" y="0"/>
          <a:ext cx="0" cy="0"/>
          <a:chOff x="0" y="0"/>
          <a:chExt cx="0" cy="0"/>
        </a:xfrm>
      </p:grpSpPr>
      <p:pic>
        <p:nvPicPr>
          <p:cNvPr id="20" name="Graphic 19">
            <a:extLst>
              <a:ext uri="{FF2B5EF4-FFF2-40B4-BE49-F238E27FC236}">
                <a16:creationId xmlns:a16="http://schemas.microsoft.com/office/drawing/2014/main" id="{0EED4B5E-EDCA-DE5E-1AEE-726C78B6591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08994" y="0"/>
            <a:ext cx="9888132" cy="6858000"/>
          </a:xfrm>
          <a:prstGeom prst="rect">
            <a:avLst/>
          </a:prstGeom>
        </p:spPr>
      </p:pic>
    </p:spTree>
    <p:extLst>
      <p:ext uri="{BB962C8B-B14F-4D97-AF65-F5344CB8AC3E}">
        <p14:creationId xmlns:p14="http://schemas.microsoft.com/office/powerpoint/2010/main" val="5642949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3EC"/>
        </a:solidFill>
        <a:effectLst/>
      </p:bgPr>
    </p:bg>
    <p:spTree>
      <p:nvGrpSpPr>
        <p:cNvPr id="1" name=""/>
        <p:cNvGrpSpPr/>
        <p:nvPr/>
      </p:nvGrpSpPr>
      <p:grpSpPr>
        <a:xfrm>
          <a:off x="0" y="0"/>
          <a:ext cx="0" cy="0"/>
          <a:chOff x="0" y="0"/>
          <a:chExt cx="0" cy="0"/>
        </a:xfrm>
      </p:grpSpPr>
      <p:sp>
        <p:nvSpPr>
          <p:cNvPr id="2" name="Rounded Rectangle 1"/>
          <p:cNvSpPr/>
          <p:nvPr/>
        </p:nvSpPr>
        <p:spPr>
          <a:xfrm>
            <a:off x="609600" y="2792015"/>
            <a:ext cx="3505200" cy="3102322"/>
          </a:xfrm>
          <a:prstGeom prst="roundRect">
            <a:avLst>
              <a:gd name="adj" fmla="val 2456"/>
            </a:avLst>
          </a:prstGeom>
          <a:solidFill>
            <a:srgbClr val="FA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4343400" y="2792015"/>
            <a:ext cx="3505200" cy="3102322"/>
          </a:xfrm>
          <a:prstGeom prst="roundRect">
            <a:avLst>
              <a:gd name="adj" fmla="val 2456"/>
            </a:avLst>
          </a:prstGeom>
          <a:solidFill>
            <a:srgbClr val="FA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8077200" y="2792015"/>
            <a:ext cx="3505200" cy="3102322"/>
          </a:xfrm>
          <a:prstGeom prst="roundRect">
            <a:avLst>
              <a:gd name="adj" fmla="val 2456"/>
            </a:avLst>
          </a:prstGeom>
          <a:solidFill>
            <a:srgbClr val="FA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09600" y="457200"/>
            <a:ext cx="11582400" cy="426541"/>
          </a:xfrm>
          <a:prstGeom prst="rect">
            <a:avLst/>
          </a:prstGeom>
          <a:noFill/>
        </p:spPr>
        <p:txBody>
          <a:bodyPr wrap="none" lIns="0" tIns="0" rIns="0" bIns="0" anchor="t">
            <a:spAutoFit/>
          </a:bodyPr>
          <a:lstStyle/>
          <a:p>
            <a:pPr algn="l">
              <a:lnSpc>
                <a:spcPts val="3359"/>
              </a:lnSpc>
            </a:pPr>
            <a:r>
              <a:rPr sz="2799" b="1" i="0" u="none">
                <a:solidFill>
                  <a:srgbClr val="0F172A"/>
                </a:solidFill>
                <a:latin typeface="Segoe UI"/>
              </a:rPr>
              <a:t>08 · NORMALIZATION</a:t>
            </a:r>
          </a:p>
        </p:txBody>
      </p:sp>
      <p:sp>
        <p:nvSpPr>
          <p:cNvPr id="6" name="TextBox 5"/>
          <p:cNvSpPr txBox="1"/>
          <p:nvPr/>
        </p:nvSpPr>
        <p:spPr>
          <a:xfrm>
            <a:off x="609600" y="1092422"/>
            <a:ext cx="3271345" cy="525785"/>
          </a:xfrm>
          <a:prstGeom prst="rect">
            <a:avLst/>
          </a:prstGeom>
          <a:noFill/>
        </p:spPr>
        <p:txBody>
          <a:bodyPr wrap="none" lIns="0" tIns="0" rIns="0" bIns="0" anchor="t">
            <a:spAutoFit/>
          </a:bodyPr>
          <a:lstStyle/>
          <a:p>
            <a:pPr algn="l">
              <a:lnSpc>
                <a:spcPts val="4140"/>
              </a:lnSpc>
            </a:pPr>
            <a:r>
              <a:rPr sz="3600" b="1" i="0" u="none" dirty="0" err="1">
                <a:solidFill>
                  <a:srgbClr val="1F2D3D"/>
                </a:solidFill>
                <a:latin typeface="Constantia"/>
              </a:rPr>
              <a:t>Chuẩn</a:t>
            </a:r>
            <a:r>
              <a:rPr sz="3600" b="1" i="0" u="none" dirty="0">
                <a:solidFill>
                  <a:srgbClr val="1F2D3D"/>
                </a:solidFill>
                <a:latin typeface="Constantia"/>
              </a:rPr>
              <a:t> </a:t>
            </a:r>
            <a:r>
              <a:rPr sz="3600" b="1" i="0" u="none" dirty="0" err="1">
                <a:solidFill>
                  <a:srgbClr val="1F2D3D"/>
                </a:solidFill>
                <a:latin typeface="Constantia"/>
              </a:rPr>
              <a:t>hóa</a:t>
            </a:r>
            <a:r>
              <a:rPr sz="3600" b="1" i="0" u="none" dirty="0">
                <a:solidFill>
                  <a:srgbClr val="1F2D3D"/>
                </a:solidFill>
                <a:latin typeface="Constantia"/>
              </a:rPr>
              <a:t> 3N</a:t>
            </a:r>
            <a:r>
              <a:rPr lang="vi-VN" sz="3600" b="1" i="0" u="none" dirty="0">
                <a:solidFill>
                  <a:srgbClr val="1F2D3D"/>
                </a:solidFill>
                <a:latin typeface="Constantia"/>
              </a:rPr>
              <a:t>F</a:t>
            </a:r>
            <a:endParaRPr sz="3600" b="1" i="0" u="none" dirty="0">
              <a:solidFill>
                <a:srgbClr val="1F2D3D"/>
              </a:solidFill>
              <a:latin typeface="Constantia"/>
            </a:endParaRPr>
          </a:p>
        </p:txBody>
      </p:sp>
      <p:sp>
        <p:nvSpPr>
          <p:cNvPr id="7" name="TextBox 6"/>
          <p:cNvSpPr txBox="1"/>
          <p:nvPr/>
        </p:nvSpPr>
        <p:spPr>
          <a:xfrm>
            <a:off x="609600" y="1878731"/>
            <a:ext cx="11582400" cy="457200"/>
          </a:xfrm>
          <a:prstGeom prst="rect">
            <a:avLst/>
          </a:prstGeom>
          <a:noFill/>
        </p:spPr>
        <p:txBody>
          <a:bodyPr wrap="none" lIns="0" tIns="0" rIns="0" bIns="0" anchor="t">
            <a:spAutoFit/>
          </a:bodyPr>
          <a:lstStyle/>
          <a:p>
            <a:pPr algn="l">
              <a:lnSpc>
                <a:spcPts val="3600"/>
              </a:lnSpc>
            </a:pPr>
            <a:r>
              <a:rPr sz="3000" b="0" i="0" u="none" dirty="0" err="1">
                <a:solidFill>
                  <a:srgbClr val="2B2F36"/>
                </a:solidFill>
                <a:latin typeface="Constantia"/>
              </a:rPr>
              <a:t>Mọi</a:t>
            </a:r>
            <a:r>
              <a:rPr sz="3000" b="0" i="0" u="none" dirty="0">
                <a:solidFill>
                  <a:srgbClr val="2B2F36"/>
                </a:solidFill>
                <a:latin typeface="Constantia"/>
              </a:rPr>
              <a:t> </a:t>
            </a:r>
            <a:r>
              <a:rPr sz="3000" b="0" i="0" u="none" dirty="0" err="1">
                <a:solidFill>
                  <a:srgbClr val="2B2F36"/>
                </a:solidFill>
                <a:latin typeface="Constantia"/>
              </a:rPr>
              <a:t>quyết</a:t>
            </a:r>
            <a:r>
              <a:rPr sz="3000" b="0" i="0" u="none" dirty="0">
                <a:solidFill>
                  <a:srgbClr val="2B2F36"/>
                </a:solidFill>
                <a:latin typeface="Constantia"/>
              </a:rPr>
              <a:t> </a:t>
            </a:r>
            <a:r>
              <a:rPr sz="3000" b="0" i="0" u="none" dirty="0" err="1">
                <a:solidFill>
                  <a:srgbClr val="2B2F36"/>
                </a:solidFill>
                <a:latin typeface="Constantia"/>
              </a:rPr>
              <a:t>định</a:t>
            </a:r>
            <a:r>
              <a:rPr sz="3000" b="0" i="0" u="none" dirty="0">
                <a:solidFill>
                  <a:srgbClr val="2B2F36"/>
                </a:solidFill>
                <a:latin typeface="Constantia"/>
              </a:rPr>
              <a:t> </a:t>
            </a:r>
            <a:r>
              <a:rPr sz="3000" b="0" i="0" u="none" dirty="0" err="1">
                <a:solidFill>
                  <a:srgbClr val="2B2F36"/>
                </a:solidFill>
                <a:latin typeface="Constantia"/>
              </a:rPr>
              <a:t>tách</a:t>
            </a:r>
            <a:r>
              <a:rPr sz="3000" b="0" i="0" u="none" dirty="0">
                <a:solidFill>
                  <a:srgbClr val="2B2F36"/>
                </a:solidFill>
                <a:latin typeface="Constantia"/>
              </a:rPr>
              <a:t> </a:t>
            </a:r>
            <a:r>
              <a:rPr sz="3000" b="0" i="0" u="none" dirty="0" err="1">
                <a:solidFill>
                  <a:srgbClr val="2B2F36"/>
                </a:solidFill>
                <a:latin typeface="Constantia"/>
              </a:rPr>
              <a:t>bảng</a:t>
            </a:r>
            <a:r>
              <a:rPr sz="3000" b="0" i="0" u="none" dirty="0">
                <a:solidFill>
                  <a:srgbClr val="2B2F36"/>
                </a:solidFill>
                <a:latin typeface="Constantia"/>
              </a:rPr>
              <a:t> </a:t>
            </a:r>
            <a:r>
              <a:rPr sz="3000" b="0" i="0" u="none" dirty="0" err="1">
                <a:solidFill>
                  <a:srgbClr val="2B2F36"/>
                </a:solidFill>
                <a:latin typeface="Constantia"/>
              </a:rPr>
              <a:t>đều</a:t>
            </a:r>
            <a:r>
              <a:rPr sz="3000" b="0" i="0" u="none" dirty="0">
                <a:solidFill>
                  <a:srgbClr val="2B2F36"/>
                </a:solidFill>
                <a:latin typeface="Constantia"/>
              </a:rPr>
              <a:t> </a:t>
            </a:r>
            <a:r>
              <a:rPr sz="3000" b="0" i="0" u="none" dirty="0" err="1">
                <a:solidFill>
                  <a:srgbClr val="2B2F36"/>
                </a:solidFill>
                <a:latin typeface="Constantia"/>
              </a:rPr>
              <a:t>dựa</a:t>
            </a:r>
            <a:r>
              <a:rPr sz="3000" b="0" i="0" u="none" dirty="0">
                <a:solidFill>
                  <a:srgbClr val="2B2F36"/>
                </a:solidFill>
                <a:latin typeface="Constantia"/>
              </a:rPr>
              <a:t> </a:t>
            </a:r>
            <a:r>
              <a:rPr sz="3000" b="0" i="0" u="none" dirty="0" err="1">
                <a:solidFill>
                  <a:srgbClr val="2B2F36"/>
                </a:solidFill>
                <a:latin typeface="Constantia"/>
              </a:rPr>
              <a:t>trên</a:t>
            </a:r>
            <a:r>
              <a:rPr sz="3000" b="0" i="0" u="none" dirty="0">
                <a:solidFill>
                  <a:srgbClr val="2B2F36"/>
                </a:solidFill>
                <a:latin typeface="Constantia"/>
              </a:rPr>
              <a:t> </a:t>
            </a:r>
            <a:r>
              <a:rPr sz="3000" b="0" i="0" u="none" dirty="0" err="1">
                <a:solidFill>
                  <a:srgbClr val="2B2F36"/>
                </a:solidFill>
                <a:latin typeface="Constantia"/>
              </a:rPr>
              <a:t>kiểm</a:t>
            </a:r>
            <a:r>
              <a:rPr sz="3000" b="0" i="0" u="none" dirty="0">
                <a:solidFill>
                  <a:srgbClr val="2B2F36"/>
                </a:solidFill>
                <a:latin typeface="Constantia"/>
              </a:rPr>
              <a:t> </a:t>
            </a:r>
            <a:r>
              <a:rPr sz="3000" b="0" i="0" u="none" dirty="0" err="1">
                <a:solidFill>
                  <a:srgbClr val="2B2F36"/>
                </a:solidFill>
                <a:latin typeface="Constantia"/>
              </a:rPr>
              <a:t>tra</a:t>
            </a:r>
            <a:r>
              <a:rPr sz="3000" b="0" i="0" u="none" dirty="0">
                <a:solidFill>
                  <a:srgbClr val="2B2F36"/>
                </a:solidFill>
                <a:latin typeface="Constantia"/>
              </a:rPr>
              <a:t> </a:t>
            </a:r>
            <a:r>
              <a:rPr sz="3000" b="0" i="0" u="none" dirty="0" err="1">
                <a:solidFill>
                  <a:srgbClr val="2B2F36"/>
                </a:solidFill>
                <a:latin typeface="Constantia"/>
              </a:rPr>
              <a:t>thật</a:t>
            </a:r>
            <a:r>
              <a:rPr sz="3000" b="0" i="0" u="none" dirty="0">
                <a:solidFill>
                  <a:srgbClr val="2B2F36"/>
                </a:solidFill>
                <a:latin typeface="Constantia"/>
              </a:rPr>
              <a:t> </a:t>
            </a:r>
            <a:r>
              <a:rPr sz="3000" b="0" i="0" u="none" dirty="0" err="1">
                <a:solidFill>
                  <a:srgbClr val="2B2F36"/>
                </a:solidFill>
                <a:latin typeface="Constantia"/>
              </a:rPr>
              <a:t>trên</a:t>
            </a:r>
            <a:r>
              <a:rPr sz="3000" b="0" i="0" u="none" dirty="0">
                <a:solidFill>
                  <a:srgbClr val="2B2F36"/>
                </a:solidFill>
                <a:latin typeface="Constantia"/>
              </a:rPr>
              <a:t> </a:t>
            </a:r>
            <a:r>
              <a:rPr sz="3000" b="0" i="0" u="none" dirty="0" err="1">
                <a:solidFill>
                  <a:srgbClr val="2B2F36"/>
                </a:solidFill>
                <a:latin typeface="Constantia"/>
              </a:rPr>
              <a:t>dữ</a:t>
            </a:r>
            <a:r>
              <a:rPr sz="3000" b="0" i="0" u="none" dirty="0">
                <a:solidFill>
                  <a:srgbClr val="2B2F36"/>
                </a:solidFill>
                <a:latin typeface="Constantia"/>
              </a:rPr>
              <a:t> </a:t>
            </a:r>
            <a:r>
              <a:rPr sz="3000" b="0" i="0" u="none" dirty="0" err="1">
                <a:solidFill>
                  <a:srgbClr val="2B2F36"/>
                </a:solidFill>
                <a:latin typeface="Constantia"/>
              </a:rPr>
              <a:t>liệu</a:t>
            </a:r>
            <a:r>
              <a:rPr sz="3000" b="0" i="0" u="none" dirty="0">
                <a:solidFill>
                  <a:srgbClr val="2B2F36"/>
                </a:solidFill>
                <a:latin typeface="Constantia"/>
              </a:rPr>
              <a:t>.</a:t>
            </a:r>
          </a:p>
        </p:txBody>
      </p:sp>
      <p:sp>
        <p:nvSpPr>
          <p:cNvPr id="8" name="TextBox 7"/>
          <p:cNvSpPr txBox="1"/>
          <p:nvPr/>
        </p:nvSpPr>
        <p:spPr>
          <a:xfrm>
            <a:off x="838200" y="3020615"/>
            <a:ext cx="3810000" cy="426541"/>
          </a:xfrm>
          <a:prstGeom prst="rect">
            <a:avLst/>
          </a:prstGeom>
          <a:noFill/>
        </p:spPr>
        <p:txBody>
          <a:bodyPr wrap="none" lIns="0" tIns="0" rIns="0" bIns="0" anchor="t">
            <a:spAutoFit/>
          </a:bodyPr>
          <a:lstStyle/>
          <a:p>
            <a:pPr algn="l">
              <a:lnSpc>
                <a:spcPts val="3359"/>
              </a:lnSpc>
            </a:pPr>
            <a:r>
              <a:rPr sz="2799" b="1" i="0" u="none">
                <a:solidFill>
                  <a:srgbClr val="1F2D3D"/>
                </a:solidFill>
                <a:latin typeface="Constantia"/>
              </a:rPr>
              <a:t>Trước (Bảng gộp)</a:t>
            </a:r>
          </a:p>
        </p:txBody>
      </p:sp>
      <p:sp>
        <p:nvSpPr>
          <p:cNvPr id="9" name="TextBox 8"/>
          <p:cNvSpPr txBox="1"/>
          <p:nvPr/>
        </p:nvSpPr>
        <p:spPr>
          <a:xfrm>
            <a:off x="838200" y="3523357"/>
            <a:ext cx="3143250" cy="2142380"/>
          </a:xfrm>
          <a:prstGeom prst="rect">
            <a:avLst/>
          </a:prstGeom>
          <a:noFill/>
        </p:spPr>
        <p:txBody>
          <a:bodyPr wrap="square" lIns="0" tIns="0" rIns="0" bIns="0" anchor="t">
            <a:spAutoFit/>
          </a:bodyPr>
          <a:lstStyle/>
          <a:p>
            <a:pPr algn="l">
              <a:lnSpc>
                <a:spcPts val="3375"/>
              </a:lnSpc>
            </a:pPr>
            <a:r>
              <a:rPr sz="2499" b="0" i="0" u="none">
                <a:solidFill>
                  <a:srgbClr val="2B2F36"/>
                </a:solidFill>
                <a:latin typeface="Segoe UI"/>
              </a:rPr>
              <a:t>Sửa thông tin 1 nhân viên phải cập nhật ~3,200 dòng. Dễ dẫn đến rủi ro mâu thuẫn dữ liệu.</a:t>
            </a:r>
          </a:p>
        </p:txBody>
      </p:sp>
      <p:sp>
        <p:nvSpPr>
          <p:cNvPr id="10" name="TextBox 9"/>
          <p:cNvSpPr txBox="1"/>
          <p:nvPr/>
        </p:nvSpPr>
        <p:spPr>
          <a:xfrm>
            <a:off x="4572000" y="3020615"/>
            <a:ext cx="3810000" cy="426541"/>
          </a:xfrm>
          <a:prstGeom prst="rect">
            <a:avLst/>
          </a:prstGeom>
          <a:noFill/>
        </p:spPr>
        <p:txBody>
          <a:bodyPr wrap="none" lIns="0" tIns="0" rIns="0" bIns="0" anchor="t">
            <a:spAutoFit/>
          </a:bodyPr>
          <a:lstStyle/>
          <a:p>
            <a:pPr algn="l">
              <a:lnSpc>
                <a:spcPts val="3359"/>
              </a:lnSpc>
            </a:pPr>
            <a:r>
              <a:rPr sz="2799" b="1" i="0" u="none">
                <a:solidFill>
                  <a:srgbClr val="1F2D3D"/>
                </a:solidFill>
                <a:latin typeface="Constantia"/>
              </a:rPr>
              <a:t>Sau (3NF)</a:t>
            </a:r>
          </a:p>
        </p:txBody>
      </p:sp>
      <p:sp>
        <p:nvSpPr>
          <p:cNvPr id="11" name="TextBox 10"/>
          <p:cNvSpPr txBox="1"/>
          <p:nvPr/>
        </p:nvSpPr>
        <p:spPr>
          <a:xfrm>
            <a:off x="4572000" y="3523357"/>
            <a:ext cx="3143250" cy="2142380"/>
          </a:xfrm>
          <a:prstGeom prst="rect">
            <a:avLst/>
          </a:prstGeom>
          <a:noFill/>
        </p:spPr>
        <p:txBody>
          <a:bodyPr wrap="square" lIns="0" tIns="0" rIns="0" bIns="0" anchor="t">
            <a:spAutoFit/>
          </a:bodyPr>
          <a:lstStyle/>
          <a:p>
            <a:pPr algn="l">
              <a:lnSpc>
                <a:spcPts val="3375"/>
              </a:lnSpc>
            </a:pPr>
            <a:r>
              <a:rPr sz="2499" b="0" i="0" u="none">
                <a:solidFill>
                  <a:srgbClr val="2B2F36"/>
                </a:solidFill>
                <a:latin typeface="Segoe UI"/>
              </a:rPr>
              <a:t>Chỉ cần sửa 1 dòng duy nhất trong bảng nhân viên. Tách riêng 276,309 dòng khuyến mãi.</a:t>
            </a:r>
          </a:p>
        </p:txBody>
      </p:sp>
      <p:sp>
        <p:nvSpPr>
          <p:cNvPr id="12" name="TextBox 11"/>
          <p:cNvSpPr txBox="1"/>
          <p:nvPr/>
        </p:nvSpPr>
        <p:spPr>
          <a:xfrm>
            <a:off x="8305800" y="3020615"/>
            <a:ext cx="3810000" cy="426541"/>
          </a:xfrm>
          <a:prstGeom prst="rect">
            <a:avLst/>
          </a:prstGeom>
          <a:noFill/>
        </p:spPr>
        <p:txBody>
          <a:bodyPr wrap="none" lIns="0" tIns="0" rIns="0" bIns="0" anchor="t">
            <a:spAutoFit/>
          </a:bodyPr>
          <a:lstStyle/>
          <a:p>
            <a:pPr algn="l">
              <a:lnSpc>
                <a:spcPts val="3359"/>
              </a:lnSpc>
            </a:pPr>
            <a:r>
              <a:rPr sz="2799" b="1" i="0" u="none">
                <a:solidFill>
                  <a:srgbClr val="1F2D3D"/>
                </a:solidFill>
                <a:latin typeface="Constantia"/>
              </a:rPr>
              <a:t>Kết quả 3NF</a:t>
            </a:r>
          </a:p>
        </p:txBody>
      </p:sp>
      <p:sp>
        <p:nvSpPr>
          <p:cNvPr id="13" name="TextBox 12"/>
          <p:cNvSpPr txBox="1"/>
          <p:nvPr/>
        </p:nvSpPr>
        <p:spPr>
          <a:xfrm>
            <a:off x="8305800" y="3523357"/>
            <a:ext cx="3143250" cy="2142380"/>
          </a:xfrm>
          <a:prstGeom prst="rect">
            <a:avLst/>
          </a:prstGeom>
          <a:noFill/>
        </p:spPr>
        <p:txBody>
          <a:bodyPr wrap="square" lIns="0" tIns="0" rIns="0" bIns="0" anchor="t">
            <a:spAutoFit/>
          </a:bodyPr>
          <a:lstStyle/>
          <a:p>
            <a:pPr algn="l">
              <a:lnSpc>
                <a:spcPts val="3375"/>
              </a:lnSpc>
            </a:pPr>
            <a:r>
              <a:rPr sz="2499" b="0" i="0" u="none">
                <a:solidFill>
                  <a:srgbClr val="2B2F36"/>
                </a:solidFill>
                <a:latin typeface="Segoe UI"/>
              </a:rPr>
              <a:t>Xây dựng hệ thống 15 bảng hoàn chỉnh, chứa hơn 3.3 triệu dòng với toàn vẹn khóa ngoại.</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3EC"/>
        </a:solidFill>
        <a:effectLst/>
      </p:bgPr>
    </p:bg>
    <p:spTree>
      <p:nvGrpSpPr>
        <p:cNvPr id="1" name="">
          <a:extLst>
            <a:ext uri="{FF2B5EF4-FFF2-40B4-BE49-F238E27FC236}">
              <a16:creationId xmlns:a16="http://schemas.microsoft.com/office/drawing/2014/main" id="{88F00318-21B8-4879-1E9B-63228990FACC}"/>
            </a:ext>
          </a:extLst>
        </p:cNvPr>
        <p:cNvGrpSpPr/>
        <p:nvPr/>
      </p:nvGrpSpPr>
      <p:grpSpPr>
        <a:xfrm>
          <a:off x="0" y="0"/>
          <a:ext cx="0" cy="0"/>
          <a:chOff x="0" y="0"/>
          <a:chExt cx="0" cy="0"/>
        </a:xfrm>
      </p:grpSpPr>
      <p:pic>
        <p:nvPicPr>
          <p:cNvPr id="15" name="Graphic 14">
            <a:extLst>
              <a:ext uri="{FF2B5EF4-FFF2-40B4-BE49-F238E27FC236}">
                <a16:creationId xmlns:a16="http://schemas.microsoft.com/office/drawing/2014/main" id="{CEB90EC3-22C0-7A37-455C-E61B454E41A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43466" y="301171"/>
            <a:ext cx="11905068" cy="6455229"/>
          </a:xfrm>
          <a:prstGeom prst="rect">
            <a:avLst/>
          </a:prstGeom>
        </p:spPr>
      </p:pic>
    </p:spTree>
    <p:extLst>
      <p:ext uri="{BB962C8B-B14F-4D97-AF65-F5344CB8AC3E}">
        <p14:creationId xmlns:p14="http://schemas.microsoft.com/office/powerpoint/2010/main" val="33352284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3EC"/>
        </a:solidFill>
        <a:effectLst/>
      </p:bgPr>
    </p:bg>
    <p:spTree>
      <p:nvGrpSpPr>
        <p:cNvPr id="1" name=""/>
        <p:cNvGrpSpPr/>
        <p:nvPr/>
      </p:nvGrpSpPr>
      <p:grpSpPr>
        <a:xfrm>
          <a:off x="0" y="0"/>
          <a:ext cx="0" cy="0"/>
          <a:chOff x="0" y="0"/>
          <a:chExt cx="0" cy="0"/>
        </a:xfrm>
      </p:grpSpPr>
      <p:sp>
        <p:nvSpPr>
          <p:cNvPr id="2" name="Rounded Rectangle 1"/>
          <p:cNvSpPr/>
          <p:nvPr/>
        </p:nvSpPr>
        <p:spPr>
          <a:xfrm>
            <a:off x="609600" y="4147691"/>
            <a:ext cx="10972800" cy="2245369"/>
          </a:xfrm>
          <a:prstGeom prst="roundRect">
            <a:avLst>
              <a:gd name="adj" fmla="val 3393"/>
            </a:avLst>
          </a:prstGeom>
          <a:solidFill>
            <a:srgbClr val="FA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609600" y="2293441"/>
            <a:ext cx="2600325" cy="1663749"/>
          </a:xfrm>
          <a:prstGeom prst="roundRect">
            <a:avLst>
              <a:gd name="adj" fmla="val 4580"/>
            </a:avLst>
          </a:prstGeom>
          <a:solidFill>
            <a:srgbClr val="FA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3400425" y="2293441"/>
            <a:ext cx="2600325" cy="1663749"/>
          </a:xfrm>
          <a:prstGeom prst="roundRect">
            <a:avLst>
              <a:gd name="adj" fmla="val 4580"/>
            </a:avLst>
          </a:prstGeom>
          <a:solidFill>
            <a:srgbClr val="FA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191250" y="2293441"/>
            <a:ext cx="2600325" cy="1663749"/>
          </a:xfrm>
          <a:prstGeom prst="roundRect">
            <a:avLst>
              <a:gd name="adj" fmla="val 4580"/>
            </a:avLst>
          </a:prstGeom>
          <a:solidFill>
            <a:srgbClr val="FA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8982075" y="2293441"/>
            <a:ext cx="2600325" cy="1663749"/>
          </a:xfrm>
          <a:prstGeom prst="roundRect">
            <a:avLst>
              <a:gd name="adj" fmla="val 4580"/>
            </a:avLst>
          </a:prstGeom>
          <a:solidFill>
            <a:srgbClr val="FA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09600" y="457200"/>
            <a:ext cx="11582400" cy="426541"/>
          </a:xfrm>
          <a:prstGeom prst="rect">
            <a:avLst/>
          </a:prstGeom>
          <a:noFill/>
        </p:spPr>
        <p:txBody>
          <a:bodyPr wrap="none" lIns="0" tIns="0" rIns="0" bIns="0" anchor="t">
            <a:spAutoFit/>
          </a:bodyPr>
          <a:lstStyle/>
          <a:p>
            <a:pPr algn="l">
              <a:lnSpc>
                <a:spcPts val="3359"/>
              </a:lnSpc>
            </a:pPr>
            <a:r>
              <a:rPr sz="2799" b="1" i="0" u="none">
                <a:solidFill>
                  <a:srgbClr val="0F172A"/>
                </a:solidFill>
                <a:latin typeface="Segoe UI"/>
              </a:rPr>
              <a:t>09 · MEASURES &amp; KPI</a:t>
            </a:r>
          </a:p>
        </p:txBody>
      </p:sp>
      <p:sp>
        <p:nvSpPr>
          <p:cNvPr id="8" name="TextBox 7"/>
          <p:cNvSpPr txBox="1"/>
          <p:nvPr/>
        </p:nvSpPr>
        <p:spPr>
          <a:xfrm>
            <a:off x="609600" y="959941"/>
            <a:ext cx="11582400" cy="525660"/>
          </a:xfrm>
          <a:prstGeom prst="rect">
            <a:avLst/>
          </a:prstGeom>
          <a:noFill/>
        </p:spPr>
        <p:txBody>
          <a:bodyPr wrap="none" lIns="0" tIns="0" rIns="0" bIns="0" anchor="t">
            <a:spAutoFit/>
          </a:bodyPr>
          <a:lstStyle/>
          <a:p>
            <a:pPr algn="l">
              <a:lnSpc>
                <a:spcPts val="4140"/>
              </a:lnSpc>
            </a:pPr>
            <a:r>
              <a:rPr sz="3600" b="1" i="0" u="none">
                <a:solidFill>
                  <a:srgbClr val="1F2D3D"/>
                </a:solidFill>
                <a:latin typeface="Constantia"/>
              </a:rPr>
              <a:t>Bộ chỉ số chuẩn và nguyên tắc diễn giải</a:t>
            </a:r>
          </a:p>
        </p:txBody>
      </p:sp>
      <p:sp>
        <p:nvSpPr>
          <p:cNvPr id="9" name="TextBox 8"/>
          <p:cNvSpPr txBox="1"/>
          <p:nvPr/>
        </p:nvSpPr>
        <p:spPr>
          <a:xfrm>
            <a:off x="609600" y="1599902"/>
            <a:ext cx="11582400" cy="457200"/>
          </a:xfrm>
          <a:prstGeom prst="rect">
            <a:avLst/>
          </a:prstGeom>
          <a:noFill/>
        </p:spPr>
        <p:txBody>
          <a:bodyPr wrap="none" lIns="0" tIns="0" rIns="0" bIns="0" anchor="t">
            <a:spAutoFit/>
          </a:bodyPr>
          <a:lstStyle/>
          <a:p>
            <a:pPr algn="l">
              <a:lnSpc>
                <a:spcPts val="3600"/>
              </a:lnSpc>
            </a:pPr>
            <a:r>
              <a:rPr sz="3000" b="0" i="0" u="none">
                <a:solidFill>
                  <a:srgbClr val="2B2F36"/>
                </a:solidFill>
                <a:latin typeface="Constantia"/>
              </a:rPr>
              <a:t>Doanh thu thuần chỉ tính đơn delivered và đã trừ hoàn tiền.</a:t>
            </a:r>
          </a:p>
        </p:txBody>
      </p:sp>
      <p:sp>
        <p:nvSpPr>
          <p:cNvPr id="10" name="TextBox 9"/>
          <p:cNvSpPr txBox="1"/>
          <p:nvPr/>
        </p:nvSpPr>
        <p:spPr>
          <a:xfrm>
            <a:off x="838200" y="4376291"/>
            <a:ext cx="11353800" cy="426541"/>
          </a:xfrm>
          <a:prstGeom prst="rect">
            <a:avLst/>
          </a:prstGeom>
          <a:noFill/>
        </p:spPr>
        <p:txBody>
          <a:bodyPr wrap="none" lIns="0" tIns="0" rIns="0" bIns="0" anchor="t">
            <a:spAutoFit/>
          </a:bodyPr>
          <a:lstStyle/>
          <a:p>
            <a:pPr algn="l">
              <a:lnSpc>
                <a:spcPts val="3359"/>
              </a:lnSpc>
            </a:pPr>
            <a:r>
              <a:rPr sz="2799" b="1" i="0" u="none">
                <a:solidFill>
                  <a:srgbClr val="1F2D3D"/>
                </a:solidFill>
                <a:latin typeface="Constantia"/>
              </a:rPr>
              <a:t>Phát hiện chính về đánh giá nhân viên</a:t>
            </a:r>
          </a:p>
        </p:txBody>
      </p:sp>
      <p:sp>
        <p:nvSpPr>
          <p:cNvPr id="11" name="TextBox 10"/>
          <p:cNvSpPr txBox="1"/>
          <p:nvPr/>
        </p:nvSpPr>
        <p:spPr>
          <a:xfrm>
            <a:off x="838200" y="4879032"/>
            <a:ext cx="10610850" cy="1285428"/>
          </a:xfrm>
          <a:prstGeom prst="rect">
            <a:avLst/>
          </a:prstGeom>
          <a:noFill/>
        </p:spPr>
        <p:txBody>
          <a:bodyPr wrap="square" lIns="0" tIns="0" rIns="0" bIns="0" anchor="t">
            <a:spAutoFit/>
          </a:bodyPr>
          <a:lstStyle/>
          <a:p>
            <a:pPr algn="l">
              <a:lnSpc>
                <a:spcPts val="3375"/>
              </a:lnSpc>
            </a:pPr>
            <a:r>
              <a:rPr sz="2499" b="0" i="0" u="none">
                <a:solidFill>
                  <a:srgbClr val="2B2F36"/>
                </a:solidFill>
                <a:latin typeface="Segoe UI"/>
              </a:rPr>
              <a:t>Chênh lệch giữa 200 nhân viên nằm trong biên dao động ngẫu nhiên. Thứ hạng 1 kỳ không làm căn cứ thưởng phạt; chỉ xét khi vượt dải ±2σ ở ít nhất 2 kỳ liên tiếp.</a:t>
            </a:r>
          </a:p>
        </p:txBody>
      </p:sp>
      <p:sp>
        <p:nvSpPr>
          <p:cNvPr id="12" name="TextBox 11"/>
          <p:cNvSpPr txBox="1"/>
          <p:nvPr/>
        </p:nvSpPr>
        <p:spPr>
          <a:xfrm>
            <a:off x="838200" y="2522041"/>
            <a:ext cx="2678906" cy="406449"/>
          </a:xfrm>
          <a:prstGeom prst="rect">
            <a:avLst/>
          </a:prstGeom>
          <a:noFill/>
        </p:spPr>
        <p:txBody>
          <a:bodyPr wrap="none" lIns="0" tIns="0" rIns="0" bIns="0" anchor="t">
            <a:spAutoFit/>
          </a:bodyPr>
          <a:lstStyle/>
          <a:p>
            <a:pPr algn="l">
              <a:lnSpc>
                <a:spcPts val="3200"/>
              </a:lnSpc>
            </a:pPr>
            <a:r>
              <a:rPr sz="3200" b="1" i="0" u="none">
                <a:solidFill>
                  <a:srgbClr val="A68A5B"/>
                </a:solidFill>
                <a:latin typeface="Constantia"/>
              </a:rPr>
              <a:t>12.35 Tỷ</a:t>
            </a:r>
          </a:p>
        </p:txBody>
      </p:sp>
      <p:sp>
        <p:nvSpPr>
          <p:cNvPr id="13" name="TextBox 12"/>
          <p:cNvSpPr txBox="1"/>
          <p:nvPr/>
        </p:nvSpPr>
        <p:spPr>
          <a:xfrm>
            <a:off x="838200" y="3004691"/>
            <a:ext cx="2238375" cy="723900"/>
          </a:xfrm>
          <a:prstGeom prst="rect">
            <a:avLst/>
          </a:prstGeom>
          <a:noFill/>
        </p:spPr>
        <p:txBody>
          <a:bodyPr wrap="square" lIns="0" tIns="0" rIns="0" bIns="0" anchor="t">
            <a:spAutoFit/>
          </a:bodyPr>
          <a:lstStyle/>
          <a:p>
            <a:pPr algn="l"/>
            <a:r>
              <a:rPr sz="2499" b="0" i="0" u="none">
                <a:solidFill>
                  <a:srgbClr val="2B2F36"/>
                </a:solidFill>
                <a:latin typeface="Segoe UI"/>
              </a:rPr>
              <a:t>Doanh thu thuần (VNĐ)</a:t>
            </a:r>
          </a:p>
        </p:txBody>
      </p:sp>
      <p:sp>
        <p:nvSpPr>
          <p:cNvPr id="14" name="TextBox 13"/>
          <p:cNvSpPr txBox="1"/>
          <p:nvPr/>
        </p:nvSpPr>
        <p:spPr>
          <a:xfrm>
            <a:off x="3629025" y="2522041"/>
            <a:ext cx="2678906" cy="406449"/>
          </a:xfrm>
          <a:prstGeom prst="rect">
            <a:avLst/>
          </a:prstGeom>
          <a:noFill/>
        </p:spPr>
        <p:txBody>
          <a:bodyPr wrap="none" lIns="0" tIns="0" rIns="0" bIns="0" anchor="t">
            <a:spAutoFit/>
          </a:bodyPr>
          <a:lstStyle/>
          <a:p>
            <a:pPr algn="l">
              <a:lnSpc>
                <a:spcPts val="3200"/>
              </a:lnSpc>
            </a:pPr>
            <a:r>
              <a:rPr sz="3200" b="1" i="0" u="none">
                <a:solidFill>
                  <a:srgbClr val="A68A5B"/>
                </a:solidFill>
                <a:latin typeface="Constantia"/>
              </a:rPr>
              <a:t>516,716</a:t>
            </a:r>
          </a:p>
        </p:txBody>
      </p:sp>
      <p:sp>
        <p:nvSpPr>
          <p:cNvPr id="15" name="TextBox 14"/>
          <p:cNvSpPr txBox="1"/>
          <p:nvPr/>
        </p:nvSpPr>
        <p:spPr>
          <a:xfrm>
            <a:off x="3629025" y="3004691"/>
            <a:ext cx="2238375" cy="723900"/>
          </a:xfrm>
          <a:prstGeom prst="rect">
            <a:avLst/>
          </a:prstGeom>
          <a:noFill/>
        </p:spPr>
        <p:txBody>
          <a:bodyPr wrap="square" lIns="0" tIns="0" rIns="0" bIns="0" anchor="t">
            <a:spAutoFit/>
          </a:bodyPr>
          <a:lstStyle/>
          <a:p>
            <a:pPr algn="l"/>
            <a:r>
              <a:rPr sz="2499" b="0" i="0" u="none">
                <a:solidFill>
                  <a:srgbClr val="2B2F36"/>
                </a:solidFill>
                <a:latin typeface="Segoe UI"/>
              </a:rPr>
              <a:t>Hóa đơn thành công</a:t>
            </a:r>
          </a:p>
        </p:txBody>
      </p:sp>
      <p:sp>
        <p:nvSpPr>
          <p:cNvPr id="16" name="TextBox 15"/>
          <p:cNvSpPr txBox="1"/>
          <p:nvPr/>
        </p:nvSpPr>
        <p:spPr>
          <a:xfrm>
            <a:off x="6419850" y="2522041"/>
            <a:ext cx="2678906" cy="406449"/>
          </a:xfrm>
          <a:prstGeom prst="rect">
            <a:avLst/>
          </a:prstGeom>
          <a:noFill/>
        </p:spPr>
        <p:txBody>
          <a:bodyPr wrap="none" lIns="0" tIns="0" rIns="0" bIns="0" anchor="t">
            <a:spAutoFit/>
          </a:bodyPr>
          <a:lstStyle/>
          <a:p>
            <a:pPr algn="l">
              <a:lnSpc>
                <a:spcPts val="3200"/>
              </a:lnSpc>
            </a:pPr>
            <a:r>
              <a:rPr sz="3200" b="1" i="0" u="none">
                <a:solidFill>
                  <a:srgbClr val="A68A5B"/>
                </a:solidFill>
                <a:latin typeface="Constantia"/>
              </a:rPr>
              <a:t>79.87%</a:t>
            </a:r>
          </a:p>
        </p:txBody>
      </p:sp>
      <p:sp>
        <p:nvSpPr>
          <p:cNvPr id="17" name="TextBox 16"/>
          <p:cNvSpPr txBox="1"/>
          <p:nvPr/>
        </p:nvSpPr>
        <p:spPr>
          <a:xfrm>
            <a:off x="6419850" y="3004691"/>
            <a:ext cx="2238375" cy="723900"/>
          </a:xfrm>
          <a:prstGeom prst="rect">
            <a:avLst/>
          </a:prstGeom>
          <a:noFill/>
        </p:spPr>
        <p:txBody>
          <a:bodyPr wrap="square" lIns="0" tIns="0" rIns="0" bIns="0" anchor="t">
            <a:spAutoFit/>
          </a:bodyPr>
          <a:lstStyle/>
          <a:p>
            <a:pPr algn="l"/>
            <a:r>
              <a:rPr sz="2499" b="0" i="0" u="none">
                <a:solidFill>
                  <a:srgbClr val="2B2F36"/>
                </a:solidFill>
                <a:latin typeface="Segoe UI"/>
              </a:rPr>
              <a:t>Tỷ lệ hoàn tất đơn</a:t>
            </a:r>
          </a:p>
        </p:txBody>
      </p:sp>
      <p:sp>
        <p:nvSpPr>
          <p:cNvPr id="18" name="TextBox 17"/>
          <p:cNvSpPr txBox="1"/>
          <p:nvPr/>
        </p:nvSpPr>
        <p:spPr>
          <a:xfrm>
            <a:off x="9210675" y="2522041"/>
            <a:ext cx="2678906" cy="406449"/>
          </a:xfrm>
          <a:prstGeom prst="rect">
            <a:avLst/>
          </a:prstGeom>
          <a:noFill/>
        </p:spPr>
        <p:txBody>
          <a:bodyPr wrap="none" lIns="0" tIns="0" rIns="0" bIns="0" anchor="t">
            <a:spAutoFit/>
          </a:bodyPr>
          <a:lstStyle/>
          <a:p>
            <a:pPr algn="l">
              <a:lnSpc>
                <a:spcPts val="3200"/>
              </a:lnSpc>
            </a:pPr>
            <a:r>
              <a:rPr sz="3200" b="1" i="0" u="none">
                <a:solidFill>
                  <a:srgbClr val="A68A5B"/>
                </a:solidFill>
                <a:latin typeface="Constantia"/>
              </a:rPr>
              <a:t>±2σ</a:t>
            </a:r>
          </a:p>
        </p:txBody>
      </p:sp>
      <p:sp>
        <p:nvSpPr>
          <p:cNvPr id="19" name="TextBox 18"/>
          <p:cNvSpPr txBox="1"/>
          <p:nvPr/>
        </p:nvSpPr>
        <p:spPr>
          <a:xfrm>
            <a:off x="9210675" y="3004691"/>
            <a:ext cx="2238375" cy="723900"/>
          </a:xfrm>
          <a:prstGeom prst="rect">
            <a:avLst/>
          </a:prstGeom>
          <a:noFill/>
        </p:spPr>
        <p:txBody>
          <a:bodyPr wrap="square" lIns="0" tIns="0" rIns="0" bIns="0" anchor="t">
            <a:spAutoFit/>
          </a:bodyPr>
          <a:lstStyle/>
          <a:p>
            <a:pPr algn="l"/>
            <a:r>
              <a:rPr sz="2499" b="0" i="0" u="none">
                <a:solidFill>
                  <a:srgbClr val="2B2F36"/>
                </a:solidFill>
                <a:latin typeface="Segoe UI"/>
              </a:rPr>
              <a:t>Dải kiểm soát (78.5%-81.3%)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3EC"/>
        </a:solidFill>
        <a:effectLst/>
      </p:bgPr>
    </p:bg>
    <p:spTree>
      <p:nvGrpSpPr>
        <p:cNvPr id="1" name="">
          <a:extLst>
            <a:ext uri="{FF2B5EF4-FFF2-40B4-BE49-F238E27FC236}">
              <a16:creationId xmlns:a16="http://schemas.microsoft.com/office/drawing/2014/main" id="{6F3AF21A-7283-B9AB-F1B7-F6F4B490D484}"/>
            </a:ext>
          </a:extLst>
        </p:cNvPr>
        <p:cNvGrpSpPr/>
        <p:nvPr/>
      </p:nvGrpSpPr>
      <p:grpSpPr>
        <a:xfrm>
          <a:off x="0" y="0"/>
          <a:ext cx="0" cy="0"/>
          <a:chOff x="0" y="0"/>
          <a:chExt cx="0" cy="0"/>
        </a:xfrm>
      </p:grpSpPr>
      <p:sp>
        <p:nvSpPr>
          <p:cNvPr id="2" name="Rounded Rectangle 1">
            <a:extLst>
              <a:ext uri="{FF2B5EF4-FFF2-40B4-BE49-F238E27FC236}">
                <a16:creationId xmlns:a16="http://schemas.microsoft.com/office/drawing/2014/main" id="{D7E2D809-5FE3-06E1-B494-EC6FD546A282}"/>
              </a:ext>
            </a:extLst>
          </p:cNvPr>
          <p:cNvSpPr/>
          <p:nvPr/>
        </p:nvSpPr>
        <p:spPr>
          <a:xfrm>
            <a:off x="573065" y="2044420"/>
            <a:ext cx="10831536" cy="4210330"/>
          </a:xfrm>
          <a:prstGeom prst="roundRect">
            <a:avLst>
              <a:gd name="adj" fmla="val 2456"/>
            </a:avLst>
          </a:prstGeom>
          <a:solidFill>
            <a:srgbClr val="FA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5" name="TextBox 4">
            <a:extLst>
              <a:ext uri="{FF2B5EF4-FFF2-40B4-BE49-F238E27FC236}">
                <a16:creationId xmlns:a16="http://schemas.microsoft.com/office/drawing/2014/main" id="{A4F1969B-0A12-75F5-AE4E-212FACA4BE44}"/>
              </a:ext>
            </a:extLst>
          </p:cNvPr>
          <p:cNvSpPr txBox="1"/>
          <p:nvPr/>
        </p:nvSpPr>
        <p:spPr>
          <a:xfrm>
            <a:off x="609600" y="457200"/>
            <a:ext cx="11582400" cy="426541"/>
          </a:xfrm>
          <a:prstGeom prst="rect">
            <a:avLst/>
          </a:prstGeom>
          <a:noFill/>
        </p:spPr>
        <p:txBody>
          <a:bodyPr wrap="none" lIns="0" tIns="0" rIns="0" bIns="0" anchor="t">
            <a:spAutoFit/>
          </a:bodyPr>
          <a:lstStyle/>
          <a:p>
            <a:pPr algn="l">
              <a:lnSpc>
                <a:spcPts val="3359"/>
              </a:lnSpc>
            </a:pPr>
            <a:r>
              <a:rPr sz="2799" b="1" i="0" u="none">
                <a:solidFill>
                  <a:srgbClr val="0F172A"/>
                </a:solidFill>
                <a:latin typeface="Segoe UI"/>
              </a:rPr>
              <a:t>10 · DATA WAREHOUSE</a:t>
            </a:r>
          </a:p>
        </p:txBody>
      </p:sp>
      <p:sp>
        <p:nvSpPr>
          <p:cNvPr id="6" name="TextBox 5">
            <a:extLst>
              <a:ext uri="{FF2B5EF4-FFF2-40B4-BE49-F238E27FC236}">
                <a16:creationId xmlns:a16="http://schemas.microsoft.com/office/drawing/2014/main" id="{A343CCC2-D2CA-31A3-E43B-ED1A6FCB497B}"/>
              </a:ext>
            </a:extLst>
          </p:cNvPr>
          <p:cNvSpPr txBox="1"/>
          <p:nvPr/>
        </p:nvSpPr>
        <p:spPr>
          <a:xfrm>
            <a:off x="609600" y="959941"/>
            <a:ext cx="11582400" cy="525660"/>
          </a:xfrm>
          <a:prstGeom prst="rect">
            <a:avLst/>
          </a:prstGeom>
          <a:noFill/>
        </p:spPr>
        <p:txBody>
          <a:bodyPr wrap="none" lIns="0" tIns="0" rIns="0" bIns="0" anchor="t">
            <a:spAutoFit/>
          </a:bodyPr>
          <a:lstStyle/>
          <a:p>
            <a:pPr algn="l">
              <a:lnSpc>
                <a:spcPts val="4140"/>
              </a:lnSpc>
            </a:pPr>
            <a:r>
              <a:rPr sz="3600" b="1" i="0" u="none">
                <a:solidFill>
                  <a:srgbClr val="1F2D3D"/>
                </a:solidFill>
                <a:latin typeface="Constantia"/>
              </a:rPr>
              <a:t>Star Schema: một Fact, năm Dimension</a:t>
            </a:r>
          </a:p>
        </p:txBody>
      </p:sp>
      <p:sp>
        <p:nvSpPr>
          <p:cNvPr id="7" name="TextBox 6">
            <a:extLst>
              <a:ext uri="{FF2B5EF4-FFF2-40B4-BE49-F238E27FC236}">
                <a16:creationId xmlns:a16="http://schemas.microsoft.com/office/drawing/2014/main" id="{6881EA76-8853-6B69-336B-5731B1A5CF2F}"/>
              </a:ext>
            </a:extLst>
          </p:cNvPr>
          <p:cNvSpPr txBox="1"/>
          <p:nvPr/>
        </p:nvSpPr>
        <p:spPr>
          <a:xfrm>
            <a:off x="573064" y="1442560"/>
            <a:ext cx="3337196" cy="427489"/>
          </a:xfrm>
          <a:prstGeom prst="rect">
            <a:avLst/>
          </a:prstGeom>
          <a:noFill/>
        </p:spPr>
        <p:txBody>
          <a:bodyPr wrap="none" lIns="0" tIns="0" rIns="0" bIns="0" anchor="t">
            <a:spAutoFit/>
          </a:bodyPr>
          <a:lstStyle/>
          <a:p>
            <a:pPr algn="l">
              <a:lnSpc>
                <a:spcPts val="3600"/>
              </a:lnSpc>
            </a:pPr>
            <a:r>
              <a:rPr lang="vi-VN" sz="2400" b="0" i="0" u="none" dirty="0">
                <a:solidFill>
                  <a:srgbClr val="2B2F36"/>
                </a:solidFill>
                <a:latin typeface="Constantia"/>
              </a:rPr>
              <a:t>Vì sao chọn Star Schema:</a:t>
            </a:r>
            <a:endParaRPr sz="2400" b="0" i="0" u="none" dirty="0">
              <a:solidFill>
                <a:srgbClr val="2B2F36"/>
              </a:solidFill>
              <a:latin typeface="Constantia"/>
            </a:endParaRPr>
          </a:p>
        </p:txBody>
      </p:sp>
      <p:sp>
        <p:nvSpPr>
          <p:cNvPr id="9" name="TextBox 8">
            <a:extLst>
              <a:ext uri="{FF2B5EF4-FFF2-40B4-BE49-F238E27FC236}">
                <a16:creationId xmlns:a16="http://schemas.microsoft.com/office/drawing/2014/main" id="{61D9ED13-8538-D79A-B57C-DCF91EBAF86A}"/>
              </a:ext>
            </a:extLst>
          </p:cNvPr>
          <p:cNvSpPr txBox="1"/>
          <p:nvPr/>
        </p:nvSpPr>
        <p:spPr>
          <a:xfrm>
            <a:off x="853339" y="2292350"/>
            <a:ext cx="10270987" cy="3877985"/>
          </a:xfrm>
          <a:prstGeom prst="rect">
            <a:avLst/>
          </a:prstGeom>
          <a:noFill/>
        </p:spPr>
        <p:txBody>
          <a:bodyPr wrap="square" lIns="0" tIns="0" rIns="0" bIns="0" anchor="t">
            <a:spAutoFit/>
          </a:bodyPr>
          <a:lstStyle/>
          <a:p>
            <a:pPr algn="just"/>
            <a:r>
              <a:rPr lang="vi-VN" b="1" dirty="0">
                <a:latin typeface="Segoe UI" panose="020B0502040204020203" pitchFamily="34" charset="0"/>
                <a:cs typeface="Segoe UI" panose="020B0502040204020203" pitchFamily="34" charset="0"/>
              </a:rPr>
              <a:t>Tối ưu hóa đường dẫn kết nối:</a:t>
            </a:r>
            <a:r>
              <a:rPr lang="vi-VN" dirty="0">
                <a:latin typeface="Segoe UI" panose="020B0502040204020203" pitchFamily="34" charset="0"/>
                <a:cs typeface="Segoe UI" panose="020B0502040204020203" pitchFamily="34" charset="0"/>
              </a:rPr>
              <a:t> Mỗi bảng chiều (Dim) chỉ cách bảng sự kiện (Fact_Sales) đúng một bước JOIN duy nhất, giúp câu lệnh truy vấn ngắn gọn và hiệu quả hơn so với mô hình 3NF.</a:t>
            </a:r>
          </a:p>
          <a:p>
            <a:pPr lvl="0" algn="just"/>
            <a:endParaRPr lang="vi-VN" sz="1200" b="1" dirty="0">
              <a:latin typeface="Segoe UI" panose="020B0502040204020203" pitchFamily="34" charset="0"/>
              <a:cs typeface="Segoe UI" panose="020B0502040204020203" pitchFamily="34" charset="0"/>
            </a:endParaRPr>
          </a:p>
          <a:p>
            <a:pPr lvl="0" algn="just"/>
            <a:r>
              <a:rPr lang="vi-VN" b="1" dirty="0">
                <a:latin typeface="Segoe UI" panose="020B0502040204020203" pitchFamily="34" charset="0"/>
                <a:cs typeface="Segoe UI" panose="020B0502040204020203" pitchFamily="34" charset="0"/>
              </a:rPr>
              <a:t>Tính toán sẵn các chỉ số:</a:t>
            </a:r>
            <a:r>
              <a:rPr lang="vi-VN" dirty="0">
                <a:latin typeface="Segoe UI" panose="020B0502040204020203" pitchFamily="34" charset="0"/>
                <a:cs typeface="Segoe UI" panose="020B0502040204020203" pitchFamily="34" charset="0"/>
              </a:rPr>
              <a:t> Các measure như gross_amount và net_amount được tính sẵn trong bảng sự kiện, giúp đảm bảo tính nhất quán và tránh việc phải lặp lại công thức tính toán phức tạp. </a:t>
            </a:r>
          </a:p>
          <a:p>
            <a:pPr lvl="0" algn="just"/>
            <a:endParaRPr lang="vi-VN" sz="1200" dirty="0">
              <a:latin typeface="Segoe UI" panose="020B0502040204020203" pitchFamily="34" charset="0"/>
              <a:cs typeface="Segoe UI" panose="020B0502040204020203" pitchFamily="34" charset="0"/>
            </a:endParaRPr>
          </a:p>
          <a:p>
            <a:pPr lvl="0" algn="just"/>
            <a:r>
              <a:rPr lang="vi-VN" b="1" dirty="0">
                <a:latin typeface="Segoe UI" panose="020B0502040204020203" pitchFamily="34" charset="0"/>
                <a:cs typeface="Segoe UI" panose="020B0502040204020203" pitchFamily="34" charset="0"/>
              </a:rPr>
              <a:t>Phẳng hóa thông tin thời gian và địa lý:</a:t>
            </a:r>
            <a:r>
              <a:rPr lang="vi-VN" dirty="0">
                <a:latin typeface="Segoe UI" panose="020B0502040204020203" pitchFamily="34" charset="0"/>
                <a:cs typeface="Segoe UI" panose="020B0502040204020203" pitchFamily="34" charset="0"/>
              </a:rPr>
              <a:t> Các phân cấp về thời gian (năm, quý, tháng) và địa lý (vùng, thành phố) được lưu sẵn trong bảng chiều giúp các thao tác lọc và phân tích diễn ra trực tiếp.</a:t>
            </a:r>
          </a:p>
          <a:p>
            <a:pPr lvl="0" algn="just"/>
            <a:endParaRPr lang="vi-VN" sz="1200" dirty="0">
              <a:latin typeface="Segoe UI" panose="020B0502040204020203" pitchFamily="34" charset="0"/>
              <a:cs typeface="Segoe UI" panose="020B0502040204020203" pitchFamily="34" charset="0"/>
            </a:endParaRPr>
          </a:p>
          <a:p>
            <a:pPr lvl="0" algn="just"/>
            <a:r>
              <a:rPr lang="vi-VN" b="1" dirty="0">
                <a:latin typeface="Segoe UI" panose="020B0502040204020203" pitchFamily="34" charset="0"/>
                <a:cs typeface="Segoe UI" panose="020B0502040204020203" pitchFamily="34" charset="0"/>
              </a:rPr>
              <a:t>Đơn giản hóa dữ liệu quan hệ phức tạp:</a:t>
            </a:r>
            <a:r>
              <a:rPr lang="vi-VN" dirty="0">
                <a:latin typeface="Segoe UI" panose="020B0502040204020203" pitchFamily="34" charset="0"/>
                <a:cs typeface="Segoe UI" panose="020B0502040204020203" pitchFamily="34" charset="0"/>
              </a:rPr>
              <a:t> Thông tin khuyến mãi được cô đọng thành các cột như promo_count hoặc has_promotion ngay trong bảng Fact, tránh việc phải qua các bảng trung gian nhiều-nhiều.</a:t>
            </a:r>
          </a:p>
          <a:p>
            <a:pPr lvl="0" algn="just"/>
            <a:endParaRPr lang="vi-VN" sz="1200" dirty="0">
              <a:latin typeface="Segoe UI" panose="020B0502040204020203" pitchFamily="34" charset="0"/>
              <a:cs typeface="Segoe UI" panose="020B0502040204020203" pitchFamily="34" charset="0"/>
            </a:endParaRPr>
          </a:p>
          <a:p>
            <a:pPr lvl="0" algn="just"/>
            <a:r>
              <a:rPr lang="vi-VN" b="1" dirty="0">
                <a:latin typeface="Segoe UI" panose="020B0502040204020203" pitchFamily="34" charset="0"/>
                <a:cs typeface="Segoe UI" panose="020B0502040204020203" pitchFamily="34" charset="0"/>
              </a:rPr>
              <a:t>Thân thiện với BI và OLAP:</a:t>
            </a:r>
            <a:r>
              <a:rPr lang="vi-VN" dirty="0">
                <a:latin typeface="Segoe UI" panose="020B0502040204020203" pitchFamily="34" charset="0"/>
                <a:cs typeface="Segoe UI" panose="020B0502040204020203" pitchFamily="34" charset="0"/>
              </a:rPr>
              <a:t> Cấu trúc hình sao trực quan hỗ trợ tối đa cho các công cụ Business Intelligence và các thao tác phân tích đa chiều (Roll-up, Drill-down, Slice, Dice, Pivot). </a:t>
            </a:r>
          </a:p>
        </p:txBody>
      </p:sp>
    </p:spTree>
    <p:extLst>
      <p:ext uri="{BB962C8B-B14F-4D97-AF65-F5344CB8AC3E}">
        <p14:creationId xmlns:p14="http://schemas.microsoft.com/office/powerpoint/2010/main" val="14350859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3EC"/>
        </a:solidFill>
        <a:effectLst/>
      </p:bgPr>
    </p:bg>
    <p:spTree>
      <p:nvGrpSpPr>
        <p:cNvPr id="1" name=""/>
        <p:cNvGrpSpPr/>
        <p:nvPr/>
      </p:nvGrpSpPr>
      <p:grpSpPr>
        <a:xfrm>
          <a:off x="0" y="0"/>
          <a:ext cx="0" cy="0"/>
          <a:chOff x="0" y="0"/>
          <a:chExt cx="0" cy="0"/>
        </a:xfrm>
      </p:grpSpPr>
      <p:sp>
        <p:nvSpPr>
          <p:cNvPr id="2" name="Rounded Rectangle 1"/>
          <p:cNvSpPr/>
          <p:nvPr/>
        </p:nvSpPr>
        <p:spPr>
          <a:xfrm>
            <a:off x="609600" y="2254250"/>
            <a:ext cx="1961875" cy="3994150"/>
          </a:xfrm>
          <a:prstGeom prst="roundRect">
            <a:avLst>
              <a:gd name="adj" fmla="val 2456"/>
            </a:avLst>
          </a:prstGeom>
          <a:solidFill>
            <a:srgbClr val="FA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3" name="Rounded Rectangle 2"/>
          <p:cNvSpPr/>
          <p:nvPr/>
        </p:nvSpPr>
        <p:spPr>
          <a:xfrm>
            <a:off x="2816362" y="2257464"/>
            <a:ext cx="1961875" cy="3994150"/>
          </a:xfrm>
          <a:prstGeom prst="roundRect">
            <a:avLst>
              <a:gd name="adj" fmla="val 2456"/>
            </a:avLst>
          </a:prstGeom>
          <a:solidFill>
            <a:srgbClr val="FA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4" name="Rounded Rectangle 3"/>
          <p:cNvSpPr/>
          <p:nvPr/>
        </p:nvSpPr>
        <p:spPr>
          <a:xfrm>
            <a:off x="5048525" y="2257464"/>
            <a:ext cx="1961875" cy="3994150"/>
          </a:xfrm>
          <a:prstGeom prst="roundRect">
            <a:avLst>
              <a:gd name="adj" fmla="val 2456"/>
            </a:avLst>
          </a:prstGeom>
          <a:solidFill>
            <a:srgbClr val="FA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5" name="TextBox 4"/>
          <p:cNvSpPr txBox="1"/>
          <p:nvPr/>
        </p:nvSpPr>
        <p:spPr>
          <a:xfrm>
            <a:off x="609600" y="457200"/>
            <a:ext cx="11582400" cy="426541"/>
          </a:xfrm>
          <a:prstGeom prst="rect">
            <a:avLst/>
          </a:prstGeom>
          <a:noFill/>
        </p:spPr>
        <p:txBody>
          <a:bodyPr wrap="none" lIns="0" tIns="0" rIns="0" bIns="0" anchor="t">
            <a:spAutoFit/>
          </a:bodyPr>
          <a:lstStyle/>
          <a:p>
            <a:pPr algn="l">
              <a:lnSpc>
                <a:spcPts val="3359"/>
              </a:lnSpc>
            </a:pPr>
            <a:r>
              <a:rPr sz="2799" b="1" i="0" u="none">
                <a:solidFill>
                  <a:srgbClr val="0F172A"/>
                </a:solidFill>
                <a:latin typeface="Segoe UI"/>
              </a:rPr>
              <a:t>10 · DATA WAREHOUSE</a:t>
            </a:r>
          </a:p>
        </p:txBody>
      </p:sp>
      <p:sp>
        <p:nvSpPr>
          <p:cNvPr id="6" name="TextBox 5"/>
          <p:cNvSpPr txBox="1"/>
          <p:nvPr/>
        </p:nvSpPr>
        <p:spPr>
          <a:xfrm>
            <a:off x="609600" y="959941"/>
            <a:ext cx="11582400" cy="525660"/>
          </a:xfrm>
          <a:prstGeom prst="rect">
            <a:avLst/>
          </a:prstGeom>
          <a:noFill/>
        </p:spPr>
        <p:txBody>
          <a:bodyPr wrap="none" lIns="0" tIns="0" rIns="0" bIns="0" anchor="t">
            <a:spAutoFit/>
          </a:bodyPr>
          <a:lstStyle/>
          <a:p>
            <a:pPr algn="l">
              <a:lnSpc>
                <a:spcPts val="4140"/>
              </a:lnSpc>
            </a:pPr>
            <a:r>
              <a:rPr sz="3600" b="1" i="0" u="none">
                <a:solidFill>
                  <a:srgbClr val="1F2D3D"/>
                </a:solidFill>
                <a:latin typeface="Constantia"/>
              </a:rPr>
              <a:t>Star Schema: một Fact, năm Dimension</a:t>
            </a:r>
          </a:p>
        </p:txBody>
      </p:sp>
      <p:sp>
        <p:nvSpPr>
          <p:cNvPr id="7" name="TextBox 6"/>
          <p:cNvSpPr txBox="1"/>
          <p:nvPr/>
        </p:nvSpPr>
        <p:spPr>
          <a:xfrm>
            <a:off x="573064" y="1442560"/>
            <a:ext cx="9306522" cy="427489"/>
          </a:xfrm>
          <a:prstGeom prst="rect">
            <a:avLst/>
          </a:prstGeom>
          <a:noFill/>
        </p:spPr>
        <p:txBody>
          <a:bodyPr wrap="none" lIns="0" tIns="0" rIns="0" bIns="0" anchor="t">
            <a:spAutoFit/>
          </a:bodyPr>
          <a:lstStyle/>
          <a:p>
            <a:pPr algn="l">
              <a:lnSpc>
                <a:spcPts val="3600"/>
              </a:lnSpc>
            </a:pPr>
            <a:r>
              <a:rPr sz="2400" b="0" i="0" u="none" dirty="0" err="1">
                <a:solidFill>
                  <a:srgbClr val="2B2F36"/>
                </a:solidFill>
                <a:latin typeface="Constantia"/>
              </a:rPr>
              <a:t>Truy</a:t>
            </a:r>
            <a:r>
              <a:rPr sz="2400" b="0" i="0" u="none" dirty="0">
                <a:solidFill>
                  <a:srgbClr val="2B2F36"/>
                </a:solidFill>
                <a:latin typeface="Constantia"/>
              </a:rPr>
              <a:t> </a:t>
            </a:r>
            <a:r>
              <a:rPr sz="2400" b="0" i="0" u="none" dirty="0" err="1">
                <a:solidFill>
                  <a:srgbClr val="2B2F36"/>
                </a:solidFill>
                <a:latin typeface="Constantia"/>
              </a:rPr>
              <a:t>vấn</a:t>
            </a:r>
            <a:r>
              <a:rPr sz="2400" b="0" i="0" u="none" dirty="0">
                <a:solidFill>
                  <a:srgbClr val="2B2F36"/>
                </a:solidFill>
                <a:latin typeface="Constantia"/>
              </a:rPr>
              <a:t> </a:t>
            </a:r>
            <a:r>
              <a:rPr sz="2400" b="0" i="0" u="none" dirty="0" err="1">
                <a:solidFill>
                  <a:srgbClr val="2B2F36"/>
                </a:solidFill>
                <a:latin typeface="Constantia"/>
              </a:rPr>
              <a:t>theo</a:t>
            </a:r>
            <a:r>
              <a:rPr sz="2400" b="0" i="0" u="none" dirty="0">
                <a:solidFill>
                  <a:srgbClr val="2B2F36"/>
                </a:solidFill>
                <a:latin typeface="Constantia"/>
              </a:rPr>
              <a:t> </a:t>
            </a:r>
            <a:r>
              <a:rPr sz="2400" b="0" i="0" u="none" dirty="0" err="1">
                <a:solidFill>
                  <a:srgbClr val="2B2F36"/>
                </a:solidFill>
                <a:latin typeface="Constantia"/>
              </a:rPr>
              <a:t>nhân</a:t>
            </a:r>
            <a:r>
              <a:rPr sz="2400" b="0" i="0" u="none" dirty="0">
                <a:solidFill>
                  <a:srgbClr val="2B2F36"/>
                </a:solidFill>
                <a:latin typeface="Constantia"/>
              </a:rPr>
              <a:t> </a:t>
            </a:r>
            <a:r>
              <a:rPr sz="2400" b="0" i="0" u="none" dirty="0" err="1">
                <a:solidFill>
                  <a:srgbClr val="2B2F36"/>
                </a:solidFill>
                <a:latin typeface="Constantia"/>
              </a:rPr>
              <a:t>viên</a:t>
            </a:r>
            <a:r>
              <a:rPr sz="2400" b="0" i="0" u="none" dirty="0">
                <a:solidFill>
                  <a:srgbClr val="2B2F36"/>
                </a:solidFill>
                <a:latin typeface="Constantia"/>
              </a:rPr>
              <a:t> </a:t>
            </a:r>
            <a:r>
              <a:rPr sz="2400" b="0" i="0" u="none" dirty="0" err="1">
                <a:solidFill>
                  <a:srgbClr val="2B2F36"/>
                </a:solidFill>
                <a:latin typeface="Constantia"/>
              </a:rPr>
              <a:t>chỉ</a:t>
            </a:r>
            <a:r>
              <a:rPr sz="2400" b="0" i="0" u="none" dirty="0">
                <a:solidFill>
                  <a:srgbClr val="2B2F36"/>
                </a:solidFill>
                <a:latin typeface="Constantia"/>
              </a:rPr>
              <a:t> </a:t>
            </a:r>
            <a:r>
              <a:rPr sz="2400" b="0" i="0" u="none" dirty="0" err="1">
                <a:solidFill>
                  <a:srgbClr val="2B2F36"/>
                </a:solidFill>
                <a:latin typeface="Constantia"/>
              </a:rPr>
              <a:t>cần</a:t>
            </a:r>
            <a:r>
              <a:rPr sz="2400" b="0" i="0" u="none" dirty="0">
                <a:solidFill>
                  <a:srgbClr val="2B2F36"/>
                </a:solidFill>
                <a:latin typeface="Constantia"/>
              </a:rPr>
              <a:t> </a:t>
            </a:r>
            <a:r>
              <a:rPr sz="2400" b="0" i="0" u="none" dirty="0" err="1">
                <a:solidFill>
                  <a:srgbClr val="2B2F36"/>
                </a:solidFill>
                <a:latin typeface="Constantia"/>
              </a:rPr>
              <a:t>một</a:t>
            </a:r>
            <a:r>
              <a:rPr sz="2400" b="0" i="0" u="none" dirty="0">
                <a:solidFill>
                  <a:srgbClr val="2B2F36"/>
                </a:solidFill>
                <a:latin typeface="Constantia"/>
              </a:rPr>
              <a:t> </a:t>
            </a:r>
            <a:r>
              <a:rPr sz="2400" b="0" i="0" u="none" dirty="0" err="1">
                <a:solidFill>
                  <a:srgbClr val="2B2F36"/>
                </a:solidFill>
                <a:latin typeface="Constantia"/>
              </a:rPr>
              <a:t>phép</a:t>
            </a:r>
            <a:r>
              <a:rPr sz="2400" b="0" i="0" u="none" dirty="0">
                <a:solidFill>
                  <a:srgbClr val="2B2F36"/>
                </a:solidFill>
                <a:latin typeface="Constantia"/>
              </a:rPr>
              <a:t> </a:t>
            </a:r>
            <a:r>
              <a:rPr sz="2400" b="0" i="0" u="none" dirty="0" err="1">
                <a:solidFill>
                  <a:srgbClr val="2B2F36"/>
                </a:solidFill>
                <a:latin typeface="Constantia"/>
              </a:rPr>
              <a:t>nối</a:t>
            </a:r>
            <a:r>
              <a:rPr sz="2400" b="0" i="0" u="none" dirty="0">
                <a:solidFill>
                  <a:srgbClr val="2B2F36"/>
                </a:solidFill>
                <a:latin typeface="Constantia"/>
              </a:rPr>
              <a:t> </a:t>
            </a:r>
            <a:r>
              <a:rPr sz="2400" b="0" i="0" u="none" dirty="0" err="1">
                <a:solidFill>
                  <a:srgbClr val="2B2F36"/>
                </a:solidFill>
                <a:latin typeface="Constantia"/>
              </a:rPr>
              <a:t>giữa</a:t>
            </a:r>
            <a:r>
              <a:rPr sz="2400" b="0" i="0" u="none" dirty="0">
                <a:solidFill>
                  <a:srgbClr val="2B2F36"/>
                </a:solidFill>
                <a:latin typeface="Constantia"/>
              </a:rPr>
              <a:t> Fact </a:t>
            </a:r>
            <a:r>
              <a:rPr sz="2400" b="0" i="0" u="none" dirty="0" err="1">
                <a:solidFill>
                  <a:srgbClr val="2B2F36"/>
                </a:solidFill>
                <a:latin typeface="Constantia"/>
              </a:rPr>
              <a:t>và</a:t>
            </a:r>
            <a:r>
              <a:rPr sz="2400" b="0" i="0" u="none" dirty="0">
                <a:solidFill>
                  <a:srgbClr val="2B2F36"/>
                </a:solidFill>
                <a:latin typeface="Constantia"/>
              </a:rPr>
              <a:t> Dimension.</a:t>
            </a:r>
          </a:p>
        </p:txBody>
      </p:sp>
      <p:sp>
        <p:nvSpPr>
          <p:cNvPr id="8" name="TextBox 7"/>
          <p:cNvSpPr txBox="1"/>
          <p:nvPr/>
        </p:nvSpPr>
        <p:spPr>
          <a:xfrm>
            <a:off x="787399" y="2385574"/>
            <a:ext cx="1483861" cy="394723"/>
          </a:xfrm>
          <a:prstGeom prst="rect">
            <a:avLst/>
          </a:prstGeom>
          <a:noFill/>
        </p:spPr>
        <p:txBody>
          <a:bodyPr wrap="square" lIns="0" tIns="0" rIns="0" bIns="0" anchor="t">
            <a:spAutoFit/>
          </a:bodyPr>
          <a:lstStyle/>
          <a:p>
            <a:pPr algn="l">
              <a:lnSpc>
                <a:spcPts val="3359"/>
              </a:lnSpc>
            </a:pPr>
            <a:r>
              <a:rPr sz="2000" b="1" i="0" u="none" dirty="0" err="1">
                <a:solidFill>
                  <a:srgbClr val="1F2D3D"/>
                </a:solidFill>
                <a:latin typeface="Constantia"/>
              </a:rPr>
              <a:t>Fact_Sales</a:t>
            </a:r>
            <a:endParaRPr sz="2000" b="1" i="0" u="none" dirty="0">
              <a:solidFill>
                <a:srgbClr val="1F2D3D"/>
              </a:solidFill>
              <a:latin typeface="Constantia"/>
            </a:endParaRPr>
          </a:p>
        </p:txBody>
      </p:sp>
      <p:sp>
        <p:nvSpPr>
          <p:cNvPr id="9" name="TextBox 8"/>
          <p:cNvSpPr txBox="1"/>
          <p:nvPr/>
        </p:nvSpPr>
        <p:spPr>
          <a:xfrm>
            <a:off x="835163" y="2977445"/>
            <a:ext cx="1579919" cy="2995372"/>
          </a:xfrm>
          <a:prstGeom prst="rect">
            <a:avLst/>
          </a:prstGeom>
          <a:noFill/>
        </p:spPr>
        <p:txBody>
          <a:bodyPr wrap="square" lIns="0" tIns="0" rIns="0" bIns="0" anchor="t">
            <a:spAutoFit/>
          </a:bodyPr>
          <a:lstStyle/>
          <a:p>
            <a:pPr algn="just">
              <a:lnSpc>
                <a:spcPts val="3375"/>
              </a:lnSpc>
            </a:pPr>
            <a:r>
              <a:rPr b="0" i="0" u="none" dirty="0">
                <a:solidFill>
                  <a:srgbClr val="2B2F36"/>
                </a:solidFill>
                <a:latin typeface="Segoe UI"/>
              </a:rPr>
              <a:t>714,653 </a:t>
            </a:r>
            <a:r>
              <a:rPr b="0" i="0" u="none" dirty="0" err="1">
                <a:solidFill>
                  <a:srgbClr val="2B2F36"/>
                </a:solidFill>
                <a:latin typeface="Segoe UI"/>
              </a:rPr>
              <a:t>dòng</a:t>
            </a:r>
            <a:r>
              <a:rPr b="0" i="0" u="none" dirty="0">
                <a:solidFill>
                  <a:srgbClr val="2B2F36"/>
                </a:solidFill>
                <a:latin typeface="Segoe UI"/>
              </a:rPr>
              <a:t>. </a:t>
            </a:r>
            <a:r>
              <a:rPr b="0" i="0" u="none" dirty="0" err="1">
                <a:solidFill>
                  <a:srgbClr val="2B2F36"/>
                </a:solidFill>
                <a:latin typeface="Segoe UI"/>
              </a:rPr>
              <a:t>Mỗi</a:t>
            </a:r>
            <a:r>
              <a:rPr b="0" i="0" u="none" dirty="0">
                <a:solidFill>
                  <a:srgbClr val="2B2F36"/>
                </a:solidFill>
                <a:latin typeface="Segoe UI"/>
              </a:rPr>
              <a:t> </a:t>
            </a:r>
            <a:r>
              <a:rPr b="0" i="0" u="none" dirty="0" err="1">
                <a:solidFill>
                  <a:srgbClr val="2B2F36"/>
                </a:solidFill>
                <a:latin typeface="Segoe UI"/>
              </a:rPr>
              <a:t>dòng</a:t>
            </a:r>
            <a:r>
              <a:rPr b="0" i="0" u="none" dirty="0">
                <a:solidFill>
                  <a:srgbClr val="2B2F36"/>
                </a:solidFill>
                <a:latin typeface="Segoe UI"/>
              </a:rPr>
              <a:t> </a:t>
            </a:r>
            <a:r>
              <a:rPr b="0" i="0" u="none" dirty="0" err="1">
                <a:solidFill>
                  <a:srgbClr val="2B2F36"/>
                </a:solidFill>
                <a:latin typeface="Segoe UI"/>
              </a:rPr>
              <a:t>là</a:t>
            </a:r>
            <a:r>
              <a:rPr b="0" i="0" u="none" dirty="0">
                <a:solidFill>
                  <a:srgbClr val="2B2F36"/>
                </a:solidFill>
                <a:latin typeface="Segoe UI"/>
              </a:rPr>
              <a:t> 1 chi </a:t>
            </a:r>
            <a:r>
              <a:rPr b="0" i="0" u="none" dirty="0" err="1">
                <a:solidFill>
                  <a:srgbClr val="2B2F36"/>
                </a:solidFill>
                <a:latin typeface="Segoe UI"/>
              </a:rPr>
              <a:t>tiết</a:t>
            </a:r>
            <a:r>
              <a:rPr b="0" i="0" u="none" dirty="0">
                <a:solidFill>
                  <a:srgbClr val="2B2F36"/>
                </a:solidFill>
                <a:latin typeface="Segoe UI"/>
              </a:rPr>
              <a:t> </a:t>
            </a:r>
            <a:r>
              <a:rPr b="0" i="0" u="none" dirty="0" err="1">
                <a:solidFill>
                  <a:srgbClr val="2B2F36"/>
                </a:solidFill>
                <a:latin typeface="Segoe UI"/>
              </a:rPr>
              <a:t>đơn</a:t>
            </a:r>
            <a:r>
              <a:rPr b="0" i="0" u="none" dirty="0">
                <a:solidFill>
                  <a:srgbClr val="2B2F36"/>
                </a:solidFill>
                <a:latin typeface="Segoe UI"/>
              </a:rPr>
              <a:t> </a:t>
            </a:r>
            <a:r>
              <a:rPr b="0" i="0" u="none" dirty="0" err="1">
                <a:solidFill>
                  <a:srgbClr val="2B2F36"/>
                </a:solidFill>
                <a:latin typeface="Segoe UI"/>
              </a:rPr>
              <a:t>hàng</a:t>
            </a:r>
            <a:r>
              <a:rPr b="0" i="0" u="none" dirty="0">
                <a:solidFill>
                  <a:srgbClr val="2B2F36"/>
                </a:solidFill>
                <a:latin typeface="Segoe UI"/>
              </a:rPr>
              <a:t>. </a:t>
            </a:r>
            <a:r>
              <a:rPr b="0" i="0" u="none" dirty="0" err="1">
                <a:solidFill>
                  <a:srgbClr val="2B2F36"/>
                </a:solidFill>
                <a:latin typeface="Segoe UI"/>
              </a:rPr>
              <a:t>Tính</a:t>
            </a:r>
            <a:r>
              <a:rPr b="0" i="0" u="none" dirty="0">
                <a:solidFill>
                  <a:srgbClr val="2B2F36"/>
                </a:solidFill>
                <a:latin typeface="Segoe UI"/>
              </a:rPr>
              <a:t> </a:t>
            </a:r>
            <a:r>
              <a:rPr b="0" i="0" u="none" dirty="0" err="1">
                <a:solidFill>
                  <a:srgbClr val="2B2F36"/>
                </a:solidFill>
                <a:latin typeface="Segoe UI"/>
              </a:rPr>
              <a:t>sẵn</a:t>
            </a:r>
            <a:r>
              <a:rPr b="0" i="0" u="none" dirty="0">
                <a:solidFill>
                  <a:srgbClr val="2B2F36"/>
                </a:solidFill>
                <a:latin typeface="Segoe UI"/>
              </a:rPr>
              <a:t> </a:t>
            </a:r>
            <a:r>
              <a:rPr b="0" i="0" u="none" dirty="0" err="1">
                <a:solidFill>
                  <a:srgbClr val="2B2F36"/>
                </a:solidFill>
                <a:latin typeface="Segoe UI"/>
              </a:rPr>
              <a:t>doanh</a:t>
            </a:r>
            <a:r>
              <a:rPr b="0" i="0" u="none" dirty="0">
                <a:solidFill>
                  <a:srgbClr val="2B2F36"/>
                </a:solidFill>
                <a:latin typeface="Segoe UI"/>
              </a:rPr>
              <a:t> </a:t>
            </a:r>
            <a:r>
              <a:rPr b="0" i="0" u="none" dirty="0" err="1">
                <a:solidFill>
                  <a:srgbClr val="2B2F36"/>
                </a:solidFill>
                <a:latin typeface="Segoe UI"/>
              </a:rPr>
              <a:t>thu</a:t>
            </a:r>
            <a:r>
              <a:rPr b="0" i="0" u="none" dirty="0">
                <a:solidFill>
                  <a:srgbClr val="2B2F36"/>
                </a:solidFill>
                <a:latin typeface="Segoe UI"/>
              </a:rPr>
              <a:t> </a:t>
            </a:r>
            <a:r>
              <a:rPr b="0" i="0" u="none" dirty="0" err="1">
                <a:solidFill>
                  <a:srgbClr val="2B2F36"/>
                </a:solidFill>
                <a:latin typeface="Segoe UI"/>
              </a:rPr>
              <a:t>gộp</a:t>
            </a:r>
            <a:r>
              <a:rPr b="0" i="0" u="none" dirty="0">
                <a:solidFill>
                  <a:srgbClr val="2B2F36"/>
                </a:solidFill>
                <a:latin typeface="Segoe UI"/>
              </a:rPr>
              <a:t> </a:t>
            </a:r>
            <a:r>
              <a:rPr b="0" i="0" u="none" dirty="0" err="1">
                <a:solidFill>
                  <a:srgbClr val="2B2F36"/>
                </a:solidFill>
                <a:latin typeface="Segoe UI"/>
              </a:rPr>
              <a:t>và</a:t>
            </a:r>
            <a:r>
              <a:rPr b="0" i="0" u="none" dirty="0">
                <a:solidFill>
                  <a:srgbClr val="2B2F36"/>
                </a:solidFill>
                <a:latin typeface="Segoe UI"/>
              </a:rPr>
              <a:t> </a:t>
            </a:r>
            <a:r>
              <a:rPr b="0" i="0" u="none" dirty="0" err="1">
                <a:solidFill>
                  <a:srgbClr val="2B2F36"/>
                </a:solidFill>
                <a:latin typeface="Segoe UI"/>
              </a:rPr>
              <a:t>doanh</a:t>
            </a:r>
            <a:r>
              <a:rPr b="0" i="0" u="none" dirty="0">
                <a:solidFill>
                  <a:srgbClr val="2B2F36"/>
                </a:solidFill>
                <a:latin typeface="Segoe UI"/>
              </a:rPr>
              <a:t> </a:t>
            </a:r>
            <a:r>
              <a:rPr b="0" i="0" u="none" dirty="0" err="1">
                <a:solidFill>
                  <a:srgbClr val="2B2F36"/>
                </a:solidFill>
                <a:latin typeface="Segoe UI"/>
              </a:rPr>
              <a:t>thu</a:t>
            </a:r>
            <a:r>
              <a:rPr b="0" i="0" u="none" dirty="0">
                <a:solidFill>
                  <a:srgbClr val="2B2F36"/>
                </a:solidFill>
                <a:latin typeface="Segoe UI"/>
              </a:rPr>
              <a:t> </a:t>
            </a:r>
            <a:r>
              <a:rPr b="0" i="0" u="none" dirty="0" err="1">
                <a:solidFill>
                  <a:srgbClr val="2B2F36"/>
                </a:solidFill>
                <a:latin typeface="Segoe UI"/>
              </a:rPr>
              <a:t>thuần</a:t>
            </a:r>
            <a:r>
              <a:rPr b="0" i="0" u="none" dirty="0">
                <a:solidFill>
                  <a:srgbClr val="2B2F36"/>
                </a:solidFill>
                <a:latin typeface="Segoe UI"/>
              </a:rPr>
              <a:t>.</a:t>
            </a:r>
          </a:p>
        </p:txBody>
      </p:sp>
      <p:sp>
        <p:nvSpPr>
          <p:cNvPr id="10" name="TextBox 9"/>
          <p:cNvSpPr txBox="1"/>
          <p:nvPr/>
        </p:nvSpPr>
        <p:spPr>
          <a:xfrm>
            <a:off x="2994162" y="2388788"/>
            <a:ext cx="1551959" cy="394723"/>
          </a:xfrm>
          <a:prstGeom prst="rect">
            <a:avLst/>
          </a:prstGeom>
          <a:noFill/>
        </p:spPr>
        <p:txBody>
          <a:bodyPr wrap="square" lIns="0" tIns="0" rIns="0" bIns="0" anchor="t">
            <a:spAutoFit/>
          </a:bodyPr>
          <a:lstStyle/>
          <a:p>
            <a:pPr algn="l">
              <a:lnSpc>
                <a:spcPts val="3359"/>
              </a:lnSpc>
            </a:pPr>
            <a:r>
              <a:rPr sz="2000" b="1" i="0" u="none" dirty="0">
                <a:solidFill>
                  <a:srgbClr val="1F2D3D"/>
                </a:solidFill>
                <a:latin typeface="Constantia"/>
              </a:rPr>
              <a:t>5 </a:t>
            </a:r>
            <a:r>
              <a:rPr sz="2000" b="1" i="0" u="none" dirty="0" err="1">
                <a:solidFill>
                  <a:srgbClr val="1F2D3D"/>
                </a:solidFill>
                <a:latin typeface="Constantia"/>
              </a:rPr>
              <a:t>Bảng</a:t>
            </a:r>
            <a:r>
              <a:rPr sz="2000" b="1" i="0" u="none" dirty="0">
                <a:solidFill>
                  <a:srgbClr val="1F2D3D"/>
                </a:solidFill>
                <a:latin typeface="Constantia"/>
              </a:rPr>
              <a:t> </a:t>
            </a:r>
            <a:r>
              <a:rPr sz="2000" b="1" i="0" u="none" dirty="0" err="1">
                <a:solidFill>
                  <a:srgbClr val="1F2D3D"/>
                </a:solidFill>
                <a:latin typeface="Constantia"/>
              </a:rPr>
              <a:t>chiều</a:t>
            </a:r>
            <a:endParaRPr sz="2000" b="1" i="0" u="none" dirty="0">
              <a:solidFill>
                <a:srgbClr val="1F2D3D"/>
              </a:solidFill>
              <a:latin typeface="Constantia"/>
            </a:endParaRPr>
          </a:p>
        </p:txBody>
      </p:sp>
      <p:sp>
        <p:nvSpPr>
          <p:cNvPr id="11" name="TextBox 10"/>
          <p:cNvSpPr txBox="1"/>
          <p:nvPr/>
        </p:nvSpPr>
        <p:spPr>
          <a:xfrm>
            <a:off x="3041926" y="2980659"/>
            <a:ext cx="1642004" cy="2995372"/>
          </a:xfrm>
          <a:prstGeom prst="rect">
            <a:avLst/>
          </a:prstGeom>
          <a:noFill/>
        </p:spPr>
        <p:txBody>
          <a:bodyPr wrap="square" lIns="0" tIns="0" rIns="0" bIns="0" anchor="t">
            <a:spAutoFit/>
          </a:bodyPr>
          <a:lstStyle/>
          <a:p>
            <a:pPr algn="just">
              <a:lnSpc>
                <a:spcPts val="3375"/>
              </a:lnSpc>
            </a:pPr>
            <a:r>
              <a:rPr b="0" i="0" u="none" dirty="0">
                <a:solidFill>
                  <a:srgbClr val="2B2F36"/>
                </a:solidFill>
                <a:latin typeface="Segoe UI"/>
              </a:rPr>
              <a:t>Bao </a:t>
            </a:r>
            <a:r>
              <a:rPr b="0" i="0" u="none" dirty="0" err="1">
                <a:solidFill>
                  <a:srgbClr val="2B2F36"/>
                </a:solidFill>
                <a:latin typeface="Segoe UI"/>
              </a:rPr>
              <a:t>gồm</a:t>
            </a:r>
            <a:r>
              <a:rPr b="0" i="0" u="none" dirty="0">
                <a:solidFill>
                  <a:srgbClr val="2B2F36"/>
                </a:solidFill>
                <a:latin typeface="Segoe UI"/>
              </a:rPr>
              <a:t>: </a:t>
            </a:r>
            <a:r>
              <a:rPr b="0" i="0" u="none" dirty="0" err="1">
                <a:solidFill>
                  <a:srgbClr val="2B2F36"/>
                </a:solidFill>
                <a:latin typeface="Segoe UI"/>
              </a:rPr>
              <a:t>Dim_Date</a:t>
            </a:r>
            <a:r>
              <a:rPr b="0" i="0" u="none" dirty="0">
                <a:solidFill>
                  <a:srgbClr val="2B2F36"/>
                </a:solidFill>
                <a:latin typeface="Segoe UI"/>
              </a:rPr>
              <a:t>, </a:t>
            </a:r>
            <a:r>
              <a:rPr b="0" i="0" u="none" dirty="0" err="1">
                <a:solidFill>
                  <a:srgbClr val="2B2F36"/>
                </a:solidFill>
                <a:latin typeface="Segoe UI"/>
              </a:rPr>
              <a:t>Dim_Customer</a:t>
            </a:r>
            <a:r>
              <a:rPr b="0" i="0" u="none" dirty="0">
                <a:solidFill>
                  <a:srgbClr val="2B2F36"/>
                </a:solidFill>
                <a:latin typeface="Segoe UI"/>
              </a:rPr>
              <a:t>, </a:t>
            </a:r>
            <a:r>
              <a:rPr b="0" i="0" u="none" dirty="0" err="1">
                <a:solidFill>
                  <a:srgbClr val="2B2F36"/>
                </a:solidFill>
                <a:latin typeface="Segoe UI"/>
              </a:rPr>
              <a:t>Dim_Employee</a:t>
            </a:r>
            <a:r>
              <a:rPr b="0" i="0" u="none" dirty="0">
                <a:solidFill>
                  <a:srgbClr val="2B2F36"/>
                </a:solidFill>
                <a:latin typeface="Segoe UI"/>
              </a:rPr>
              <a:t>, </a:t>
            </a:r>
            <a:r>
              <a:rPr b="0" i="0" u="none" dirty="0" err="1">
                <a:solidFill>
                  <a:srgbClr val="2B2F36"/>
                </a:solidFill>
                <a:latin typeface="Segoe UI"/>
              </a:rPr>
              <a:t>Dim_Product</a:t>
            </a:r>
            <a:r>
              <a:rPr b="0" i="0" u="none" dirty="0">
                <a:solidFill>
                  <a:srgbClr val="2B2F36"/>
                </a:solidFill>
                <a:latin typeface="Segoe UI"/>
              </a:rPr>
              <a:t> </a:t>
            </a:r>
            <a:r>
              <a:rPr b="0" i="0" u="none" dirty="0" err="1">
                <a:solidFill>
                  <a:srgbClr val="2B2F36"/>
                </a:solidFill>
                <a:latin typeface="Segoe UI"/>
              </a:rPr>
              <a:t>và</a:t>
            </a:r>
            <a:r>
              <a:rPr b="0" i="0" u="none" dirty="0">
                <a:solidFill>
                  <a:srgbClr val="2B2F36"/>
                </a:solidFill>
                <a:latin typeface="Segoe UI"/>
              </a:rPr>
              <a:t> </a:t>
            </a:r>
            <a:r>
              <a:rPr b="0" i="0" u="none" dirty="0" err="1">
                <a:solidFill>
                  <a:srgbClr val="2B2F36"/>
                </a:solidFill>
                <a:latin typeface="Segoe UI"/>
              </a:rPr>
              <a:t>Dim_Geography</a:t>
            </a:r>
            <a:r>
              <a:rPr b="0" i="0" u="none" dirty="0">
                <a:solidFill>
                  <a:srgbClr val="2B2F36"/>
                </a:solidFill>
                <a:latin typeface="Segoe UI"/>
              </a:rPr>
              <a:t>.</a:t>
            </a:r>
          </a:p>
        </p:txBody>
      </p:sp>
      <p:sp>
        <p:nvSpPr>
          <p:cNvPr id="12" name="TextBox 11"/>
          <p:cNvSpPr txBox="1"/>
          <p:nvPr/>
        </p:nvSpPr>
        <p:spPr>
          <a:xfrm>
            <a:off x="5226325" y="2388788"/>
            <a:ext cx="1362623" cy="830740"/>
          </a:xfrm>
          <a:prstGeom prst="rect">
            <a:avLst/>
          </a:prstGeom>
          <a:noFill/>
        </p:spPr>
        <p:txBody>
          <a:bodyPr wrap="square" lIns="0" tIns="0" rIns="0" bIns="0" anchor="t">
            <a:spAutoFit/>
          </a:bodyPr>
          <a:lstStyle/>
          <a:p>
            <a:pPr algn="l">
              <a:lnSpc>
                <a:spcPts val="3359"/>
              </a:lnSpc>
            </a:pPr>
            <a:r>
              <a:rPr sz="2000" b="1" i="0" u="none" dirty="0" err="1">
                <a:solidFill>
                  <a:srgbClr val="1F2D3D"/>
                </a:solidFill>
                <a:latin typeface="Constantia"/>
              </a:rPr>
              <a:t>Toàn</a:t>
            </a:r>
            <a:r>
              <a:rPr sz="2000" b="1" i="0" u="none" dirty="0">
                <a:solidFill>
                  <a:srgbClr val="1F2D3D"/>
                </a:solidFill>
                <a:latin typeface="Constantia"/>
              </a:rPr>
              <a:t> </a:t>
            </a:r>
            <a:r>
              <a:rPr sz="2000" b="1" i="0" u="none" dirty="0" err="1">
                <a:solidFill>
                  <a:srgbClr val="1F2D3D"/>
                </a:solidFill>
                <a:latin typeface="Constantia"/>
              </a:rPr>
              <a:t>vẹn</a:t>
            </a:r>
            <a:r>
              <a:rPr sz="2000" b="1" i="0" u="none" dirty="0">
                <a:solidFill>
                  <a:srgbClr val="1F2D3D"/>
                </a:solidFill>
                <a:latin typeface="Constantia"/>
              </a:rPr>
              <a:t> </a:t>
            </a:r>
            <a:r>
              <a:rPr sz="2000" b="1" i="0" u="none" dirty="0" err="1">
                <a:solidFill>
                  <a:srgbClr val="1F2D3D"/>
                </a:solidFill>
                <a:latin typeface="Constantia"/>
              </a:rPr>
              <a:t>dữ</a:t>
            </a:r>
            <a:r>
              <a:rPr sz="2000" b="1" i="0" u="none" dirty="0">
                <a:solidFill>
                  <a:srgbClr val="1F2D3D"/>
                </a:solidFill>
                <a:latin typeface="Constantia"/>
              </a:rPr>
              <a:t> </a:t>
            </a:r>
            <a:r>
              <a:rPr sz="2000" b="1" i="0" u="none" dirty="0" err="1">
                <a:solidFill>
                  <a:srgbClr val="1F2D3D"/>
                </a:solidFill>
                <a:latin typeface="Constantia"/>
              </a:rPr>
              <a:t>liệu</a:t>
            </a:r>
            <a:endParaRPr sz="2000" b="1" i="0" u="none" dirty="0">
              <a:solidFill>
                <a:srgbClr val="1F2D3D"/>
              </a:solidFill>
              <a:latin typeface="Constantia"/>
            </a:endParaRPr>
          </a:p>
        </p:txBody>
      </p:sp>
      <p:sp>
        <p:nvSpPr>
          <p:cNvPr id="13" name="TextBox 12"/>
          <p:cNvSpPr txBox="1"/>
          <p:nvPr/>
        </p:nvSpPr>
        <p:spPr>
          <a:xfrm>
            <a:off x="5274088" y="3350852"/>
            <a:ext cx="1579919" cy="2559355"/>
          </a:xfrm>
          <a:prstGeom prst="rect">
            <a:avLst/>
          </a:prstGeom>
          <a:noFill/>
        </p:spPr>
        <p:txBody>
          <a:bodyPr wrap="square" lIns="0" tIns="0" rIns="0" bIns="0" anchor="t">
            <a:spAutoFit/>
          </a:bodyPr>
          <a:lstStyle/>
          <a:p>
            <a:pPr algn="just">
              <a:lnSpc>
                <a:spcPts val="3375"/>
              </a:lnSpc>
            </a:pPr>
            <a:r>
              <a:rPr b="0" i="0" u="none">
                <a:solidFill>
                  <a:srgbClr val="2B2F36"/>
                </a:solidFill>
                <a:latin typeface="Segoe UI"/>
              </a:rPr>
              <a:t>Đạt 0 khóa mồ côi giữa bảng Fact và các bảng chiều, tối ưu hóa tốc độ truy vấn.</a:t>
            </a:r>
          </a:p>
        </p:txBody>
      </p:sp>
      <p:pic>
        <p:nvPicPr>
          <p:cNvPr id="15" name="Graphic 14">
            <a:extLst>
              <a:ext uri="{FF2B5EF4-FFF2-40B4-BE49-F238E27FC236}">
                <a16:creationId xmlns:a16="http://schemas.microsoft.com/office/drawing/2014/main" id="{5BB2E9E3-251D-C111-40A7-F52C34C3E4B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369040" y="1942802"/>
            <a:ext cx="4454193" cy="4800898"/>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3EC"/>
        </a:solidFill>
        <a:effectLst/>
      </p:bgPr>
    </p:bg>
    <p:spTree>
      <p:nvGrpSpPr>
        <p:cNvPr id="1" name=""/>
        <p:cNvGrpSpPr/>
        <p:nvPr/>
      </p:nvGrpSpPr>
      <p:grpSpPr>
        <a:xfrm>
          <a:off x="0" y="0"/>
          <a:ext cx="0" cy="0"/>
          <a:chOff x="0" y="0"/>
          <a:chExt cx="0" cy="0"/>
        </a:xfrm>
      </p:grpSpPr>
      <p:sp>
        <p:nvSpPr>
          <p:cNvPr id="2" name="Rectangle 1"/>
          <p:cNvSpPr/>
          <p:nvPr/>
        </p:nvSpPr>
        <p:spPr>
          <a:xfrm>
            <a:off x="381000" y="5927902"/>
            <a:ext cx="10972800" cy="9525"/>
          </a:xfrm>
          <a:prstGeom prst="rect">
            <a:avLst/>
          </a:prstGeom>
          <a:solidFill>
            <a:srgbClr val="A68A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3" name="Rounded Rectangle 2"/>
          <p:cNvSpPr/>
          <p:nvPr/>
        </p:nvSpPr>
        <p:spPr>
          <a:xfrm>
            <a:off x="571500" y="2204517"/>
            <a:ext cx="3505200" cy="1816894"/>
          </a:xfrm>
          <a:prstGeom prst="roundRect">
            <a:avLst>
              <a:gd name="adj" fmla="val 3393"/>
            </a:avLst>
          </a:prstGeom>
          <a:solidFill>
            <a:srgbClr val="FA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4" name="Rounded Rectangle 3"/>
          <p:cNvSpPr/>
          <p:nvPr/>
        </p:nvSpPr>
        <p:spPr>
          <a:xfrm>
            <a:off x="4305300" y="2204517"/>
            <a:ext cx="3505200" cy="1816894"/>
          </a:xfrm>
          <a:prstGeom prst="roundRect">
            <a:avLst>
              <a:gd name="adj" fmla="val 3393"/>
            </a:avLst>
          </a:prstGeom>
          <a:solidFill>
            <a:srgbClr val="FA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5" name="Rounded Rectangle 4"/>
          <p:cNvSpPr/>
          <p:nvPr/>
        </p:nvSpPr>
        <p:spPr>
          <a:xfrm>
            <a:off x="8077200" y="2171404"/>
            <a:ext cx="3505200" cy="1816894"/>
          </a:xfrm>
          <a:prstGeom prst="roundRect">
            <a:avLst>
              <a:gd name="adj" fmla="val 2173"/>
            </a:avLst>
          </a:prstGeom>
          <a:solidFill>
            <a:srgbClr val="FA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6" name="Rounded Rectangle 5"/>
          <p:cNvSpPr/>
          <p:nvPr/>
        </p:nvSpPr>
        <p:spPr>
          <a:xfrm>
            <a:off x="609600" y="4111009"/>
            <a:ext cx="5209282" cy="1564070"/>
          </a:xfrm>
          <a:prstGeom prst="roundRect">
            <a:avLst>
              <a:gd name="adj" fmla="val 4193"/>
            </a:avLst>
          </a:prstGeom>
          <a:solidFill>
            <a:srgbClr val="FA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7" name="Rounded Rectangle 6"/>
          <p:cNvSpPr/>
          <p:nvPr/>
        </p:nvSpPr>
        <p:spPr>
          <a:xfrm>
            <a:off x="6019800" y="4111008"/>
            <a:ext cx="5334000" cy="1564071"/>
          </a:xfrm>
          <a:prstGeom prst="roundRect">
            <a:avLst>
              <a:gd name="adj" fmla="val 4193"/>
            </a:avLst>
          </a:prstGeom>
          <a:solidFill>
            <a:srgbClr val="FA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8" name="TextBox 7"/>
          <p:cNvSpPr txBox="1"/>
          <p:nvPr/>
        </p:nvSpPr>
        <p:spPr>
          <a:xfrm>
            <a:off x="609600" y="457200"/>
            <a:ext cx="11582400" cy="426541"/>
          </a:xfrm>
          <a:prstGeom prst="rect">
            <a:avLst/>
          </a:prstGeom>
          <a:noFill/>
        </p:spPr>
        <p:txBody>
          <a:bodyPr wrap="none" lIns="0" tIns="0" rIns="0" bIns="0" anchor="t">
            <a:spAutoFit/>
          </a:bodyPr>
          <a:lstStyle/>
          <a:p>
            <a:pPr algn="l">
              <a:lnSpc>
                <a:spcPts val="3359"/>
              </a:lnSpc>
            </a:pPr>
            <a:r>
              <a:rPr sz="2799" b="1" i="0" u="none">
                <a:solidFill>
                  <a:srgbClr val="0F172A"/>
                </a:solidFill>
                <a:latin typeface="Segoe UI"/>
              </a:rPr>
              <a:t>11 · DASHBOARD PROTOTYPE</a:t>
            </a:r>
          </a:p>
        </p:txBody>
      </p:sp>
      <p:sp>
        <p:nvSpPr>
          <p:cNvPr id="9" name="TextBox 8"/>
          <p:cNvSpPr txBox="1"/>
          <p:nvPr/>
        </p:nvSpPr>
        <p:spPr>
          <a:xfrm>
            <a:off x="609600" y="959941"/>
            <a:ext cx="11582400" cy="525660"/>
          </a:xfrm>
          <a:prstGeom prst="rect">
            <a:avLst/>
          </a:prstGeom>
          <a:noFill/>
        </p:spPr>
        <p:txBody>
          <a:bodyPr wrap="none" lIns="0" tIns="0" rIns="0" bIns="0" anchor="t">
            <a:spAutoFit/>
          </a:bodyPr>
          <a:lstStyle/>
          <a:p>
            <a:pPr algn="l">
              <a:lnSpc>
                <a:spcPts val="4140"/>
              </a:lnSpc>
            </a:pPr>
            <a:r>
              <a:rPr sz="3600" b="1" i="0" u="none">
                <a:solidFill>
                  <a:srgbClr val="1F2D3D"/>
                </a:solidFill>
                <a:latin typeface="Constantia"/>
              </a:rPr>
              <a:t>Dashboard 5 trang cho 5 câu hỏi</a:t>
            </a:r>
          </a:p>
        </p:txBody>
      </p:sp>
      <p:sp>
        <p:nvSpPr>
          <p:cNvPr id="10" name="TextBox 9"/>
          <p:cNvSpPr txBox="1"/>
          <p:nvPr/>
        </p:nvSpPr>
        <p:spPr>
          <a:xfrm>
            <a:off x="609600" y="1599902"/>
            <a:ext cx="11582400" cy="457200"/>
          </a:xfrm>
          <a:prstGeom prst="rect">
            <a:avLst/>
          </a:prstGeom>
          <a:noFill/>
        </p:spPr>
        <p:txBody>
          <a:bodyPr wrap="none" lIns="0" tIns="0" rIns="0" bIns="0" anchor="t">
            <a:spAutoFit/>
          </a:bodyPr>
          <a:lstStyle/>
          <a:p>
            <a:pPr algn="l">
              <a:lnSpc>
                <a:spcPts val="3600"/>
              </a:lnSpc>
            </a:pPr>
            <a:r>
              <a:rPr sz="3000" b="0" i="0" u="none">
                <a:solidFill>
                  <a:srgbClr val="2B2F36"/>
                </a:solidFill>
                <a:latin typeface="Constantia"/>
              </a:rPr>
              <a:t>Mỗi trang trả lời đúng một câu hỏi của bộ phận Nhân sự.</a:t>
            </a:r>
          </a:p>
        </p:txBody>
      </p:sp>
      <p:sp>
        <p:nvSpPr>
          <p:cNvPr id="11" name="TextBox 10"/>
          <p:cNvSpPr txBox="1"/>
          <p:nvPr/>
        </p:nvSpPr>
        <p:spPr>
          <a:xfrm>
            <a:off x="381000" y="6042202"/>
            <a:ext cx="11068050" cy="307777"/>
          </a:xfrm>
          <a:prstGeom prst="rect">
            <a:avLst/>
          </a:prstGeom>
          <a:noFill/>
        </p:spPr>
        <p:txBody>
          <a:bodyPr wrap="square" lIns="0" tIns="0" rIns="0" bIns="0" anchor="t">
            <a:spAutoFit/>
          </a:bodyPr>
          <a:lstStyle/>
          <a:p>
            <a:pPr algn="l"/>
            <a:r>
              <a:rPr sz="2000" b="0" i="1" u="none" dirty="0">
                <a:solidFill>
                  <a:srgbClr val="2B2F36"/>
                </a:solidFill>
                <a:latin typeface="Segoe UI"/>
              </a:rPr>
              <a:t> </a:t>
            </a:r>
            <a:r>
              <a:rPr sz="2000" b="0" i="1" u="none" dirty="0" err="1">
                <a:solidFill>
                  <a:srgbClr val="2B2F36"/>
                </a:solidFill>
                <a:latin typeface="Segoe UI"/>
              </a:rPr>
              <a:t>Chú</a:t>
            </a:r>
            <a:r>
              <a:rPr sz="2000" b="0" i="1" u="none" dirty="0">
                <a:solidFill>
                  <a:srgbClr val="2B2F36"/>
                </a:solidFill>
                <a:latin typeface="Segoe UI"/>
              </a:rPr>
              <a:t> </a:t>
            </a:r>
            <a:r>
              <a:rPr sz="2000" b="0" i="1" u="none" dirty="0" err="1">
                <a:solidFill>
                  <a:srgbClr val="2B2F36"/>
                </a:solidFill>
                <a:latin typeface="Segoe UI"/>
              </a:rPr>
              <a:t>thích</a:t>
            </a:r>
            <a:r>
              <a:rPr sz="2000" b="0" i="1" u="none" dirty="0">
                <a:solidFill>
                  <a:srgbClr val="2B2F36"/>
                </a:solidFill>
                <a:latin typeface="Segoe UI"/>
              </a:rPr>
              <a:t>: </a:t>
            </a:r>
            <a:r>
              <a:rPr sz="2000" b="0" i="1" u="none" dirty="0" err="1">
                <a:solidFill>
                  <a:srgbClr val="2B2F36"/>
                </a:solidFill>
                <a:latin typeface="Segoe UI"/>
              </a:rPr>
              <a:t>Mặc</a:t>
            </a:r>
            <a:r>
              <a:rPr sz="2000" b="0" i="1" u="none" dirty="0">
                <a:solidFill>
                  <a:srgbClr val="2B2F36"/>
                </a:solidFill>
                <a:latin typeface="Segoe UI"/>
              </a:rPr>
              <a:t> </a:t>
            </a:r>
            <a:r>
              <a:rPr sz="2000" b="0" i="1" u="none" dirty="0" err="1">
                <a:solidFill>
                  <a:srgbClr val="2B2F36"/>
                </a:solidFill>
                <a:latin typeface="Segoe UI"/>
              </a:rPr>
              <a:t>định</a:t>
            </a:r>
            <a:r>
              <a:rPr sz="2000" b="0" i="1" u="none" dirty="0">
                <a:solidFill>
                  <a:srgbClr val="2B2F36"/>
                </a:solidFill>
                <a:latin typeface="Segoe UI"/>
              </a:rPr>
              <a:t> </a:t>
            </a:r>
            <a:r>
              <a:rPr sz="2000" b="0" i="1" u="none" dirty="0" err="1">
                <a:solidFill>
                  <a:srgbClr val="2B2F36"/>
                </a:solidFill>
                <a:latin typeface="Segoe UI"/>
              </a:rPr>
              <a:t>lọc</a:t>
            </a:r>
            <a:r>
              <a:rPr sz="2000" b="0" i="1" u="none" dirty="0">
                <a:solidFill>
                  <a:srgbClr val="2B2F36"/>
                </a:solidFill>
                <a:latin typeface="Segoe UI"/>
              </a:rPr>
              <a:t> </a:t>
            </a:r>
            <a:r>
              <a:rPr sz="2000" b="0" i="1" u="none" dirty="0" err="1">
                <a:solidFill>
                  <a:srgbClr val="2B2F36"/>
                </a:solidFill>
                <a:latin typeface="Segoe UI"/>
              </a:rPr>
              <a:t>đơn</a:t>
            </a:r>
            <a:r>
              <a:rPr sz="2000" b="0" i="1" u="none" dirty="0">
                <a:solidFill>
                  <a:srgbClr val="2B2F36"/>
                </a:solidFill>
                <a:latin typeface="Segoe UI"/>
              </a:rPr>
              <a:t> delivered. </a:t>
            </a:r>
            <a:r>
              <a:rPr sz="2000" b="0" i="1" u="none" dirty="0" err="1">
                <a:solidFill>
                  <a:srgbClr val="2B2F36"/>
                </a:solidFill>
                <a:latin typeface="Segoe UI"/>
              </a:rPr>
              <a:t>Sử</a:t>
            </a:r>
            <a:r>
              <a:rPr sz="2000" b="0" i="1" u="none" dirty="0">
                <a:solidFill>
                  <a:srgbClr val="2B2F36"/>
                </a:solidFill>
                <a:latin typeface="Segoe UI"/>
              </a:rPr>
              <a:t> </a:t>
            </a:r>
            <a:r>
              <a:rPr sz="2000" b="0" i="1" u="none" dirty="0" err="1">
                <a:solidFill>
                  <a:srgbClr val="2B2F36"/>
                </a:solidFill>
                <a:latin typeface="Segoe UI"/>
              </a:rPr>
              <a:t>dụng</a:t>
            </a:r>
            <a:r>
              <a:rPr sz="2000" b="0" i="1" u="none" dirty="0">
                <a:solidFill>
                  <a:srgbClr val="2B2F36"/>
                </a:solidFill>
                <a:latin typeface="Segoe UI"/>
              </a:rPr>
              <a:t> </a:t>
            </a:r>
            <a:r>
              <a:rPr sz="2000" b="0" i="1" u="none" dirty="0" err="1">
                <a:solidFill>
                  <a:srgbClr val="2B2F36"/>
                </a:solidFill>
                <a:latin typeface="Segoe UI"/>
              </a:rPr>
              <a:t>nhãn</a:t>
            </a:r>
            <a:r>
              <a:rPr sz="2000" b="0" i="1" u="none" dirty="0">
                <a:solidFill>
                  <a:srgbClr val="2B2F36"/>
                </a:solidFill>
                <a:latin typeface="Segoe UI"/>
              </a:rPr>
              <a:t> </a:t>
            </a:r>
            <a:r>
              <a:rPr sz="2000" b="0" i="1" u="none" dirty="0" err="1">
                <a:solidFill>
                  <a:srgbClr val="2B2F36"/>
                </a:solidFill>
                <a:latin typeface="Segoe UI"/>
              </a:rPr>
              <a:t>trung</a:t>
            </a:r>
            <a:r>
              <a:rPr sz="2000" b="0" i="1" u="none" dirty="0">
                <a:solidFill>
                  <a:srgbClr val="2B2F36"/>
                </a:solidFill>
                <a:latin typeface="Segoe UI"/>
              </a:rPr>
              <a:t> </a:t>
            </a:r>
            <a:r>
              <a:rPr sz="2000" b="0" i="1" u="none" dirty="0" err="1">
                <a:solidFill>
                  <a:srgbClr val="2B2F36"/>
                </a:solidFill>
                <a:latin typeface="Segoe UI"/>
              </a:rPr>
              <a:t>tính</a:t>
            </a:r>
            <a:r>
              <a:rPr sz="2000" b="0" i="1" u="none" dirty="0">
                <a:solidFill>
                  <a:srgbClr val="2B2F36"/>
                </a:solidFill>
                <a:latin typeface="Segoe UI"/>
              </a:rPr>
              <a:t> "</a:t>
            </a:r>
            <a:r>
              <a:rPr sz="2000" b="0" i="1" u="none" dirty="0" err="1">
                <a:solidFill>
                  <a:srgbClr val="2B2F36"/>
                </a:solidFill>
                <a:latin typeface="Segoe UI"/>
              </a:rPr>
              <a:t>vượt</a:t>
            </a:r>
            <a:r>
              <a:rPr sz="2000" b="0" i="1" u="none" dirty="0">
                <a:solidFill>
                  <a:srgbClr val="2B2F36"/>
                </a:solidFill>
                <a:latin typeface="Segoe UI"/>
              </a:rPr>
              <a:t> </a:t>
            </a:r>
            <a:r>
              <a:rPr sz="2000" b="0" i="1" u="none" dirty="0" err="1">
                <a:solidFill>
                  <a:srgbClr val="2B2F36"/>
                </a:solidFill>
                <a:latin typeface="Segoe UI"/>
              </a:rPr>
              <a:t>dải</a:t>
            </a:r>
            <a:r>
              <a:rPr sz="2000" b="0" i="1" u="none" dirty="0">
                <a:solidFill>
                  <a:srgbClr val="2B2F36"/>
                </a:solidFill>
                <a:latin typeface="Segoe UI"/>
              </a:rPr>
              <a:t>" </a:t>
            </a:r>
            <a:r>
              <a:rPr sz="2000" b="0" i="1" u="none" dirty="0" err="1">
                <a:solidFill>
                  <a:srgbClr val="2B2F36"/>
                </a:solidFill>
                <a:latin typeface="Segoe UI"/>
              </a:rPr>
              <a:t>và</a:t>
            </a:r>
            <a:r>
              <a:rPr sz="2000" b="0" i="1" u="none" dirty="0">
                <a:solidFill>
                  <a:srgbClr val="2B2F36"/>
                </a:solidFill>
                <a:latin typeface="Segoe UI"/>
              </a:rPr>
              <a:t> "</a:t>
            </a:r>
            <a:r>
              <a:rPr sz="2000" b="0" i="1" u="none" dirty="0" err="1">
                <a:solidFill>
                  <a:srgbClr val="2B2F36"/>
                </a:solidFill>
                <a:latin typeface="Segoe UI"/>
              </a:rPr>
              <a:t>dưới</a:t>
            </a:r>
            <a:r>
              <a:rPr sz="2000" b="0" i="1" u="none" dirty="0">
                <a:solidFill>
                  <a:srgbClr val="2B2F36"/>
                </a:solidFill>
                <a:latin typeface="Segoe UI"/>
              </a:rPr>
              <a:t> </a:t>
            </a:r>
            <a:r>
              <a:rPr sz="2000" b="0" i="1" u="none" dirty="0" err="1">
                <a:solidFill>
                  <a:srgbClr val="2B2F36"/>
                </a:solidFill>
                <a:latin typeface="Segoe UI"/>
              </a:rPr>
              <a:t>dải</a:t>
            </a:r>
            <a:r>
              <a:rPr sz="2000" b="0" i="1" u="none" dirty="0">
                <a:solidFill>
                  <a:srgbClr val="2B2F36"/>
                </a:solidFill>
                <a:latin typeface="Segoe UI"/>
              </a:rPr>
              <a:t>". </a:t>
            </a:r>
          </a:p>
        </p:txBody>
      </p:sp>
      <p:sp>
        <p:nvSpPr>
          <p:cNvPr id="12" name="TextBox 11"/>
          <p:cNvSpPr txBox="1"/>
          <p:nvPr/>
        </p:nvSpPr>
        <p:spPr>
          <a:xfrm>
            <a:off x="800100" y="2433116"/>
            <a:ext cx="1792927" cy="408253"/>
          </a:xfrm>
          <a:prstGeom prst="rect">
            <a:avLst/>
          </a:prstGeom>
          <a:noFill/>
        </p:spPr>
        <p:txBody>
          <a:bodyPr wrap="none" lIns="0" tIns="0" rIns="0" bIns="0" anchor="t">
            <a:spAutoFit/>
          </a:bodyPr>
          <a:lstStyle/>
          <a:p>
            <a:pPr algn="l">
              <a:lnSpc>
                <a:spcPts val="3359"/>
              </a:lnSpc>
            </a:pPr>
            <a:r>
              <a:rPr sz="2400" b="1" i="0" u="none">
                <a:solidFill>
                  <a:srgbClr val="1F2D3D"/>
                </a:solidFill>
                <a:latin typeface="Constantia"/>
              </a:rPr>
              <a:t>1. Tổng quan</a:t>
            </a:r>
          </a:p>
        </p:txBody>
      </p:sp>
      <p:sp>
        <p:nvSpPr>
          <p:cNvPr id="13" name="TextBox 12"/>
          <p:cNvSpPr txBox="1"/>
          <p:nvPr/>
        </p:nvSpPr>
        <p:spPr>
          <a:xfrm>
            <a:off x="800100" y="2935857"/>
            <a:ext cx="3143250" cy="821122"/>
          </a:xfrm>
          <a:prstGeom prst="rect">
            <a:avLst/>
          </a:prstGeom>
          <a:noFill/>
        </p:spPr>
        <p:txBody>
          <a:bodyPr wrap="square" lIns="0" tIns="0" rIns="0" bIns="0" anchor="t">
            <a:spAutoFit/>
          </a:bodyPr>
          <a:lstStyle/>
          <a:p>
            <a:pPr algn="l">
              <a:lnSpc>
                <a:spcPts val="3375"/>
              </a:lnSpc>
            </a:pPr>
            <a:r>
              <a:rPr sz="2000" b="0" i="0" u="none" dirty="0">
                <a:solidFill>
                  <a:srgbClr val="2B2F36"/>
                </a:solidFill>
                <a:latin typeface="Segoe UI"/>
              </a:rPr>
              <a:t>Doanh </a:t>
            </a:r>
            <a:r>
              <a:rPr sz="2000" b="0" i="0" u="none" dirty="0" err="1">
                <a:solidFill>
                  <a:srgbClr val="2B2F36"/>
                </a:solidFill>
                <a:latin typeface="Segoe UI"/>
              </a:rPr>
              <a:t>thu</a:t>
            </a:r>
            <a:r>
              <a:rPr sz="2000" b="0" i="0" u="none" dirty="0">
                <a:solidFill>
                  <a:srgbClr val="2B2F36"/>
                </a:solidFill>
                <a:latin typeface="Segoe UI"/>
              </a:rPr>
              <a:t> </a:t>
            </a:r>
            <a:r>
              <a:rPr sz="2000" b="0" i="0" u="none" dirty="0" err="1">
                <a:solidFill>
                  <a:srgbClr val="2B2F36"/>
                </a:solidFill>
                <a:latin typeface="Segoe UI"/>
              </a:rPr>
              <a:t>và</a:t>
            </a:r>
            <a:r>
              <a:rPr sz="2000" b="0" i="0" u="none" dirty="0">
                <a:solidFill>
                  <a:srgbClr val="2B2F36"/>
                </a:solidFill>
                <a:latin typeface="Segoe UI"/>
              </a:rPr>
              <a:t> </a:t>
            </a:r>
            <a:r>
              <a:rPr sz="2000" b="0" i="0" u="none" dirty="0" err="1">
                <a:solidFill>
                  <a:srgbClr val="2B2F36"/>
                </a:solidFill>
                <a:latin typeface="Segoe UI"/>
              </a:rPr>
              <a:t>số</a:t>
            </a:r>
            <a:r>
              <a:rPr sz="2000" b="0" i="0" u="none" dirty="0">
                <a:solidFill>
                  <a:srgbClr val="2B2F36"/>
                </a:solidFill>
                <a:latin typeface="Segoe UI"/>
              </a:rPr>
              <a:t> </a:t>
            </a:r>
            <a:r>
              <a:rPr sz="2000" b="0" i="0" u="none" dirty="0" err="1">
                <a:solidFill>
                  <a:srgbClr val="2B2F36"/>
                </a:solidFill>
                <a:latin typeface="Segoe UI"/>
              </a:rPr>
              <a:t>hóa</a:t>
            </a:r>
            <a:r>
              <a:rPr sz="2000" b="0" i="0" u="none" dirty="0">
                <a:solidFill>
                  <a:srgbClr val="2B2F36"/>
                </a:solidFill>
                <a:latin typeface="Segoe UI"/>
              </a:rPr>
              <a:t> </a:t>
            </a:r>
            <a:r>
              <a:rPr sz="2000" b="0" i="0" u="none" dirty="0" err="1">
                <a:solidFill>
                  <a:srgbClr val="2B2F36"/>
                </a:solidFill>
                <a:latin typeface="Segoe UI"/>
              </a:rPr>
              <a:t>đơn</a:t>
            </a:r>
            <a:r>
              <a:rPr sz="2000" b="0" i="0" u="none" dirty="0">
                <a:solidFill>
                  <a:srgbClr val="2B2F36"/>
                </a:solidFill>
                <a:latin typeface="Segoe UI"/>
              </a:rPr>
              <a:t> chi </a:t>
            </a:r>
            <a:r>
              <a:rPr sz="2000" b="0" i="0" u="none" dirty="0" err="1">
                <a:solidFill>
                  <a:srgbClr val="2B2F36"/>
                </a:solidFill>
                <a:latin typeface="Segoe UI"/>
              </a:rPr>
              <a:t>tiết</a:t>
            </a:r>
            <a:r>
              <a:rPr sz="2000" b="0" i="0" u="none" dirty="0">
                <a:solidFill>
                  <a:srgbClr val="2B2F36"/>
                </a:solidFill>
                <a:latin typeface="Segoe UI"/>
              </a:rPr>
              <a:t> </a:t>
            </a:r>
            <a:r>
              <a:rPr sz="2000" b="0" i="0" u="none" dirty="0" err="1">
                <a:solidFill>
                  <a:srgbClr val="2B2F36"/>
                </a:solidFill>
                <a:latin typeface="Segoe UI"/>
              </a:rPr>
              <a:t>của</a:t>
            </a:r>
            <a:r>
              <a:rPr sz="2000" b="0" i="0" u="none" dirty="0">
                <a:solidFill>
                  <a:srgbClr val="2B2F36"/>
                </a:solidFill>
                <a:latin typeface="Segoe UI"/>
              </a:rPr>
              <a:t> </a:t>
            </a:r>
            <a:r>
              <a:rPr sz="2000" b="0" i="0" u="none" dirty="0" err="1">
                <a:solidFill>
                  <a:srgbClr val="2B2F36"/>
                </a:solidFill>
                <a:latin typeface="Segoe UI"/>
              </a:rPr>
              <a:t>từng</a:t>
            </a:r>
            <a:r>
              <a:rPr sz="2000" b="0" i="0" u="none" dirty="0">
                <a:solidFill>
                  <a:srgbClr val="2B2F36"/>
                </a:solidFill>
                <a:latin typeface="Segoe UI"/>
              </a:rPr>
              <a:t> </a:t>
            </a:r>
            <a:r>
              <a:rPr sz="2000" b="0" i="0" u="none" dirty="0" err="1">
                <a:solidFill>
                  <a:srgbClr val="2B2F36"/>
                </a:solidFill>
                <a:latin typeface="Segoe UI"/>
              </a:rPr>
              <a:t>nhân</a:t>
            </a:r>
            <a:r>
              <a:rPr sz="2000" b="0" i="0" u="none" dirty="0">
                <a:solidFill>
                  <a:srgbClr val="2B2F36"/>
                </a:solidFill>
                <a:latin typeface="Segoe UI"/>
              </a:rPr>
              <a:t> </a:t>
            </a:r>
            <a:r>
              <a:rPr sz="2000" b="0" i="0" u="none" dirty="0" err="1">
                <a:solidFill>
                  <a:srgbClr val="2B2F36"/>
                </a:solidFill>
                <a:latin typeface="Segoe UI"/>
              </a:rPr>
              <a:t>viên</a:t>
            </a:r>
            <a:r>
              <a:rPr sz="2000" b="0" i="0" u="none" dirty="0">
                <a:solidFill>
                  <a:srgbClr val="2B2F36"/>
                </a:solidFill>
                <a:latin typeface="Segoe UI"/>
              </a:rPr>
              <a:t>.</a:t>
            </a:r>
          </a:p>
        </p:txBody>
      </p:sp>
      <p:sp>
        <p:nvSpPr>
          <p:cNvPr id="14" name="TextBox 13"/>
          <p:cNvSpPr txBox="1"/>
          <p:nvPr/>
        </p:nvSpPr>
        <p:spPr>
          <a:xfrm>
            <a:off x="4533900" y="2433116"/>
            <a:ext cx="1680075" cy="408253"/>
          </a:xfrm>
          <a:prstGeom prst="rect">
            <a:avLst/>
          </a:prstGeom>
          <a:noFill/>
        </p:spPr>
        <p:txBody>
          <a:bodyPr wrap="none" lIns="0" tIns="0" rIns="0" bIns="0" anchor="t">
            <a:spAutoFit/>
          </a:bodyPr>
          <a:lstStyle/>
          <a:p>
            <a:pPr algn="l">
              <a:lnSpc>
                <a:spcPts val="3359"/>
              </a:lnSpc>
            </a:pPr>
            <a:r>
              <a:rPr sz="2400" b="1" i="0" u="none">
                <a:solidFill>
                  <a:srgbClr val="1F2D3D"/>
                </a:solidFill>
                <a:latin typeface="Constantia"/>
              </a:rPr>
              <a:t>2. Phân hóa</a:t>
            </a:r>
          </a:p>
        </p:txBody>
      </p:sp>
      <p:sp>
        <p:nvSpPr>
          <p:cNvPr id="15" name="TextBox 14"/>
          <p:cNvSpPr txBox="1"/>
          <p:nvPr/>
        </p:nvSpPr>
        <p:spPr>
          <a:xfrm>
            <a:off x="4533900" y="2935857"/>
            <a:ext cx="3143250" cy="821122"/>
          </a:xfrm>
          <a:prstGeom prst="rect">
            <a:avLst/>
          </a:prstGeom>
          <a:noFill/>
        </p:spPr>
        <p:txBody>
          <a:bodyPr wrap="square" lIns="0" tIns="0" rIns="0" bIns="0" anchor="t">
            <a:spAutoFit/>
          </a:bodyPr>
          <a:lstStyle/>
          <a:p>
            <a:pPr algn="l">
              <a:lnSpc>
                <a:spcPts val="3375"/>
              </a:lnSpc>
            </a:pPr>
            <a:r>
              <a:rPr sz="2000" b="0" i="0" u="none">
                <a:solidFill>
                  <a:srgbClr val="2B2F36"/>
                </a:solidFill>
                <a:latin typeface="Segoe UI"/>
              </a:rPr>
              <a:t>Phân loại rõ nhóm vượt dải và nhóm dưới dải.</a:t>
            </a:r>
          </a:p>
        </p:txBody>
      </p:sp>
      <p:sp>
        <p:nvSpPr>
          <p:cNvPr id="16" name="TextBox 15"/>
          <p:cNvSpPr txBox="1"/>
          <p:nvPr/>
        </p:nvSpPr>
        <p:spPr>
          <a:xfrm>
            <a:off x="8305800" y="2400003"/>
            <a:ext cx="1789529" cy="408253"/>
          </a:xfrm>
          <a:prstGeom prst="rect">
            <a:avLst/>
          </a:prstGeom>
          <a:noFill/>
        </p:spPr>
        <p:txBody>
          <a:bodyPr wrap="none" lIns="0" tIns="0" rIns="0" bIns="0" anchor="t">
            <a:spAutoFit/>
          </a:bodyPr>
          <a:lstStyle/>
          <a:p>
            <a:pPr algn="l">
              <a:lnSpc>
                <a:spcPts val="3359"/>
              </a:lnSpc>
            </a:pPr>
            <a:r>
              <a:rPr sz="2400" b="1" i="0" u="none">
                <a:solidFill>
                  <a:srgbClr val="1F2D3D"/>
                </a:solidFill>
                <a:latin typeface="Constantia"/>
              </a:rPr>
              <a:t>3. Xu hướng</a:t>
            </a:r>
          </a:p>
        </p:txBody>
      </p:sp>
      <p:sp>
        <p:nvSpPr>
          <p:cNvPr id="17" name="TextBox 16"/>
          <p:cNvSpPr txBox="1"/>
          <p:nvPr/>
        </p:nvSpPr>
        <p:spPr>
          <a:xfrm>
            <a:off x="8305800" y="2834450"/>
            <a:ext cx="3143250" cy="1062150"/>
          </a:xfrm>
          <a:prstGeom prst="rect">
            <a:avLst/>
          </a:prstGeom>
          <a:noFill/>
        </p:spPr>
        <p:txBody>
          <a:bodyPr wrap="square" lIns="0" tIns="0" rIns="0" bIns="0" anchor="t">
            <a:spAutoFit/>
          </a:bodyPr>
          <a:lstStyle/>
          <a:p>
            <a:pPr algn="l">
              <a:lnSpc>
                <a:spcPct val="150000"/>
              </a:lnSpc>
            </a:pPr>
            <a:r>
              <a:rPr sz="1600" b="0" i="0" u="none" dirty="0">
                <a:solidFill>
                  <a:srgbClr val="2B2F36"/>
                </a:solidFill>
                <a:latin typeface="Segoe UI"/>
              </a:rPr>
              <a:t>Theo </a:t>
            </a:r>
            <a:r>
              <a:rPr sz="1600" b="0" i="0" u="none" dirty="0" err="1">
                <a:solidFill>
                  <a:srgbClr val="2B2F36"/>
                </a:solidFill>
                <a:latin typeface="Segoe UI"/>
              </a:rPr>
              <a:t>dõi</a:t>
            </a:r>
            <a:r>
              <a:rPr sz="1600" b="0" i="0" u="none" dirty="0">
                <a:solidFill>
                  <a:srgbClr val="2B2F36"/>
                </a:solidFill>
                <a:latin typeface="Segoe UI"/>
              </a:rPr>
              <a:t> </a:t>
            </a:r>
            <a:r>
              <a:rPr sz="1600" b="0" i="0" u="none" dirty="0" err="1">
                <a:solidFill>
                  <a:srgbClr val="2B2F36"/>
                </a:solidFill>
                <a:latin typeface="Segoe UI"/>
              </a:rPr>
              <a:t>biến</a:t>
            </a:r>
            <a:r>
              <a:rPr sz="1600" b="0" i="0" u="none" dirty="0">
                <a:solidFill>
                  <a:srgbClr val="2B2F36"/>
                </a:solidFill>
                <a:latin typeface="Segoe UI"/>
              </a:rPr>
              <a:t> </a:t>
            </a:r>
            <a:r>
              <a:rPr sz="1600" b="0" i="0" u="none" dirty="0" err="1">
                <a:solidFill>
                  <a:srgbClr val="2B2F36"/>
                </a:solidFill>
                <a:latin typeface="Segoe UI"/>
              </a:rPr>
              <a:t>động</a:t>
            </a:r>
            <a:r>
              <a:rPr sz="1600" b="0" i="0" u="none" dirty="0">
                <a:solidFill>
                  <a:srgbClr val="2B2F36"/>
                </a:solidFill>
                <a:latin typeface="Segoe UI"/>
              </a:rPr>
              <a:t> (</a:t>
            </a:r>
            <a:r>
              <a:rPr sz="1600" b="0" i="0" u="none" dirty="0" err="1">
                <a:solidFill>
                  <a:srgbClr val="2B2F36"/>
                </a:solidFill>
                <a:latin typeface="Segoe UI"/>
              </a:rPr>
              <a:t>Số</a:t>
            </a:r>
            <a:r>
              <a:rPr sz="1600" b="0" i="0" u="none" dirty="0">
                <a:solidFill>
                  <a:srgbClr val="2B2F36"/>
                </a:solidFill>
                <a:latin typeface="Segoe UI"/>
              </a:rPr>
              <a:t> </a:t>
            </a:r>
            <a:r>
              <a:rPr sz="1600" b="0" i="0" u="none" dirty="0" err="1">
                <a:solidFill>
                  <a:srgbClr val="2B2F36"/>
                </a:solidFill>
                <a:latin typeface="Segoe UI"/>
              </a:rPr>
              <a:t>hóa</a:t>
            </a:r>
            <a:r>
              <a:rPr sz="1600" b="0" i="0" u="none" dirty="0">
                <a:solidFill>
                  <a:srgbClr val="2B2F36"/>
                </a:solidFill>
                <a:latin typeface="Segoe UI"/>
              </a:rPr>
              <a:t> </a:t>
            </a:r>
            <a:r>
              <a:rPr sz="1600" b="0" i="0" u="none" dirty="0" err="1">
                <a:solidFill>
                  <a:srgbClr val="2B2F36"/>
                </a:solidFill>
                <a:latin typeface="Segoe UI"/>
              </a:rPr>
              <a:t>đơn</a:t>
            </a:r>
            <a:r>
              <a:rPr sz="1600" b="0" i="0" u="none" dirty="0">
                <a:solidFill>
                  <a:srgbClr val="2B2F36"/>
                </a:solidFill>
                <a:latin typeface="Segoe UI"/>
              </a:rPr>
              <a:t> </a:t>
            </a:r>
            <a:r>
              <a:rPr sz="1600" b="0" i="0" u="none" dirty="0" err="1">
                <a:solidFill>
                  <a:srgbClr val="2B2F36"/>
                </a:solidFill>
                <a:latin typeface="Segoe UI"/>
              </a:rPr>
              <a:t>toàn</a:t>
            </a:r>
            <a:r>
              <a:rPr sz="1600" b="0" i="0" u="none" dirty="0">
                <a:solidFill>
                  <a:srgbClr val="2B2F36"/>
                </a:solidFill>
                <a:latin typeface="Segoe UI"/>
              </a:rPr>
              <a:t> </a:t>
            </a:r>
            <a:r>
              <a:rPr sz="1600" b="0" i="0" u="none" dirty="0" err="1">
                <a:solidFill>
                  <a:srgbClr val="2B2F36"/>
                </a:solidFill>
                <a:latin typeface="Segoe UI"/>
              </a:rPr>
              <a:t>công</a:t>
            </a:r>
            <a:r>
              <a:rPr sz="1600" b="0" i="0" u="none" dirty="0">
                <a:solidFill>
                  <a:srgbClr val="2B2F36"/>
                </a:solidFill>
                <a:latin typeface="Segoe UI"/>
              </a:rPr>
              <a:t> ty </a:t>
            </a:r>
            <a:r>
              <a:rPr sz="1600" b="0" i="0" u="none" dirty="0" err="1">
                <a:solidFill>
                  <a:srgbClr val="2B2F36"/>
                </a:solidFill>
                <a:latin typeface="Segoe UI"/>
              </a:rPr>
              <a:t>giảm</a:t>
            </a:r>
            <a:r>
              <a:rPr sz="1600" b="0" i="0" u="none" dirty="0">
                <a:solidFill>
                  <a:srgbClr val="2B2F36"/>
                </a:solidFill>
                <a:latin typeface="Segoe UI"/>
              </a:rPr>
              <a:t> </a:t>
            </a:r>
            <a:r>
              <a:rPr sz="1600" b="0" i="0" u="none" dirty="0" err="1">
                <a:solidFill>
                  <a:srgbClr val="2B2F36"/>
                </a:solidFill>
                <a:latin typeface="Segoe UI"/>
              </a:rPr>
              <a:t>từ</a:t>
            </a:r>
            <a:r>
              <a:rPr sz="1600" b="0" i="0" u="none" dirty="0">
                <a:solidFill>
                  <a:srgbClr val="2B2F36"/>
                </a:solidFill>
                <a:latin typeface="Segoe UI"/>
              </a:rPr>
              <a:t> 55.7k </a:t>
            </a:r>
            <a:r>
              <a:rPr sz="1600" b="0" i="0" u="none" dirty="0" err="1">
                <a:solidFill>
                  <a:srgbClr val="2B2F36"/>
                </a:solidFill>
                <a:latin typeface="Segoe UI"/>
              </a:rPr>
              <a:t>năm</a:t>
            </a:r>
            <a:r>
              <a:rPr sz="1600" b="0" i="0" u="none" dirty="0">
                <a:solidFill>
                  <a:srgbClr val="2B2F36"/>
                </a:solidFill>
                <a:latin typeface="Segoe UI"/>
              </a:rPr>
              <a:t> 2018 </a:t>
            </a:r>
            <a:r>
              <a:rPr sz="1600" b="0" i="0" u="none" dirty="0" err="1">
                <a:solidFill>
                  <a:srgbClr val="2B2F36"/>
                </a:solidFill>
                <a:latin typeface="Segoe UI"/>
              </a:rPr>
              <a:t>xuống</a:t>
            </a:r>
            <a:r>
              <a:rPr sz="1600" b="0" i="0" u="none" dirty="0">
                <a:solidFill>
                  <a:srgbClr val="2B2F36"/>
                </a:solidFill>
                <a:latin typeface="Segoe UI"/>
              </a:rPr>
              <a:t> 33.2k </a:t>
            </a:r>
            <a:r>
              <a:rPr sz="1600" b="0" i="0" u="none" dirty="0" err="1">
                <a:solidFill>
                  <a:srgbClr val="2B2F36"/>
                </a:solidFill>
                <a:latin typeface="Segoe UI"/>
              </a:rPr>
              <a:t>năm</a:t>
            </a:r>
            <a:r>
              <a:rPr sz="1600" b="0" i="0" u="none" dirty="0">
                <a:solidFill>
                  <a:srgbClr val="2B2F36"/>
                </a:solidFill>
                <a:latin typeface="Segoe UI"/>
              </a:rPr>
              <a:t> 2019).</a:t>
            </a:r>
          </a:p>
        </p:txBody>
      </p:sp>
      <p:sp>
        <p:nvSpPr>
          <p:cNvPr id="18" name="TextBox 17"/>
          <p:cNvSpPr txBox="1"/>
          <p:nvPr/>
        </p:nvSpPr>
        <p:spPr>
          <a:xfrm>
            <a:off x="800100" y="4295633"/>
            <a:ext cx="1466555" cy="408253"/>
          </a:xfrm>
          <a:prstGeom prst="rect">
            <a:avLst/>
          </a:prstGeom>
          <a:noFill/>
        </p:spPr>
        <p:txBody>
          <a:bodyPr wrap="square" lIns="0" tIns="0" rIns="0" bIns="0" anchor="t">
            <a:spAutoFit/>
          </a:bodyPr>
          <a:lstStyle/>
          <a:p>
            <a:pPr algn="l">
              <a:lnSpc>
                <a:spcPts val="3359"/>
              </a:lnSpc>
            </a:pPr>
            <a:r>
              <a:rPr sz="2400" b="1" i="0" u="none" dirty="0">
                <a:solidFill>
                  <a:srgbClr val="1F2D3D"/>
                </a:solidFill>
                <a:latin typeface="Constantia"/>
              </a:rPr>
              <a:t>4. Phục </a:t>
            </a:r>
            <a:r>
              <a:rPr sz="2400" b="1" i="0" u="none" dirty="0" err="1">
                <a:solidFill>
                  <a:srgbClr val="1F2D3D"/>
                </a:solidFill>
                <a:latin typeface="Constantia"/>
              </a:rPr>
              <a:t>vụ</a:t>
            </a:r>
            <a:endParaRPr sz="2400" b="1" i="0" u="none" dirty="0">
              <a:solidFill>
                <a:srgbClr val="1F2D3D"/>
              </a:solidFill>
              <a:latin typeface="Constantia"/>
            </a:endParaRPr>
          </a:p>
        </p:txBody>
      </p:sp>
      <p:sp>
        <p:nvSpPr>
          <p:cNvPr id="19" name="TextBox 18"/>
          <p:cNvSpPr txBox="1"/>
          <p:nvPr/>
        </p:nvSpPr>
        <p:spPr>
          <a:xfrm>
            <a:off x="800100" y="4747860"/>
            <a:ext cx="4972050" cy="832728"/>
          </a:xfrm>
          <a:prstGeom prst="rect">
            <a:avLst/>
          </a:prstGeom>
          <a:noFill/>
        </p:spPr>
        <p:txBody>
          <a:bodyPr wrap="square" lIns="0" tIns="0" rIns="0" bIns="0" anchor="t">
            <a:spAutoFit/>
          </a:bodyPr>
          <a:lstStyle/>
          <a:p>
            <a:pPr algn="l">
              <a:lnSpc>
                <a:spcPts val="3375"/>
              </a:lnSpc>
            </a:pPr>
            <a:r>
              <a:rPr sz="2000" b="0" i="0" u="none" dirty="0" err="1">
                <a:solidFill>
                  <a:srgbClr val="2B2F36"/>
                </a:solidFill>
                <a:latin typeface="Segoe UI"/>
              </a:rPr>
              <a:t>Đánh</a:t>
            </a:r>
            <a:r>
              <a:rPr sz="2000" b="0" i="0" u="none" dirty="0">
                <a:solidFill>
                  <a:srgbClr val="2B2F36"/>
                </a:solidFill>
                <a:latin typeface="Segoe UI"/>
              </a:rPr>
              <a:t> </a:t>
            </a:r>
            <a:r>
              <a:rPr sz="2000" b="0" i="0" u="none" dirty="0" err="1">
                <a:solidFill>
                  <a:srgbClr val="2B2F36"/>
                </a:solidFill>
                <a:latin typeface="Segoe UI"/>
              </a:rPr>
              <a:t>giá</a:t>
            </a:r>
            <a:r>
              <a:rPr sz="2000" b="0" i="0" u="none" dirty="0">
                <a:solidFill>
                  <a:srgbClr val="2B2F36"/>
                </a:solidFill>
                <a:latin typeface="Segoe UI"/>
              </a:rPr>
              <a:t> </a:t>
            </a:r>
            <a:r>
              <a:rPr sz="2000" b="0" i="0" u="none" dirty="0" err="1">
                <a:solidFill>
                  <a:srgbClr val="2B2F36"/>
                </a:solidFill>
                <a:latin typeface="Segoe UI"/>
              </a:rPr>
              <a:t>chất</a:t>
            </a:r>
            <a:r>
              <a:rPr sz="2000" b="0" i="0" u="none" dirty="0">
                <a:solidFill>
                  <a:srgbClr val="2B2F36"/>
                </a:solidFill>
                <a:latin typeface="Segoe UI"/>
              </a:rPr>
              <a:t> </a:t>
            </a:r>
            <a:r>
              <a:rPr sz="2000" b="0" i="0" u="none" dirty="0" err="1">
                <a:solidFill>
                  <a:srgbClr val="2B2F36"/>
                </a:solidFill>
                <a:latin typeface="Segoe UI"/>
              </a:rPr>
              <a:t>lượng</a:t>
            </a:r>
            <a:r>
              <a:rPr sz="2000" b="0" i="0" u="none" dirty="0">
                <a:solidFill>
                  <a:srgbClr val="2B2F36"/>
                </a:solidFill>
                <a:latin typeface="Segoe UI"/>
              </a:rPr>
              <a:t> </a:t>
            </a:r>
            <a:r>
              <a:rPr sz="2000" b="0" i="0" u="none" dirty="0" err="1">
                <a:solidFill>
                  <a:srgbClr val="2B2F36"/>
                </a:solidFill>
                <a:latin typeface="Segoe UI"/>
              </a:rPr>
              <a:t>phục</a:t>
            </a:r>
            <a:r>
              <a:rPr sz="2000" b="0" i="0" u="none" dirty="0">
                <a:solidFill>
                  <a:srgbClr val="2B2F36"/>
                </a:solidFill>
                <a:latin typeface="Segoe UI"/>
              </a:rPr>
              <a:t> </a:t>
            </a:r>
            <a:r>
              <a:rPr sz="2000" b="0" i="0" u="none" dirty="0" err="1">
                <a:solidFill>
                  <a:srgbClr val="2B2F36"/>
                </a:solidFill>
                <a:latin typeface="Segoe UI"/>
              </a:rPr>
              <a:t>vụ</a:t>
            </a:r>
            <a:r>
              <a:rPr sz="2000" b="0" i="0" u="none" dirty="0">
                <a:solidFill>
                  <a:srgbClr val="2B2F36"/>
                </a:solidFill>
                <a:latin typeface="Segoe UI"/>
              </a:rPr>
              <a:t> </a:t>
            </a:r>
            <a:r>
              <a:rPr sz="2000" b="0" i="0" u="none" dirty="0" err="1">
                <a:solidFill>
                  <a:srgbClr val="2B2F36"/>
                </a:solidFill>
                <a:latin typeface="Segoe UI"/>
              </a:rPr>
              <a:t>khách</a:t>
            </a:r>
            <a:r>
              <a:rPr sz="2000" b="0" i="0" u="none" dirty="0">
                <a:solidFill>
                  <a:srgbClr val="2B2F36"/>
                </a:solidFill>
                <a:latin typeface="Segoe UI"/>
              </a:rPr>
              <a:t> </a:t>
            </a:r>
            <a:r>
              <a:rPr sz="2000" b="0" i="0" u="none" dirty="0" err="1">
                <a:solidFill>
                  <a:srgbClr val="2B2F36"/>
                </a:solidFill>
                <a:latin typeface="Segoe UI"/>
              </a:rPr>
              <a:t>hàng</a:t>
            </a:r>
            <a:r>
              <a:rPr sz="2000" b="0" i="0" u="none" dirty="0">
                <a:solidFill>
                  <a:srgbClr val="2B2F36"/>
                </a:solidFill>
                <a:latin typeface="Segoe UI"/>
              </a:rPr>
              <a:t> </a:t>
            </a:r>
            <a:r>
              <a:rPr sz="2000" b="0" i="0" u="none" dirty="0" err="1">
                <a:solidFill>
                  <a:srgbClr val="2B2F36"/>
                </a:solidFill>
                <a:latin typeface="Segoe UI"/>
              </a:rPr>
              <a:t>của</a:t>
            </a:r>
            <a:r>
              <a:rPr sz="2000" b="0" i="0" u="none" dirty="0">
                <a:solidFill>
                  <a:srgbClr val="2B2F36"/>
                </a:solidFill>
                <a:latin typeface="Segoe UI"/>
              </a:rPr>
              <a:t> </a:t>
            </a:r>
            <a:r>
              <a:rPr sz="2000" b="0" i="0" u="none" dirty="0" err="1">
                <a:solidFill>
                  <a:srgbClr val="2B2F36"/>
                </a:solidFill>
                <a:latin typeface="Segoe UI"/>
              </a:rPr>
              <a:t>từng</a:t>
            </a:r>
            <a:r>
              <a:rPr sz="2000" b="0" i="0" u="none" dirty="0">
                <a:solidFill>
                  <a:srgbClr val="2B2F36"/>
                </a:solidFill>
                <a:latin typeface="Segoe UI"/>
              </a:rPr>
              <a:t> </a:t>
            </a:r>
            <a:r>
              <a:rPr sz="2000" b="0" i="0" u="none" dirty="0" err="1">
                <a:solidFill>
                  <a:srgbClr val="2B2F36"/>
                </a:solidFill>
                <a:latin typeface="Segoe UI"/>
              </a:rPr>
              <a:t>nhân</a:t>
            </a:r>
            <a:r>
              <a:rPr sz="2000" b="0" i="0" u="none" dirty="0">
                <a:solidFill>
                  <a:srgbClr val="2B2F36"/>
                </a:solidFill>
                <a:latin typeface="Segoe UI"/>
              </a:rPr>
              <a:t> </a:t>
            </a:r>
            <a:r>
              <a:rPr sz="2000" b="0" i="0" u="none" dirty="0" err="1">
                <a:solidFill>
                  <a:srgbClr val="2B2F36"/>
                </a:solidFill>
                <a:latin typeface="Segoe UI"/>
              </a:rPr>
              <a:t>sự</a:t>
            </a:r>
            <a:r>
              <a:rPr sz="2000" b="0" i="0" u="none" dirty="0">
                <a:solidFill>
                  <a:srgbClr val="2B2F36"/>
                </a:solidFill>
                <a:latin typeface="Segoe UI"/>
              </a:rPr>
              <a:t>.</a:t>
            </a:r>
          </a:p>
        </p:txBody>
      </p:sp>
      <p:sp>
        <p:nvSpPr>
          <p:cNvPr id="20" name="TextBox 19"/>
          <p:cNvSpPr txBox="1"/>
          <p:nvPr/>
        </p:nvSpPr>
        <p:spPr>
          <a:xfrm>
            <a:off x="6248400" y="4339608"/>
            <a:ext cx="1627882" cy="408253"/>
          </a:xfrm>
          <a:prstGeom prst="rect">
            <a:avLst/>
          </a:prstGeom>
          <a:noFill/>
        </p:spPr>
        <p:txBody>
          <a:bodyPr wrap="none" lIns="0" tIns="0" rIns="0" bIns="0" anchor="t">
            <a:spAutoFit/>
          </a:bodyPr>
          <a:lstStyle/>
          <a:p>
            <a:pPr algn="l">
              <a:lnSpc>
                <a:spcPts val="3359"/>
              </a:lnSpc>
            </a:pPr>
            <a:r>
              <a:rPr sz="2400" b="1" i="0" u="none">
                <a:solidFill>
                  <a:srgbClr val="1F2D3D"/>
                </a:solidFill>
                <a:latin typeface="Constantia"/>
              </a:rPr>
              <a:t>5. Hiệu quả</a:t>
            </a:r>
          </a:p>
        </p:txBody>
      </p:sp>
      <p:sp>
        <p:nvSpPr>
          <p:cNvPr id="21" name="TextBox 20"/>
          <p:cNvSpPr txBox="1"/>
          <p:nvPr/>
        </p:nvSpPr>
        <p:spPr>
          <a:xfrm>
            <a:off x="6248400" y="4842350"/>
            <a:ext cx="4972050" cy="832728"/>
          </a:xfrm>
          <a:prstGeom prst="rect">
            <a:avLst/>
          </a:prstGeom>
          <a:noFill/>
        </p:spPr>
        <p:txBody>
          <a:bodyPr wrap="square" lIns="0" tIns="0" rIns="0" bIns="0" anchor="t">
            <a:spAutoFit/>
          </a:bodyPr>
          <a:lstStyle/>
          <a:p>
            <a:pPr algn="l">
              <a:lnSpc>
                <a:spcPts val="3375"/>
              </a:lnSpc>
            </a:pPr>
            <a:r>
              <a:rPr sz="2000" b="0" i="0" u="none">
                <a:solidFill>
                  <a:srgbClr val="2B2F36"/>
                </a:solidFill>
                <a:latin typeface="Segoe UI"/>
              </a:rPr>
              <a:t>Hiệu quả hoàn tất đơn và đề xuất khen thưởng, đào tạo.</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3EC"/>
        </a:solidFill>
        <a:effectLst/>
      </p:bgPr>
    </p:bg>
    <p:spTree>
      <p:nvGrpSpPr>
        <p:cNvPr id="1" name=""/>
        <p:cNvGrpSpPr/>
        <p:nvPr/>
      </p:nvGrpSpPr>
      <p:grpSpPr>
        <a:xfrm>
          <a:off x="0" y="0"/>
          <a:ext cx="0" cy="0"/>
          <a:chOff x="0" y="0"/>
          <a:chExt cx="0" cy="0"/>
        </a:xfrm>
      </p:grpSpPr>
      <p:sp>
        <p:nvSpPr>
          <p:cNvPr id="2" name="Rounded Rectangle 1"/>
          <p:cNvSpPr/>
          <p:nvPr/>
        </p:nvSpPr>
        <p:spPr>
          <a:xfrm>
            <a:off x="609600" y="2362200"/>
            <a:ext cx="5334000" cy="4283123"/>
          </a:xfrm>
          <a:prstGeom prst="roundRect">
            <a:avLst>
              <a:gd name="adj" fmla="val 2117"/>
            </a:avLst>
          </a:prstGeom>
          <a:solidFill>
            <a:srgbClr val="FA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6248400" y="2362201"/>
            <a:ext cx="5334000" cy="4094558"/>
          </a:xfrm>
          <a:prstGeom prst="roundRect">
            <a:avLst>
              <a:gd name="adj" fmla="val 2365"/>
            </a:avLst>
          </a:prstGeom>
          <a:solidFill>
            <a:srgbClr val="FAF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09600" y="457200"/>
            <a:ext cx="1646156" cy="408317"/>
          </a:xfrm>
          <a:prstGeom prst="rect">
            <a:avLst/>
          </a:prstGeom>
          <a:noFill/>
        </p:spPr>
        <p:txBody>
          <a:bodyPr wrap="none" lIns="0" tIns="0" rIns="0" bIns="0" anchor="t">
            <a:spAutoFit/>
          </a:bodyPr>
          <a:lstStyle/>
          <a:p>
            <a:pPr algn="l">
              <a:lnSpc>
                <a:spcPts val="3359"/>
              </a:lnSpc>
            </a:pPr>
            <a:r>
              <a:rPr sz="2799" b="1" i="0" u="none" dirty="0">
                <a:solidFill>
                  <a:srgbClr val="0F172A"/>
                </a:solidFill>
                <a:latin typeface="Segoe UI"/>
              </a:rPr>
              <a:t>12 · OLAP</a:t>
            </a:r>
          </a:p>
        </p:txBody>
      </p:sp>
      <p:sp>
        <p:nvSpPr>
          <p:cNvPr id="5" name="TextBox 4"/>
          <p:cNvSpPr txBox="1"/>
          <p:nvPr/>
        </p:nvSpPr>
        <p:spPr>
          <a:xfrm>
            <a:off x="609600" y="959941"/>
            <a:ext cx="5179495" cy="525785"/>
          </a:xfrm>
          <a:prstGeom prst="rect">
            <a:avLst/>
          </a:prstGeom>
          <a:noFill/>
        </p:spPr>
        <p:txBody>
          <a:bodyPr wrap="none" lIns="0" tIns="0" rIns="0" bIns="0" anchor="t">
            <a:spAutoFit/>
          </a:bodyPr>
          <a:lstStyle/>
          <a:p>
            <a:pPr algn="l">
              <a:lnSpc>
                <a:spcPts val="4140"/>
              </a:lnSpc>
            </a:pPr>
            <a:r>
              <a:rPr sz="3600" b="1" i="0" u="none" dirty="0" err="1">
                <a:solidFill>
                  <a:srgbClr val="1F2D3D"/>
                </a:solidFill>
                <a:latin typeface="Constantia"/>
              </a:rPr>
              <a:t>Khối</a:t>
            </a:r>
            <a:r>
              <a:rPr sz="3600" b="1" i="0" u="none" dirty="0">
                <a:solidFill>
                  <a:srgbClr val="1F2D3D"/>
                </a:solidFill>
                <a:latin typeface="Constantia"/>
              </a:rPr>
              <a:t> </a:t>
            </a:r>
            <a:r>
              <a:rPr sz="3600" b="1" i="0" u="none" dirty="0" err="1">
                <a:solidFill>
                  <a:srgbClr val="1F2D3D"/>
                </a:solidFill>
                <a:latin typeface="Constantia"/>
              </a:rPr>
              <a:t>SalesPerformance</a:t>
            </a:r>
            <a:endParaRPr sz="3600" b="1" i="0" u="none" dirty="0">
              <a:solidFill>
                <a:srgbClr val="1F2D3D"/>
              </a:solidFill>
              <a:latin typeface="Constantia"/>
            </a:endParaRPr>
          </a:p>
        </p:txBody>
      </p:sp>
      <p:sp>
        <p:nvSpPr>
          <p:cNvPr id="6" name="TextBox 5"/>
          <p:cNvSpPr txBox="1"/>
          <p:nvPr/>
        </p:nvSpPr>
        <p:spPr>
          <a:xfrm>
            <a:off x="609600" y="1599902"/>
            <a:ext cx="10975762" cy="441018"/>
          </a:xfrm>
          <a:prstGeom prst="rect">
            <a:avLst/>
          </a:prstGeom>
          <a:noFill/>
        </p:spPr>
        <p:txBody>
          <a:bodyPr wrap="none" lIns="0" tIns="0" rIns="0" bIns="0" anchor="t">
            <a:spAutoFit/>
          </a:bodyPr>
          <a:lstStyle/>
          <a:p>
            <a:pPr algn="l">
              <a:lnSpc>
                <a:spcPts val="3600"/>
              </a:lnSpc>
            </a:pPr>
            <a:r>
              <a:rPr lang="vi-VN" sz="2800" b="0" i="0" u="none" dirty="0">
                <a:solidFill>
                  <a:srgbClr val="2B2F36"/>
                </a:solidFill>
                <a:latin typeface="Constantia"/>
              </a:rPr>
              <a:t>Năm thao tác OLAP giúp khai thác doanh thu đa chiều từ Star Schema.</a:t>
            </a:r>
            <a:endParaRPr sz="2800" b="0" i="0" u="none" dirty="0">
              <a:solidFill>
                <a:srgbClr val="2B2F36"/>
              </a:solidFill>
              <a:latin typeface="Constantia"/>
            </a:endParaRPr>
          </a:p>
        </p:txBody>
      </p:sp>
      <p:sp>
        <p:nvSpPr>
          <p:cNvPr id="7" name="TextBox 6"/>
          <p:cNvSpPr txBox="1"/>
          <p:nvPr/>
        </p:nvSpPr>
        <p:spPr>
          <a:xfrm>
            <a:off x="838200" y="2663075"/>
            <a:ext cx="6096000" cy="426541"/>
          </a:xfrm>
          <a:prstGeom prst="rect">
            <a:avLst/>
          </a:prstGeom>
          <a:noFill/>
        </p:spPr>
        <p:txBody>
          <a:bodyPr wrap="none" lIns="0" tIns="0" rIns="0" bIns="0" anchor="t">
            <a:spAutoFit/>
          </a:bodyPr>
          <a:lstStyle/>
          <a:p>
            <a:pPr algn="l">
              <a:lnSpc>
                <a:spcPts val="3359"/>
              </a:lnSpc>
            </a:pPr>
            <a:r>
              <a:rPr sz="2799" b="1" i="0" u="none" dirty="0">
                <a:solidFill>
                  <a:srgbClr val="1F2D3D"/>
                </a:solidFill>
                <a:latin typeface="Constantia"/>
              </a:rPr>
              <a:t>Các </a:t>
            </a:r>
            <a:r>
              <a:rPr sz="2799" b="1" i="0" u="none" dirty="0" err="1">
                <a:solidFill>
                  <a:srgbClr val="1F2D3D"/>
                </a:solidFill>
                <a:latin typeface="Constantia"/>
              </a:rPr>
              <a:t>thao</a:t>
            </a:r>
            <a:r>
              <a:rPr sz="2799" b="1" i="0" u="none" dirty="0">
                <a:solidFill>
                  <a:srgbClr val="1F2D3D"/>
                </a:solidFill>
                <a:latin typeface="Constantia"/>
              </a:rPr>
              <a:t> </a:t>
            </a:r>
            <a:r>
              <a:rPr sz="2799" b="1" i="0" u="none" dirty="0" err="1">
                <a:solidFill>
                  <a:srgbClr val="1F2D3D"/>
                </a:solidFill>
                <a:latin typeface="Constantia"/>
              </a:rPr>
              <a:t>tác</a:t>
            </a:r>
            <a:r>
              <a:rPr sz="2799" b="1" i="0" u="none" dirty="0">
                <a:solidFill>
                  <a:srgbClr val="1F2D3D"/>
                </a:solidFill>
                <a:latin typeface="Constantia"/>
              </a:rPr>
              <a:t> OLAP</a:t>
            </a:r>
          </a:p>
        </p:txBody>
      </p:sp>
      <p:sp>
        <p:nvSpPr>
          <p:cNvPr id="8" name="TextBox 7"/>
          <p:cNvSpPr txBox="1"/>
          <p:nvPr/>
        </p:nvSpPr>
        <p:spPr>
          <a:xfrm>
            <a:off x="838200" y="3307952"/>
            <a:ext cx="4972050" cy="2654958"/>
          </a:xfrm>
          <a:prstGeom prst="rect">
            <a:avLst/>
          </a:prstGeom>
          <a:noFill/>
        </p:spPr>
        <p:txBody>
          <a:bodyPr wrap="square" lIns="0" tIns="0" rIns="0" bIns="0" anchor="t">
            <a:spAutoFit/>
          </a:bodyPr>
          <a:lstStyle/>
          <a:p>
            <a:pPr algn="l">
              <a:lnSpc>
                <a:spcPts val="2970"/>
              </a:lnSpc>
            </a:pPr>
            <a:r>
              <a:rPr sz="2400" b="0" i="0" u="none" dirty="0">
                <a:solidFill>
                  <a:srgbClr val="2B2F36"/>
                </a:solidFill>
                <a:latin typeface="Segoe UI"/>
              </a:rPr>
              <a:t>• </a:t>
            </a:r>
            <a:r>
              <a:rPr sz="2400" b="1" i="0" u="none" dirty="0">
                <a:solidFill>
                  <a:srgbClr val="2B2F36"/>
                </a:solidFill>
                <a:latin typeface="Segoe UI"/>
              </a:rPr>
              <a:t>Roll-up:</a:t>
            </a:r>
            <a:r>
              <a:rPr sz="2400" b="0" i="0" u="none" dirty="0">
                <a:solidFill>
                  <a:srgbClr val="2B2F36"/>
                </a:solidFill>
                <a:latin typeface="Segoe UI"/>
              </a:rPr>
              <a:t> </a:t>
            </a:r>
            <a:r>
              <a:rPr sz="2400" b="0" i="0" u="none" dirty="0" err="1">
                <a:solidFill>
                  <a:srgbClr val="2B2F36"/>
                </a:solidFill>
                <a:latin typeface="Segoe UI"/>
              </a:rPr>
              <a:t>Gộp</a:t>
            </a:r>
            <a:r>
              <a:rPr sz="2400" b="0" i="0" u="none" dirty="0">
                <a:solidFill>
                  <a:srgbClr val="2B2F36"/>
                </a:solidFill>
                <a:latin typeface="Segoe UI"/>
              </a:rPr>
              <a:t> </a:t>
            </a:r>
            <a:r>
              <a:rPr sz="2400" b="0" i="0" u="none" dirty="0" err="1">
                <a:solidFill>
                  <a:srgbClr val="2B2F36"/>
                </a:solidFill>
                <a:latin typeface="Segoe UI"/>
              </a:rPr>
              <a:t>tháng</a:t>
            </a:r>
            <a:r>
              <a:rPr sz="2400" b="0" i="0" u="none" dirty="0">
                <a:solidFill>
                  <a:srgbClr val="2B2F36"/>
                </a:solidFill>
                <a:latin typeface="Segoe UI"/>
              </a:rPr>
              <a:t> → </a:t>
            </a:r>
            <a:r>
              <a:rPr sz="2400" b="0" i="0" u="none" dirty="0" err="1">
                <a:solidFill>
                  <a:srgbClr val="2B2F36"/>
                </a:solidFill>
                <a:latin typeface="Segoe UI"/>
              </a:rPr>
              <a:t>quý</a:t>
            </a:r>
            <a:r>
              <a:rPr sz="2400" b="0" i="0" u="none" dirty="0">
                <a:solidFill>
                  <a:srgbClr val="2B2F36"/>
                </a:solidFill>
                <a:latin typeface="Segoe UI"/>
              </a:rPr>
              <a:t> → </a:t>
            </a:r>
            <a:r>
              <a:rPr sz="2400" b="0" i="0" u="none" dirty="0" err="1">
                <a:solidFill>
                  <a:srgbClr val="2B2F36"/>
                </a:solidFill>
                <a:latin typeface="Segoe UI"/>
              </a:rPr>
              <a:t>năm</a:t>
            </a:r>
            <a:r>
              <a:rPr sz="2400" b="0" i="0" u="none" dirty="0">
                <a:solidFill>
                  <a:srgbClr val="2B2F36"/>
                </a:solidFill>
                <a:latin typeface="Segoe UI"/>
              </a:rPr>
              <a:t>.</a:t>
            </a:r>
            <a:r>
              <a:rPr dirty="0"/>
              <a:t>
</a:t>
            </a:r>
            <a:r>
              <a:rPr sz="2400" b="0" i="0" u="none" dirty="0">
                <a:solidFill>
                  <a:srgbClr val="2B2F36"/>
                </a:solidFill>
                <a:latin typeface="Segoe UI"/>
              </a:rPr>
              <a:t> • </a:t>
            </a:r>
            <a:r>
              <a:rPr sz="2400" b="1" i="0" u="none" dirty="0">
                <a:solidFill>
                  <a:srgbClr val="2B2F36"/>
                </a:solidFill>
                <a:latin typeface="Segoe UI"/>
              </a:rPr>
              <a:t>Drill-down:</a:t>
            </a:r>
            <a:r>
              <a:rPr sz="2400" b="0" i="0" u="none" dirty="0">
                <a:solidFill>
                  <a:srgbClr val="2B2F36"/>
                </a:solidFill>
                <a:latin typeface="Segoe UI"/>
              </a:rPr>
              <a:t> </a:t>
            </a:r>
            <a:r>
              <a:rPr sz="2400" b="0" i="0" u="none" dirty="0" err="1">
                <a:solidFill>
                  <a:srgbClr val="2B2F36"/>
                </a:solidFill>
                <a:latin typeface="Segoe UI"/>
              </a:rPr>
              <a:t>Khoan</a:t>
            </a:r>
            <a:r>
              <a:rPr sz="2400" b="0" i="0" u="none" dirty="0">
                <a:solidFill>
                  <a:srgbClr val="2B2F36"/>
                </a:solidFill>
                <a:latin typeface="Segoe UI"/>
              </a:rPr>
              <a:t> </a:t>
            </a:r>
            <a:r>
              <a:rPr sz="2400" b="0" i="0" u="none" dirty="0" err="1">
                <a:solidFill>
                  <a:srgbClr val="2B2F36"/>
                </a:solidFill>
                <a:latin typeface="Segoe UI"/>
              </a:rPr>
              <a:t>năm</a:t>
            </a:r>
            <a:r>
              <a:rPr sz="2400" b="0" i="0" u="none" dirty="0">
                <a:solidFill>
                  <a:srgbClr val="2B2F36"/>
                </a:solidFill>
                <a:latin typeface="Segoe UI"/>
              </a:rPr>
              <a:t> → </a:t>
            </a:r>
            <a:r>
              <a:rPr sz="2400" b="0" i="0" u="none" dirty="0" err="1">
                <a:solidFill>
                  <a:srgbClr val="2B2F36"/>
                </a:solidFill>
                <a:latin typeface="Segoe UI"/>
              </a:rPr>
              <a:t>quý</a:t>
            </a:r>
            <a:r>
              <a:rPr sz="2400" b="0" i="0" u="none" dirty="0">
                <a:solidFill>
                  <a:srgbClr val="2B2F36"/>
                </a:solidFill>
                <a:latin typeface="Segoe UI"/>
              </a:rPr>
              <a:t> → </a:t>
            </a:r>
            <a:r>
              <a:rPr sz="2400" b="0" i="0" u="none" dirty="0" err="1">
                <a:solidFill>
                  <a:srgbClr val="2B2F36"/>
                </a:solidFill>
                <a:latin typeface="Segoe UI"/>
              </a:rPr>
              <a:t>tháng</a:t>
            </a:r>
            <a:r>
              <a:rPr sz="2400" b="0" i="0" u="none" dirty="0">
                <a:solidFill>
                  <a:srgbClr val="2B2F36"/>
                </a:solidFill>
                <a:latin typeface="Segoe UI"/>
              </a:rPr>
              <a:t>.</a:t>
            </a:r>
            <a:r>
              <a:rPr dirty="0"/>
              <a:t>
</a:t>
            </a:r>
            <a:r>
              <a:rPr sz="2400" b="0" i="0" u="none" dirty="0">
                <a:solidFill>
                  <a:srgbClr val="2B2F36"/>
                </a:solidFill>
                <a:latin typeface="Segoe UI"/>
              </a:rPr>
              <a:t> • </a:t>
            </a:r>
            <a:r>
              <a:rPr sz="2400" b="1" i="0" u="none" dirty="0">
                <a:solidFill>
                  <a:srgbClr val="2B2F36"/>
                </a:solidFill>
                <a:latin typeface="Segoe UI"/>
              </a:rPr>
              <a:t>Slice:</a:t>
            </a:r>
            <a:r>
              <a:rPr sz="2400" b="0" i="0" u="none" dirty="0">
                <a:solidFill>
                  <a:srgbClr val="2B2F36"/>
                </a:solidFill>
                <a:latin typeface="Segoe UI"/>
              </a:rPr>
              <a:t> </a:t>
            </a:r>
            <a:r>
              <a:rPr sz="2400" b="0" i="0" u="none" dirty="0" err="1">
                <a:solidFill>
                  <a:srgbClr val="2B2F36"/>
                </a:solidFill>
                <a:latin typeface="Segoe UI"/>
              </a:rPr>
              <a:t>Cố</a:t>
            </a:r>
            <a:r>
              <a:rPr sz="2400" b="0" i="0" u="none" dirty="0">
                <a:solidFill>
                  <a:srgbClr val="2B2F36"/>
                </a:solidFill>
                <a:latin typeface="Segoe UI"/>
              </a:rPr>
              <a:t> </a:t>
            </a:r>
            <a:r>
              <a:rPr sz="2400" b="0" i="0" u="none" dirty="0" err="1">
                <a:solidFill>
                  <a:srgbClr val="2B2F36"/>
                </a:solidFill>
                <a:latin typeface="Segoe UI"/>
              </a:rPr>
              <a:t>định</a:t>
            </a:r>
            <a:r>
              <a:rPr sz="2400" b="0" i="0" u="none" dirty="0">
                <a:solidFill>
                  <a:srgbClr val="2B2F36"/>
                </a:solidFill>
                <a:latin typeface="Segoe UI"/>
              </a:rPr>
              <a:t> </a:t>
            </a:r>
            <a:r>
              <a:rPr sz="2400" b="0" i="0" u="none" dirty="0" err="1">
                <a:solidFill>
                  <a:srgbClr val="2B2F36"/>
                </a:solidFill>
                <a:latin typeface="Segoe UI"/>
              </a:rPr>
              <a:t>trạng</a:t>
            </a:r>
            <a:r>
              <a:rPr sz="2400" b="0" i="0" u="none" dirty="0">
                <a:solidFill>
                  <a:srgbClr val="2B2F36"/>
                </a:solidFill>
                <a:latin typeface="Segoe UI"/>
              </a:rPr>
              <a:t> </a:t>
            </a:r>
            <a:r>
              <a:rPr sz="2400" b="0" i="0" u="none" dirty="0" err="1">
                <a:solidFill>
                  <a:srgbClr val="2B2F36"/>
                </a:solidFill>
                <a:latin typeface="Segoe UI"/>
              </a:rPr>
              <a:t>thái</a:t>
            </a:r>
            <a:r>
              <a:rPr sz="2400" b="0" i="0" u="none" dirty="0">
                <a:solidFill>
                  <a:srgbClr val="2B2F36"/>
                </a:solidFill>
                <a:latin typeface="Segoe UI"/>
              </a:rPr>
              <a:t> delivered.</a:t>
            </a:r>
            <a:r>
              <a:rPr dirty="0"/>
              <a:t>
</a:t>
            </a:r>
            <a:r>
              <a:rPr sz="2400" b="0" i="0" u="none" dirty="0">
                <a:solidFill>
                  <a:srgbClr val="2B2F36"/>
                </a:solidFill>
                <a:latin typeface="Segoe UI"/>
              </a:rPr>
              <a:t> • </a:t>
            </a:r>
            <a:r>
              <a:rPr sz="2400" b="1" i="0" u="none" dirty="0">
                <a:solidFill>
                  <a:srgbClr val="2B2F36"/>
                </a:solidFill>
                <a:latin typeface="Segoe UI"/>
              </a:rPr>
              <a:t>Dice:</a:t>
            </a:r>
            <a:r>
              <a:rPr sz="2400" b="0" i="0" u="none" dirty="0">
                <a:solidFill>
                  <a:srgbClr val="2B2F36"/>
                </a:solidFill>
                <a:latin typeface="Segoe UI"/>
              </a:rPr>
              <a:t> </a:t>
            </a:r>
            <a:r>
              <a:rPr sz="2400" b="0" i="0" u="none" dirty="0" err="1">
                <a:solidFill>
                  <a:srgbClr val="2B2F36"/>
                </a:solidFill>
                <a:latin typeface="Segoe UI"/>
              </a:rPr>
              <a:t>Vùng</a:t>
            </a:r>
            <a:r>
              <a:rPr sz="2400" b="0" i="0" u="none" dirty="0">
                <a:solidFill>
                  <a:srgbClr val="2B2F36"/>
                </a:solidFill>
                <a:latin typeface="Segoe UI"/>
              </a:rPr>
              <a:t> East/West &amp; Streetwear/Outdoor.</a:t>
            </a:r>
            <a:r>
              <a:rPr dirty="0"/>
              <a:t>
</a:t>
            </a:r>
            <a:r>
              <a:rPr sz="2400" b="0" i="0" u="none" dirty="0">
                <a:solidFill>
                  <a:srgbClr val="2B2F36"/>
                </a:solidFill>
                <a:latin typeface="Segoe UI"/>
              </a:rPr>
              <a:t> • </a:t>
            </a:r>
            <a:r>
              <a:rPr sz="2400" b="1" i="0" u="none" dirty="0">
                <a:solidFill>
                  <a:srgbClr val="2B2F36"/>
                </a:solidFill>
                <a:latin typeface="Segoe UI"/>
              </a:rPr>
              <a:t>Pivot:</a:t>
            </a:r>
            <a:r>
              <a:rPr sz="2400" b="0" i="0" u="none" dirty="0">
                <a:solidFill>
                  <a:srgbClr val="2B2F36"/>
                </a:solidFill>
                <a:latin typeface="Segoe UI"/>
              </a:rPr>
              <a:t> </a:t>
            </a:r>
            <a:r>
              <a:rPr sz="2400" b="0" i="0" u="none" dirty="0" err="1">
                <a:solidFill>
                  <a:srgbClr val="2B2F36"/>
                </a:solidFill>
                <a:latin typeface="Segoe UI"/>
              </a:rPr>
              <a:t>Xoay</a:t>
            </a:r>
            <a:r>
              <a:rPr sz="2400" b="0" i="0" u="none" dirty="0">
                <a:solidFill>
                  <a:srgbClr val="2B2F36"/>
                </a:solidFill>
                <a:latin typeface="Segoe UI"/>
              </a:rPr>
              <a:t> </a:t>
            </a:r>
            <a:r>
              <a:rPr sz="2400" b="0" i="0" u="none" dirty="0" err="1">
                <a:solidFill>
                  <a:srgbClr val="2B2F36"/>
                </a:solidFill>
                <a:latin typeface="Segoe UI"/>
              </a:rPr>
              <a:t>nhân</a:t>
            </a:r>
            <a:r>
              <a:rPr sz="2400" b="0" i="0" u="none" dirty="0">
                <a:solidFill>
                  <a:srgbClr val="2B2F36"/>
                </a:solidFill>
                <a:latin typeface="Segoe UI"/>
              </a:rPr>
              <a:t> </a:t>
            </a:r>
            <a:r>
              <a:rPr sz="2400" b="0" i="0" u="none" dirty="0" err="1">
                <a:solidFill>
                  <a:srgbClr val="2B2F36"/>
                </a:solidFill>
                <a:latin typeface="Segoe UI"/>
              </a:rPr>
              <a:t>viên</a:t>
            </a:r>
            <a:r>
              <a:rPr sz="2400" b="0" i="0" u="none" dirty="0">
                <a:solidFill>
                  <a:srgbClr val="2B2F36"/>
                </a:solidFill>
                <a:latin typeface="Segoe UI"/>
              </a:rPr>
              <a:t> </a:t>
            </a:r>
            <a:r>
              <a:rPr sz="2400" b="0" i="0" u="none" dirty="0" err="1">
                <a:solidFill>
                  <a:srgbClr val="2B2F36"/>
                </a:solidFill>
                <a:latin typeface="Segoe UI"/>
              </a:rPr>
              <a:t>theo</a:t>
            </a:r>
            <a:r>
              <a:rPr sz="2400" b="0" i="0" u="none" dirty="0">
                <a:solidFill>
                  <a:srgbClr val="2B2F36"/>
                </a:solidFill>
                <a:latin typeface="Segoe UI"/>
              </a:rPr>
              <a:t> </a:t>
            </a:r>
            <a:r>
              <a:rPr sz="2400" b="0" i="0" u="none" dirty="0" err="1">
                <a:solidFill>
                  <a:srgbClr val="2B2F36"/>
                </a:solidFill>
                <a:latin typeface="Segoe UI"/>
              </a:rPr>
              <a:t>năm</a:t>
            </a:r>
            <a:r>
              <a:rPr sz="2400" b="0" i="0" u="none" dirty="0">
                <a:solidFill>
                  <a:srgbClr val="2B2F36"/>
                </a:solidFill>
                <a:latin typeface="Segoe UI"/>
              </a:rPr>
              <a:t>.</a:t>
            </a:r>
          </a:p>
        </p:txBody>
      </p:sp>
      <p:sp>
        <p:nvSpPr>
          <p:cNvPr id="9" name="TextBox 8"/>
          <p:cNvSpPr txBox="1"/>
          <p:nvPr/>
        </p:nvSpPr>
        <p:spPr>
          <a:xfrm>
            <a:off x="6477000" y="2663075"/>
            <a:ext cx="5715000" cy="426541"/>
          </a:xfrm>
          <a:prstGeom prst="rect">
            <a:avLst/>
          </a:prstGeom>
          <a:noFill/>
        </p:spPr>
        <p:txBody>
          <a:bodyPr wrap="none" lIns="0" tIns="0" rIns="0" bIns="0" anchor="t">
            <a:spAutoFit/>
          </a:bodyPr>
          <a:lstStyle/>
          <a:p>
            <a:pPr algn="l">
              <a:lnSpc>
                <a:spcPts val="3359"/>
              </a:lnSpc>
            </a:pPr>
            <a:r>
              <a:rPr sz="2799" b="1" i="0" u="none" dirty="0" err="1">
                <a:solidFill>
                  <a:srgbClr val="1F2D3D"/>
                </a:solidFill>
                <a:latin typeface="Constantia"/>
              </a:rPr>
              <a:t>Kết</a:t>
            </a:r>
            <a:r>
              <a:rPr sz="2799" b="1" i="0" u="none" dirty="0">
                <a:solidFill>
                  <a:srgbClr val="1F2D3D"/>
                </a:solidFill>
                <a:latin typeface="Constantia"/>
              </a:rPr>
              <a:t> </a:t>
            </a:r>
            <a:r>
              <a:rPr sz="2799" b="1" i="0" u="none" dirty="0" err="1">
                <a:solidFill>
                  <a:srgbClr val="1F2D3D"/>
                </a:solidFill>
                <a:latin typeface="Constantia"/>
              </a:rPr>
              <a:t>quả</a:t>
            </a:r>
            <a:r>
              <a:rPr sz="2799" b="1" i="0" u="none" dirty="0">
                <a:solidFill>
                  <a:srgbClr val="1F2D3D"/>
                </a:solidFill>
                <a:latin typeface="Constantia"/>
              </a:rPr>
              <a:t> &amp; </a:t>
            </a:r>
            <a:r>
              <a:rPr sz="2799" b="1" i="0" u="none" dirty="0" err="1">
                <a:solidFill>
                  <a:srgbClr val="1F2D3D"/>
                </a:solidFill>
                <a:latin typeface="Constantia"/>
              </a:rPr>
              <a:t>Kết</a:t>
            </a:r>
            <a:r>
              <a:rPr sz="2799" b="1" i="0" u="none" dirty="0">
                <a:solidFill>
                  <a:srgbClr val="1F2D3D"/>
                </a:solidFill>
                <a:latin typeface="Constantia"/>
              </a:rPr>
              <a:t> </a:t>
            </a:r>
            <a:r>
              <a:rPr sz="2799" b="1" i="0" u="none" dirty="0" err="1">
                <a:solidFill>
                  <a:srgbClr val="1F2D3D"/>
                </a:solidFill>
                <a:latin typeface="Constantia"/>
              </a:rPr>
              <a:t>luận</a:t>
            </a:r>
            <a:endParaRPr sz="2799" b="1" i="0" u="none" dirty="0">
              <a:solidFill>
                <a:srgbClr val="1F2D3D"/>
              </a:solidFill>
              <a:latin typeface="Constantia"/>
            </a:endParaRPr>
          </a:p>
        </p:txBody>
      </p:sp>
      <p:sp>
        <p:nvSpPr>
          <p:cNvPr id="10" name="TextBox 9"/>
          <p:cNvSpPr txBox="1"/>
          <p:nvPr/>
        </p:nvSpPr>
        <p:spPr>
          <a:xfrm>
            <a:off x="6477000" y="3307952"/>
            <a:ext cx="4876800" cy="2666564"/>
          </a:xfrm>
          <a:prstGeom prst="rect">
            <a:avLst/>
          </a:prstGeom>
          <a:noFill/>
        </p:spPr>
        <p:txBody>
          <a:bodyPr wrap="square" lIns="0" tIns="0" rIns="0" bIns="0" anchor="t">
            <a:spAutoFit/>
          </a:bodyPr>
          <a:lstStyle/>
          <a:p>
            <a:pPr algn="l">
              <a:lnSpc>
                <a:spcPts val="2970"/>
              </a:lnSpc>
            </a:pPr>
            <a:r>
              <a:rPr sz="2400" b="0" i="0" u="none" dirty="0">
                <a:solidFill>
                  <a:srgbClr val="2B2F36"/>
                </a:solidFill>
                <a:latin typeface="Segoe UI"/>
              </a:rPr>
              <a:t>• </a:t>
            </a:r>
            <a:r>
              <a:rPr sz="2400" b="1" i="0" u="none" dirty="0" err="1">
                <a:solidFill>
                  <a:srgbClr val="2B2F36"/>
                </a:solidFill>
                <a:latin typeface="Segoe UI"/>
              </a:rPr>
              <a:t>Kết</a:t>
            </a:r>
            <a:r>
              <a:rPr sz="2400" b="1" i="0" u="none" dirty="0">
                <a:solidFill>
                  <a:srgbClr val="2B2F36"/>
                </a:solidFill>
                <a:latin typeface="Segoe UI"/>
              </a:rPr>
              <a:t> </a:t>
            </a:r>
            <a:r>
              <a:rPr sz="2400" b="1" i="0" u="none" dirty="0" err="1">
                <a:solidFill>
                  <a:srgbClr val="2B2F36"/>
                </a:solidFill>
                <a:latin typeface="Segoe UI"/>
              </a:rPr>
              <a:t>quả</a:t>
            </a:r>
            <a:r>
              <a:rPr sz="2400" b="1" i="0" u="none" dirty="0">
                <a:solidFill>
                  <a:srgbClr val="2B2F36"/>
                </a:solidFill>
                <a:latin typeface="Segoe UI"/>
              </a:rPr>
              <a:t>:</a:t>
            </a:r>
            <a:r>
              <a:rPr sz="2400" b="0" i="0" u="none" dirty="0">
                <a:solidFill>
                  <a:srgbClr val="2B2F36"/>
                </a:solidFill>
                <a:latin typeface="Segoe UI"/>
              </a:rPr>
              <a:t> Trong 200 </a:t>
            </a:r>
            <a:r>
              <a:rPr sz="2400" b="0" i="0" u="none" dirty="0" err="1">
                <a:solidFill>
                  <a:srgbClr val="2B2F36"/>
                </a:solidFill>
                <a:latin typeface="Segoe UI"/>
              </a:rPr>
              <a:t>nhân</a:t>
            </a:r>
            <a:r>
              <a:rPr sz="2400" b="0" i="0" u="none" dirty="0">
                <a:solidFill>
                  <a:srgbClr val="2B2F36"/>
                </a:solidFill>
                <a:latin typeface="Segoe UI"/>
              </a:rPr>
              <a:t> </a:t>
            </a:r>
            <a:r>
              <a:rPr sz="2400" b="0" i="0" u="none" dirty="0" err="1">
                <a:solidFill>
                  <a:srgbClr val="2B2F36"/>
                </a:solidFill>
                <a:latin typeface="Segoe UI"/>
              </a:rPr>
              <a:t>viên</a:t>
            </a:r>
            <a:r>
              <a:rPr sz="2400" b="0" i="0" u="none" dirty="0">
                <a:solidFill>
                  <a:srgbClr val="2B2F36"/>
                </a:solidFill>
                <a:latin typeface="Segoe UI"/>
              </a:rPr>
              <a:t>, </a:t>
            </a:r>
            <a:r>
              <a:rPr sz="2400" b="0" i="0" u="none" dirty="0" err="1">
                <a:solidFill>
                  <a:srgbClr val="2B2F36"/>
                </a:solidFill>
                <a:latin typeface="Segoe UI"/>
              </a:rPr>
              <a:t>chỉ</a:t>
            </a:r>
            <a:r>
              <a:rPr sz="2400" b="0" i="0" u="none" dirty="0">
                <a:solidFill>
                  <a:srgbClr val="2B2F36"/>
                </a:solidFill>
                <a:latin typeface="Segoe UI"/>
              </a:rPr>
              <a:t> EMP0163 </a:t>
            </a:r>
            <a:r>
              <a:rPr sz="2400" b="0" i="0" u="none" dirty="0" err="1">
                <a:solidFill>
                  <a:srgbClr val="2B2F36"/>
                </a:solidFill>
                <a:latin typeface="Segoe UI"/>
              </a:rPr>
              <a:t>vượt</a:t>
            </a:r>
            <a:r>
              <a:rPr sz="2400" b="0" i="0" u="none" dirty="0">
                <a:solidFill>
                  <a:srgbClr val="2B2F36"/>
                </a:solidFill>
                <a:latin typeface="Segoe UI"/>
              </a:rPr>
              <a:t> </a:t>
            </a:r>
            <a:r>
              <a:rPr sz="2400" b="0" i="0" u="none" dirty="0" err="1">
                <a:solidFill>
                  <a:srgbClr val="2B2F36"/>
                </a:solidFill>
                <a:latin typeface="Segoe UI"/>
              </a:rPr>
              <a:t>dải</a:t>
            </a:r>
            <a:r>
              <a:rPr sz="2400" b="0" i="0" u="none" dirty="0">
                <a:solidFill>
                  <a:srgbClr val="2B2F36"/>
                </a:solidFill>
                <a:latin typeface="Segoe UI"/>
              </a:rPr>
              <a:t> </a:t>
            </a:r>
            <a:r>
              <a:rPr sz="2400" b="0" i="0" u="none" dirty="0" err="1">
                <a:solidFill>
                  <a:srgbClr val="2B2F36"/>
                </a:solidFill>
                <a:latin typeface="Segoe UI"/>
              </a:rPr>
              <a:t>trên</a:t>
            </a:r>
            <a:r>
              <a:rPr sz="2400" b="0" i="0" u="none" dirty="0">
                <a:solidFill>
                  <a:srgbClr val="2B2F36"/>
                </a:solidFill>
                <a:latin typeface="Segoe UI"/>
              </a:rPr>
              <a:t> ở </a:t>
            </a:r>
            <a:r>
              <a:rPr sz="2400" b="0" i="0" u="none" dirty="0" err="1">
                <a:solidFill>
                  <a:srgbClr val="2B2F36"/>
                </a:solidFill>
                <a:latin typeface="Segoe UI"/>
              </a:rPr>
              <a:t>cả</a:t>
            </a:r>
            <a:r>
              <a:rPr sz="2400" b="0" i="0" u="none" dirty="0">
                <a:solidFill>
                  <a:srgbClr val="2B2F36"/>
                </a:solidFill>
                <a:latin typeface="Segoe UI"/>
              </a:rPr>
              <a:t> 2 </a:t>
            </a:r>
            <a:r>
              <a:rPr sz="2400" b="0" i="0" u="none" dirty="0" err="1">
                <a:solidFill>
                  <a:srgbClr val="2B2F36"/>
                </a:solidFill>
                <a:latin typeface="Segoe UI"/>
              </a:rPr>
              <a:t>chỉ</a:t>
            </a:r>
            <a:r>
              <a:rPr sz="2400" b="0" i="0" u="none" dirty="0">
                <a:solidFill>
                  <a:srgbClr val="2B2F36"/>
                </a:solidFill>
                <a:latin typeface="Segoe UI"/>
              </a:rPr>
              <a:t> </a:t>
            </a:r>
            <a:r>
              <a:rPr sz="2400" b="0" i="0" u="none" dirty="0" err="1">
                <a:solidFill>
                  <a:srgbClr val="2B2F36"/>
                </a:solidFill>
                <a:latin typeface="Segoe UI"/>
              </a:rPr>
              <a:t>số</a:t>
            </a:r>
            <a:r>
              <a:rPr sz="2400" b="0" i="0" u="none" dirty="0">
                <a:solidFill>
                  <a:srgbClr val="2B2F36"/>
                </a:solidFill>
                <a:latin typeface="Segoe UI"/>
              </a:rPr>
              <a:t>.</a:t>
            </a:r>
            <a:r>
              <a:rPr dirty="0"/>
              <a:t>
</a:t>
            </a:r>
            <a:r>
              <a:rPr sz="2400" b="0" i="0" u="none" dirty="0">
                <a:solidFill>
                  <a:srgbClr val="2B2F36"/>
                </a:solidFill>
                <a:latin typeface="Segoe UI"/>
              </a:rPr>
              <a:t> • </a:t>
            </a:r>
            <a:r>
              <a:rPr sz="2400" b="1" i="0" u="none" dirty="0" err="1">
                <a:solidFill>
                  <a:srgbClr val="2B2F36"/>
                </a:solidFill>
                <a:latin typeface="Segoe UI"/>
              </a:rPr>
              <a:t>Kết</a:t>
            </a:r>
            <a:r>
              <a:rPr sz="2400" b="1" i="0" u="none" dirty="0">
                <a:solidFill>
                  <a:srgbClr val="2B2F36"/>
                </a:solidFill>
                <a:latin typeface="Segoe UI"/>
              </a:rPr>
              <a:t> </a:t>
            </a:r>
            <a:r>
              <a:rPr sz="2400" b="1" i="0" u="none" dirty="0" err="1">
                <a:solidFill>
                  <a:srgbClr val="2B2F36"/>
                </a:solidFill>
                <a:latin typeface="Segoe UI"/>
              </a:rPr>
              <a:t>luận</a:t>
            </a:r>
            <a:r>
              <a:rPr sz="2400" b="1" i="0" u="none" dirty="0">
                <a:solidFill>
                  <a:srgbClr val="2B2F36"/>
                </a:solidFill>
                <a:latin typeface="Segoe UI"/>
              </a:rPr>
              <a:t>:</a:t>
            </a:r>
            <a:r>
              <a:rPr sz="2400" b="0" i="0" u="none" dirty="0">
                <a:solidFill>
                  <a:srgbClr val="2B2F36"/>
                </a:solidFill>
                <a:latin typeface="Segoe UI"/>
              </a:rPr>
              <a:t> </a:t>
            </a:r>
            <a:r>
              <a:rPr sz="2400" b="0" i="0" u="none" dirty="0" err="1">
                <a:solidFill>
                  <a:srgbClr val="2B2F36"/>
                </a:solidFill>
                <a:latin typeface="Segoe UI"/>
              </a:rPr>
              <a:t>Đánh</a:t>
            </a:r>
            <a:r>
              <a:rPr sz="2400" b="0" i="0" u="none" dirty="0">
                <a:solidFill>
                  <a:srgbClr val="2B2F36"/>
                </a:solidFill>
                <a:latin typeface="Segoe UI"/>
              </a:rPr>
              <a:t> </a:t>
            </a:r>
            <a:r>
              <a:rPr sz="2400" b="0" i="0" u="none" dirty="0" err="1">
                <a:solidFill>
                  <a:srgbClr val="2B2F36"/>
                </a:solidFill>
                <a:latin typeface="Segoe UI"/>
              </a:rPr>
              <a:t>giá</a:t>
            </a:r>
            <a:r>
              <a:rPr sz="2400" b="0" i="0" u="none" dirty="0">
                <a:solidFill>
                  <a:srgbClr val="2B2F36"/>
                </a:solidFill>
                <a:latin typeface="Segoe UI"/>
              </a:rPr>
              <a:t> </a:t>
            </a:r>
            <a:r>
              <a:rPr sz="2400" b="0" i="0" u="none" dirty="0" err="1">
                <a:solidFill>
                  <a:srgbClr val="2B2F36"/>
                </a:solidFill>
                <a:latin typeface="Segoe UI"/>
              </a:rPr>
              <a:t>nhân</a:t>
            </a:r>
            <a:r>
              <a:rPr sz="2400" b="0" i="0" u="none" dirty="0">
                <a:solidFill>
                  <a:srgbClr val="2B2F36"/>
                </a:solidFill>
                <a:latin typeface="Segoe UI"/>
              </a:rPr>
              <a:t> </a:t>
            </a:r>
            <a:r>
              <a:rPr sz="2400" b="0" i="0" u="none" dirty="0" err="1">
                <a:solidFill>
                  <a:srgbClr val="2B2F36"/>
                </a:solidFill>
                <a:latin typeface="Segoe UI"/>
              </a:rPr>
              <a:t>viên</a:t>
            </a:r>
            <a:r>
              <a:rPr sz="2400" b="0" i="0" u="none" dirty="0">
                <a:solidFill>
                  <a:srgbClr val="2B2F36"/>
                </a:solidFill>
                <a:latin typeface="Segoe UI"/>
              </a:rPr>
              <a:t> </a:t>
            </a:r>
            <a:r>
              <a:rPr sz="2400" b="0" i="0" u="none" dirty="0" err="1">
                <a:solidFill>
                  <a:srgbClr val="2B2F36"/>
                </a:solidFill>
                <a:latin typeface="Segoe UI"/>
              </a:rPr>
              <a:t>chính</a:t>
            </a:r>
            <a:r>
              <a:rPr sz="2400" b="0" i="0" u="none" dirty="0">
                <a:solidFill>
                  <a:srgbClr val="2B2F36"/>
                </a:solidFill>
                <a:latin typeface="Segoe UI"/>
              </a:rPr>
              <a:t> </a:t>
            </a:r>
            <a:r>
              <a:rPr sz="2400" b="0" i="0" u="none" dirty="0" err="1">
                <a:solidFill>
                  <a:srgbClr val="2B2F36"/>
                </a:solidFill>
                <a:latin typeface="Segoe UI"/>
              </a:rPr>
              <a:t>xác</a:t>
            </a:r>
            <a:r>
              <a:rPr sz="2400" b="0" i="0" u="none" dirty="0">
                <a:solidFill>
                  <a:srgbClr val="2B2F36"/>
                </a:solidFill>
                <a:latin typeface="Segoe UI"/>
              </a:rPr>
              <a:t> </a:t>
            </a:r>
            <a:r>
              <a:rPr sz="2400" b="0" i="0" u="none" dirty="0" err="1">
                <a:solidFill>
                  <a:srgbClr val="2B2F36"/>
                </a:solidFill>
                <a:latin typeface="Segoe UI"/>
              </a:rPr>
              <a:t>bằng</a:t>
            </a:r>
            <a:r>
              <a:rPr sz="2400" b="0" i="0" u="none" dirty="0">
                <a:solidFill>
                  <a:srgbClr val="2B2F36"/>
                </a:solidFill>
                <a:latin typeface="Segoe UI"/>
              </a:rPr>
              <a:t> </a:t>
            </a:r>
            <a:r>
              <a:rPr sz="2400" b="0" i="0" u="none" dirty="0" err="1">
                <a:solidFill>
                  <a:srgbClr val="2B2F36"/>
                </a:solidFill>
                <a:latin typeface="Segoe UI"/>
              </a:rPr>
              <a:t>số</a:t>
            </a:r>
            <a:r>
              <a:rPr sz="2400" b="0" i="0" u="none" dirty="0">
                <a:solidFill>
                  <a:srgbClr val="2B2F36"/>
                </a:solidFill>
                <a:latin typeface="Segoe UI"/>
              </a:rPr>
              <a:t> </a:t>
            </a:r>
            <a:r>
              <a:rPr sz="2400" b="0" i="0" u="none" dirty="0" err="1">
                <a:solidFill>
                  <a:srgbClr val="2B2F36"/>
                </a:solidFill>
                <a:latin typeface="Segoe UI"/>
              </a:rPr>
              <a:t>liệu</a:t>
            </a:r>
            <a:r>
              <a:rPr sz="2400" b="0" i="0" u="none" dirty="0">
                <a:solidFill>
                  <a:srgbClr val="2B2F36"/>
                </a:solidFill>
                <a:latin typeface="Segoe UI"/>
              </a:rPr>
              <a:t> </a:t>
            </a:r>
            <a:r>
              <a:rPr sz="2400" b="0" i="0" u="none" dirty="0" err="1">
                <a:solidFill>
                  <a:srgbClr val="2B2F36"/>
                </a:solidFill>
                <a:latin typeface="Segoe UI"/>
              </a:rPr>
              <a:t>thống</a:t>
            </a:r>
            <a:r>
              <a:rPr sz="2400" b="0" i="0" u="none" dirty="0">
                <a:solidFill>
                  <a:srgbClr val="2B2F36"/>
                </a:solidFill>
                <a:latin typeface="Segoe UI"/>
              </a:rPr>
              <a:t> </a:t>
            </a:r>
            <a:r>
              <a:rPr sz="2400" b="0" i="0" u="none" dirty="0" err="1">
                <a:solidFill>
                  <a:srgbClr val="2B2F36"/>
                </a:solidFill>
                <a:latin typeface="Segoe UI"/>
              </a:rPr>
              <a:t>nhất</a:t>
            </a:r>
            <a:r>
              <a:rPr sz="2400" b="0" i="0" u="none" dirty="0">
                <a:solidFill>
                  <a:srgbClr val="2B2F36"/>
                </a:solidFill>
                <a:latin typeface="Segoe UI"/>
              </a:rPr>
              <a:t> </a:t>
            </a:r>
            <a:r>
              <a:rPr sz="2400" b="0" i="0" u="none" dirty="0" err="1">
                <a:solidFill>
                  <a:srgbClr val="2B2F36"/>
                </a:solidFill>
                <a:latin typeface="Segoe UI"/>
              </a:rPr>
              <a:t>và</a:t>
            </a:r>
            <a:r>
              <a:rPr sz="2400" b="0" i="0" u="none" dirty="0">
                <a:solidFill>
                  <a:srgbClr val="2B2F36"/>
                </a:solidFill>
                <a:latin typeface="Segoe UI"/>
              </a:rPr>
              <a:t> </a:t>
            </a:r>
            <a:r>
              <a:rPr sz="2400" b="0" i="0" u="none" dirty="0" err="1">
                <a:solidFill>
                  <a:srgbClr val="2B2F36"/>
                </a:solidFill>
                <a:latin typeface="Segoe UI"/>
              </a:rPr>
              <a:t>theo</a:t>
            </a:r>
            <a:r>
              <a:rPr sz="2400" b="0" i="0" u="none" dirty="0">
                <a:solidFill>
                  <a:srgbClr val="2B2F36"/>
                </a:solidFill>
                <a:latin typeface="Segoe UI"/>
              </a:rPr>
              <a:t> </a:t>
            </a:r>
            <a:r>
              <a:rPr sz="2400" b="0" i="0" u="none" dirty="0" err="1">
                <a:solidFill>
                  <a:srgbClr val="2B2F36"/>
                </a:solidFill>
                <a:latin typeface="Segoe UI"/>
              </a:rPr>
              <a:t>dõi</a:t>
            </a:r>
            <a:r>
              <a:rPr sz="2400" b="0" i="0" u="none" dirty="0">
                <a:solidFill>
                  <a:srgbClr val="2B2F36"/>
                </a:solidFill>
                <a:latin typeface="Segoe UI"/>
              </a:rPr>
              <a:t> qua </a:t>
            </a:r>
            <a:r>
              <a:rPr sz="2400" b="0" i="0" u="none" dirty="0" err="1">
                <a:solidFill>
                  <a:srgbClr val="2B2F36"/>
                </a:solidFill>
                <a:latin typeface="Segoe UI"/>
              </a:rPr>
              <a:t>nhiều</a:t>
            </a:r>
            <a:r>
              <a:rPr sz="2400" b="0" i="0" u="none" dirty="0">
                <a:solidFill>
                  <a:srgbClr val="2B2F36"/>
                </a:solidFill>
                <a:latin typeface="Segoe UI"/>
              </a:rPr>
              <a:t> </a:t>
            </a:r>
            <a:r>
              <a:rPr sz="2400" b="0" i="0" u="none" dirty="0" err="1">
                <a:solidFill>
                  <a:srgbClr val="2B2F36"/>
                </a:solidFill>
                <a:latin typeface="Segoe UI"/>
              </a:rPr>
              <a:t>kỳ</a:t>
            </a:r>
            <a:r>
              <a:rPr sz="2400" b="0" i="0" u="none" dirty="0">
                <a:solidFill>
                  <a:srgbClr val="2B2F36"/>
                </a:solidFill>
                <a:latin typeface="Segoe UI"/>
              </a:rPr>
              <a: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AF8F4"/>
        </a:solidFill>
        <a:effectLst/>
      </p:bgPr>
    </p:bg>
    <p:spTree>
      <p:nvGrpSpPr>
        <p:cNvPr id="1" name="">
          <a:extLst>
            <a:ext uri="{FF2B5EF4-FFF2-40B4-BE49-F238E27FC236}">
              <a16:creationId xmlns:a16="http://schemas.microsoft.com/office/drawing/2014/main" id="{A95AB89F-BB08-73D5-4C85-C72D46CB460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91D184A-5BC5-B818-56C8-4D345355C65A}"/>
              </a:ext>
            </a:extLst>
          </p:cNvPr>
          <p:cNvSpPr txBox="1"/>
          <p:nvPr/>
        </p:nvSpPr>
        <p:spPr>
          <a:xfrm>
            <a:off x="609600" y="1884312"/>
            <a:ext cx="11582400" cy="426541"/>
          </a:xfrm>
          <a:prstGeom prst="rect">
            <a:avLst/>
          </a:prstGeom>
          <a:noFill/>
        </p:spPr>
        <p:txBody>
          <a:bodyPr wrap="none" lIns="0" tIns="0" rIns="0" bIns="0" anchor="t">
            <a:spAutoFit/>
          </a:bodyPr>
          <a:lstStyle/>
          <a:p>
            <a:pPr algn="l">
              <a:lnSpc>
                <a:spcPts val="3359"/>
              </a:lnSpc>
            </a:pPr>
            <a:r>
              <a:rPr sz="2799" b="1" i="0" u="none" dirty="0">
                <a:solidFill>
                  <a:srgbClr val="A68A5B"/>
                </a:solidFill>
                <a:latin typeface="Segoe UI"/>
              </a:rPr>
              <a:t>DAAI · PROBLEM 4</a:t>
            </a:r>
          </a:p>
        </p:txBody>
      </p:sp>
      <p:sp>
        <p:nvSpPr>
          <p:cNvPr id="4" name="TextBox 3">
            <a:extLst>
              <a:ext uri="{FF2B5EF4-FFF2-40B4-BE49-F238E27FC236}">
                <a16:creationId xmlns:a16="http://schemas.microsoft.com/office/drawing/2014/main" id="{1B2B4CD1-AB75-9589-3A6D-E96FD21E5B26}"/>
              </a:ext>
            </a:extLst>
          </p:cNvPr>
          <p:cNvSpPr txBox="1"/>
          <p:nvPr/>
        </p:nvSpPr>
        <p:spPr>
          <a:xfrm>
            <a:off x="609600" y="2610643"/>
            <a:ext cx="10582275" cy="2031325"/>
          </a:xfrm>
          <a:prstGeom prst="rect">
            <a:avLst/>
          </a:prstGeom>
          <a:noFill/>
        </p:spPr>
        <p:txBody>
          <a:bodyPr wrap="square" lIns="0" tIns="0" rIns="0" bIns="0" anchor="t">
            <a:spAutoFit/>
          </a:bodyPr>
          <a:lstStyle/>
          <a:p>
            <a:r>
              <a:rPr lang="vi-VN" sz="6600" b="1" i="0" u="none" dirty="0">
                <a:solidFill>
                  <a:srgbClr val="1F2D3D"/>
                </a:solidFill>
                <a:latin typeface="Constantia"/>
              </a:rPr>
              <a:t>Cảm Ơn Thầy Cô &amp;</a:t>
            </a:r>
          </a:p>
          <a:p>
            <a:r>
              <a:rPr lang="vi-VN" sz="6600" b="1" i="0" u="none" dirty="0">
                <a:solidFill>
                  <a:srgbClr val="1F2D3D"/>
                </a:solidFill>
                <a:latin typeface="Constantia"/>
              </a:rPr>
              <a:t>Các Bạn Đã Lắng Nghe</a:t>
            </a:r>
          </a:p>
        </p:txBody>
      </p:sp>
    </p:spTree>
    <p:extLst>
      <p:ext uri="{BB962C8B-B14F-4D97-AF65-F5344CB8AC3E}">
        <p14:creationId xmlns:p14="http://schemas.microsoft.com/office/powerpoint/2010/main" val="25233805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165</TotalTime>
  <Words>1804</Words>
  <Application>Microsoft Office PowerPoint</Application>
  <PresentationFormat>Widescreen</PresentationFormat>
  <Paragraphs>160</Paragraphs>
  <Slides>18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Constantia</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hien pham</cp:lastModifiedBy>
  <cp:revision>8</cp:revision>
  <dcterms:created xsi:type="dcterms:W3CDTF">2013-01-27T09:14:16Z</dcterms:created>
  <dcterms:modified xsi:type="dcterms:W3CDTF">2026-10-23T17:29:37Z</dcterms:modified>
  <cp:category/>
</cp:coreProperties>
</file>