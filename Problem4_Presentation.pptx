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828800"/>
            <a:ext cx="822960" cy="54864"/>
          </a:xfrm>
          <a:prstGeom prst="rect">
            <a:avLst/>
          </a:prstGeom>
          <a:solidFill>
            <a:srgbClr val="6FB1D0"/>
          </a:solidFill>
          <a:ln w="12700">
            <a:solidFill>
              <a:srgbClr val="6FB1D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00584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Đánh giá hiệu suất và chất lượng phục vụ của nhân viên bán hàng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103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3EF"/>
                </a:solidFill>
              </a:rPr>
              <a:t>Problem 4 · Nhóm DAAI_N1.4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514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6C8"/>
                </a:solidFill>
              </a:rPr>
              <a:t>Nhập môn phân tích dữ liệu và AI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44"/>
                </a:solidFill>
              </a:rPr>
              <a:t>Giới thiệu đề tài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96112"/>
            <a:ext cx="822960" cy="45720"/>
          </a:xfrm>
          <a:prstGeom prst="rect">
            <a:avLst/>
          </a:prstGeom>
          <a:solidFill>
            <a:srgbClr val="2F80A8"/>
          </a:solidFill>
          <a:ln w="12700">
            <a:solidFill>
              <a:srgbClr val="2F80A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5"/>
                </a:solidFill>
              </a:rPr>
              <a:t>02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2560320" cy="329184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2984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0A8"/>
                </a:solidFill>
              </a:rPr>
              <a:t>Bối cảnh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691640"/>
            <a:ext cx="21945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Hệ thống bán hàng và vận chuyển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Hơn 714 nghìn dòng giao dịch, 200 nhân viên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Dữ liệu trải dài khoảng 10,5 năm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560320" cy="329184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2984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0A8"/>
                </a:solidFill>
              </a:rPr>
              <a:t>Mục tiêu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691640"/>
            <a:ext cx="21945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Đánh giá hiệu quả làm việc của nhân viên bán hàng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Phân biệt thống kê doanh số với KPI đánh giá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Chỉ số rõ định nghĩa, kiểm tra được, dùng lại trong Power BI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188720"/>
            <a:ext cx="2560320" cy="329184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12984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0A8"/>
                </a:solidFill>
              </a:rPr>
              <a:t>Phạm vi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691640"/>
            <a:ext cx="21945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Measure, Metric, KPI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Data warehouse star schema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Dashboard prototype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OLAP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44"/>
                </a:solidFill>
              </a:rPr>
              <a:t>Các câu hỏi đặt ra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96112"/>
            <a:ext cx="822960" cy="45720"/>
          </a:xfrm>
          <a:prstGeom prst="rect">
            <a:avLst/>
          </a:prstGeom>
          <a:solidFill>
            <a:srgbClr val="2F80A8"/>
          </a:solidFill>
          <a:ln w="12700">
            <a:solidFill>
              <a:srgbClr val="2F80A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5"/>
                </a:solidFill>
              </a:rPr>
              <a:t>03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457200" cy="457200"/>
          </a:xfrm>
          <a:prstGeom prst="ellipse">
            <a:avLst/>
          </a:prstGeom>
          <a:solidFill>
            <a:srgbClr val="2F80A8"/>
          </a:solidFill>
          <a:ln w="12700">
            <a:solidFill>
              <a:srgbClr val="2F80A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1887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94A"/>
                </a:solidFill>
              </a:rPr>
              <a:t>Nhân viên nào có tổng doanh thu và doanh thu bình quân trên hóa đơn cao?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1847088"/>
            <a:ext cx="457200" cy="457200"/>
          </a:xfrm>
          <a:prstGeom prst="ellipse">
            <a:avLst/>
          </a:prstGeom>
          <a:solidFill>
            <a:srgbClr val="2F80A8"/>
          </a:solidFill>
          <a:ln w="12700">
            <a:solidFill>
              <a:srgbClr val="2F80A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84708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94A"/>
                </a:solidFill>
              </a:rPr>
              <a:t>Nhân viên nào có tỷ lệ chuyển đổi hóa đơn thành công tốt hoặc cần cải thiện?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2505456"/>
            <a:ext cx="457200" cy="457200"/>
          </a:xfrm>
          <a:prstGeom prst="ellipse">
            <a:avLst/>
          </a:prstGeom>
          <a:solidFill>
            <a:srgbClr val="2F80A8"/>
          </a:solidFill>
          <a:ln w="12700">
            <a:solidFill>
              <a:srgbClr val="2F80A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2505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2505456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94A"/>
                </a:solidFill>
              </a:rPr>
              <a:t>Doanh thu và chất lượng giao dịch thay đổi thế nào theo thời gian?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163824"/>
            <a:ext cx="457200" cy="457200"/>
          </a:xfrm>
          <a:prstGeom prst="ellipse">
            <a:avLst/>
          </a:prstGeom>
          <a:solidFill>
            <a:srgbClr val="2F80A8"/>
          </a:solidFill>
          <a:ln w="12700">
            <a:solidFill>
              <a:srgbClr val="2F80A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3163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163824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94A"/>
                </a:solidFill>
              </a:rPr>
              <a:t>Có mất cân đối giữa số hóa đơn, doanh thu và tỷ lệ trả/hủy hay không?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3822192"/>
            <a:ext cx="457200" cy="457200"/>
          </a:xfrm>
          <a:prstGeom prst="ellipse">
            <a:avLst/>
          </a:prstGeom>
          <a:solidFill>
            <a:srgbClr val="2F80A8"/>
          </a:solidFill>
          <a:ln w="12700">
            <a:solidFill>
              <a:srgbClr val="2F80A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82219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94A"/>
                </a:solidFill>
              </a:rPr>
              <a:t>Nên khen thưởng, đào tạo hay theo dõi thêm nhân viên nào?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44"/>
                </a:solidFill>
              </a:rPr>
              <a:t>Mô tả tổng quan dữ liệu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96112"/>
            <a:ext cx="822960" cy="45720"/>
          </a:xfrm>
          <a:prstGeom prst="rect">
            <a:avLst/>
          </a:prstGeom>
          <a:solidFill>
            <a:srgbClr val="2F80A8"/>
          </a:solidFill>
          <a:ln w="12700">
            <a:solidFill>
              <a:srgbClr val="2F80A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5"/>
                </a:solidFill>
              </a:rPr>
              <a:t>04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4206240" cy="329184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2984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0A8"/>
                </a:solidFill>
              </a:rPr>
              <a:t>Dữ liệu nguồn: 14 bảng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691640"/>
            <a:ext cx="38404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Bán hàng: orders, order_items, payments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Khách hàng và địa lý: customers, geography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Sản phẩm và khuyến mãi: products, promotions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Vận chuyển: shipments (kèm thông tin shipper)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Sau bán: returns, reviews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Vận hành: inventory, web_traffic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212080" y="1234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44"/>
                </a:solidFill>
              </a:rPr>
              <a:t>714.653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5212080" y="1691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</a:rPr>
              <a:t>dòng Fact_Sales (dòng sản phẩm trong đơn)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949440" y="12344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44"/>
                </a:solidFill>
              </a:rPr>
              <a:t>566.067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6949440" y="1691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</a:rPr>
              <a:t>đơn hàng được vận chuyển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44"/>
                </a:solidFill>
              </a:rPr>
              <a:t>121.930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5212080" y="2971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</a:rPr>
              <a:t>khách hàng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44"/>
                </a:solidFill>
              </a:rPr>
              <a:t>2.412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2971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</a:rPr>
              <a:t>sản phẩm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212080" y="3703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44"/>
                </a:solidFill>
              </a:rPr>
              <a:t>200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5212080" y="4160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</a:rPr>
              <a:t>nhân viên bán hàng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3703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44"/>
                </a:solidFill>
              </a:rPr>
              <a:t>80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4160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</a:rPr>
              <a:t>shipper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44"/>
                </a:solidFill>
              </a:rPr>
              <a:t>Các vấn đề về dữ liệu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96112"/>
            <a:ext cx="822960" cy="45720"/>
          </a:xfrm>
          <a:prstGeom prst="rect">
            <a:avLst/>
          </a:prstGeom>
          <a:solidFill>
            <a:srgbClr val="2F80A8"/>
          </a:solidFill>
          <a:ln w="12700">
            <a:solidFill>
              <a:srgbClr val="2F80A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5"/>
                </a:solidFill>
              </a:rPr>
              <a:t>05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931920" cy="329184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2984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0A8"/>
                </a:solidFill>
              </a:rPr>
              <a:t>Cấu trúc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691640"/>
            <a:ext cx="35661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orders_enriched gộp nhiều thực thể: khách, nhân viên, thanh toán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shipments lặp toàn bộ thuộc tính shipper ở mỗi đơn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order_items có nhóm lặp promo_id, promo_id_2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Chưa có bảng nhân viên và shipper riêng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3931920" cy="329184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2984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0A8"/>
                </a:solidFill>
              </a:rPr>
              <a:t>Chất lượng và dư thừa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691640"/>
            <a:ext cx="35661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16 cặp (order_id, product_id) trùng khóa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payment_method lặp ở orders và payments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inventory lặp tên, category, segment sản phẩm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3 file JSON trùng cấu trúc với CSV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Cần thống nhất trạng thái đơn thành công, trả, hủy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44"/>
                </a:solidFill>
              </a:rPr>
              <a:t>Xử lý dữ liệu thô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96112"/>
            <a:ext cx="822960" cy="45720"/>
          </a:xfrm>
          <a:prstGeom prst="rect">
            <a:avLst/>
          </a:prstGeom>
          <a:solidFill>
            <a:srgbClr val="2F80A8"/>
          </a:solidFill>
          <a:ln w="12700">
            <a:solidFill>
              <a:srgbClr val="2F80A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5"/>
                </a:solidFill>
              </a:rPr>
              <a:t>06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828800" cy="502920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280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Raw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828800" cy="237744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920240"/>
            <a:ext cx="1554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14 bảng CSV và 3 JSON trùng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Chưa phân entity, chưa chuẩn hóa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1280160"/>
            <a:ext cx="246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80A8"/>
                </a:solidFill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624328" y="1280160"/>
            <a:ext cx="1828800" cy="502920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24328" y="1280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Silver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624328" y="1783080"/>
            <a:ext cx="1828800" cy="237744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761488" y="1920240"/>
            <a:ext cx="1554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Mỗi bảng một notebook làm sạch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Gộp eprom.json và promotions.csv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453128" y="1280160"/>
            <a:ext cx="246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80A8"/>
                </a:solidFill>
              </a:rPr>
              <a:t>›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700016" y="1280160"/>
            <a:ext cx="1828800" cy="502920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00016" y="1280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3NF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700016" y="1783080"/>
            <a:ext cx="1828800" cy="237744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37176" y="1920240"/>
            <a:ext cx="1554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15 bảng chuẩn hóa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Tách ORDER_ITEM_PROMOTION, bỏ cột dư, ánh xạ zip cho shipper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528816" y="1280160"/>
            <a:ext cx="2468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80A8"/>
                </a:solidFill>
              </a:rPr>
              <a:t>›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775704" y="1280160"/>
            <a:ext cx="1828800" cy="502920"/>
          </a:xfrm>
          <a:prstGeom prst="rect">
            <a:avLst/>
          </a:prstGeom>
          <a:solidFill>
            <a:srgbClr val="2F80A8"/>
          </a:solidFill>
          <a:ln w="12700">
            <a:solidFill>
              <a:srgbClr val="2F80A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75704" y="1280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Gold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775704" y="1783080"/>
            <a:ext cx="1828800" cy="237744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12864" y="1920240"/>
            <a:ext cx="1554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Star schema: 1 Fact, 5 Dim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Kiểm tra chéo khóa ngoại Fact với Dim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44"/>
                </a:solidFill>
              </a:rPr>
              <a:t>Mô hình hóa dữ liệu ERD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96112"/>
            <a:ext cx="822960" cy="45720"/>
          </a:xfrm>
          <a:prstGeom prst="rect">
            <a:avLst/>
          </a:prstGeom>
          <a:solidFill>
            <a:srgbClr val="2F80A8"/>
          </a:solidFill>
          <a:ln w="12700">
            <a:solidFill>
              <a:srgbClr val="2F80A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5"/>
                </a:solidFill>
              </a:rPr>
              <a:t>07 / 12</a:t>
            </a:r>
            <a:endParaRPr lang="en-US" sz="900" dirty="0"/>
          </a:p>
        </p:txBody>
      </p:sp>
      <p:pic>
        <p:nvPicPr>
          <p:cNvPr id="5" name="Image 0" descr="/mnt/user-data/uploads/Sales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43000"/>
            <a:ext cx="5120640" cy="36027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97880" y="1188720"/>
            <a:ext cx="2697480" cy="329184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080760" y="129844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0A8"/>
                </a:solidFill>
              </a:rPr>
              <a:t>ERD gốc: 14 bảng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080760" y="1691640"/>
            <a:ext cx="23317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94A"/>
                </a:solidFill>
              </a:rPr>
              <a:t>Trước chuẩn hóa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94A"/>
                </a:solidFill>
              </a:rPr>
              <a:t>ORDER còn city, region, district, category, segment, payment_method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94A"/>
                </a:solidFill>
              </a:rPr>
              <a:t>ORDER_ITEMS còn promo_id, promo_id_2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94A"/>
                </a:solidFill>
              </a:rPr>
              <a:t>SHIPPER còn city, region, district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44"/>
                </a:solidFill>
              </a:rPr>
              <a:t>Chuẩn hóa dữ liệu 3NF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96112"/>
            <a:ext cx="822960" cy="45720"/>
          </a:xfrm>
          <a:prstGeom prst="rect">
            <a:avLst/>
          </a:prstGeom>
          <a:solidFill>
            <a:srgbClr val="2F80A8"/>
          </a:solidFill>
          <a:ln w="12700">
            <a:solidFill>
              <a:srgbClr val="2F80A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5"/>
                </a:solidFill>
              </a:rPr>
              <a:t>08 / 12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657600"/>
                <a:gridCol w="32918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Dạng chuẩn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Vấn đề ở lược đồ gốc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Cách xử lý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94A"/>
                          </a:solidFill>
                        </a:rPr>
                        <a:t>1NF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94A"/>
                          </a:solidFill>
                        </a:rPr>
                        <a:t>ORDER_ITEMS có nhóm lặp promo_id, promo_id_2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94A"/>
                          </a:solidFill>
                        </a:rPr>
                        <a:t>Tách bảng ORDER_ITEM_PROMOTION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94A"/>
                          </a:solidFill>
                        </a:rPr>
                        <a:t>2NF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94A"/>
                          </a:solidFill>
                        </a:rPr>
                        <a:t>INVENTORY lặp product_name, category, segment, year, month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94A"/>
                          </a:solidFill>
                        </a:rPr>
                        <a:t>Bỏ các cột này, lấy từ PRODUCT và ngày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94A"/>
                          </a:solidFill>
                        </a:rPr>
                        <a:t>3NF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94A"/>
                          </a:solidFill>
                        </a:rPr>
                        <a:t>city, region, district lặp ở CUSTOMER, ORDER, SHIPPER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94A"/>
                          </a:solidFill>
                        </a:rPr>
                        <a:t>Giữ khóa ngoại zip tới GEOGRAPHY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94A"/>
                          </a:solidFill>
                        </a:rPr>
                        <a:t>3NF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94A"/>
                          </a:solidFill>
                        </a:rPr>
                        <a:t>payment_method lặp ở ORDER và PAYMENT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94A"/>
                          </a:solidFill>
                        </a:rPr>
                        <a:t>Chỉ giữ ở PAYMENT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023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0A8"/>
                </a:solidFill>
              </a:rPr>
              <a:t>Kết quả: 15 bảng (tăng 1 bảng so với lược đồ gốc), đều đạt 1NF, 2NF và 3NF.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44"/>
                </a:solidFill>
              </a:rPr>
              <a:t>Thiết kế Measure, Metric và KPI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96112"/>
            <a:ext cx="822960" cy="45720"/>
          </a:xfrm>
          <a:prstGeom prst="rect">
            <a:avLst/>
          </a:prstGeom>
          <a:solidFill>
            <a:srgbClr val="2F80A8"/>
          </a:solidFill>
          <a:ln w="12700">
            <a:solidFill>
              <a:srgbClr val="2F80A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5"/>
                </a:solidFill>
              </a:rPr>
              <a:t>09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2560320" cy="283464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2984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0A8"/>
                </a:solidFill>
              </a:rPr>
              <a:t>Measure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691640"/>
            <a:ext cx="21945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net_amount, gross_amount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quantity, discount_amount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order_id (DISTINCTCOUNT)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order_status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560320" cy="283464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74720" y="12984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0A8"/>
                </a:solidFill>
              </a:rPr>
              <a:t>Metric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691640"/>
            <a:ext cx="21945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Total Sales, Total Invoices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Conversion Rate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Average Sales per Invoice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MoM, YoY Growth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Return và Cancellation Rate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0" y="1188720"/>
            <a:ext cx="2560320" cy="283464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129844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0A8"/>
                </a:solidFill>
              </a:rPr>
              <a:t>KPI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691640"/>
            <a:ext cx="21945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Tỷ lệ chuyển đổi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Doanh thu ròng so với mục tiêu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Tỷ lệ trả hàng, tỷ lệ hủy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Tăng trưởng MoM, YoY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CSAT khi có khảo sát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385"/>
                </a:solidFill>
              </a:rPr>
              <a:t>Measure là dữ liệu nền, Metric là chỉ số tính toán, KPI là metric gắn mục tiêu và hành động.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44"/>
                </a:solidFill>
              </a:rPr>
              <a:t>Thiết kế data warehouse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96112"/>
            <a:ext cx="822960" cy="45720"/>
          </a:xfrm>
          <a:prstGeom prst="rect">
            <a:avLst/>
          </a:prstGeom>
          <a:solidFill>
            <a:srgbClr val="2F80A8"/>
          </a:solidFill>
          <a:ln w="12700">
            <a:solidFill>
              <a:srgbClr val="2F80A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5"/>
                </a:solidFill>
              </a:rPr>
              <a:t>10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560320" y="1645920"/>
            <a:ext cx="1005840" cy="1188720"/>
          </a:xfrm>
          <a:prstGeom prst="line">
            <a:avLst/>
          </a:prstGeom>
          <a:noFill/>
          <a:ln w="19050">
            <a:solidFill>
              <a:srgbClr val="2F80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5577840" y="1645920"/>
            <a:ext cx="1005840" cy="1188720"/>
          </a:xfrm>
          <a:prstGeom prst="line">
            <a:avLst/>
          </a:prstGeom>
          <a:noFill/>
          <a:ln w="19050">
            <a:solidFill>
              <a:srgbClr val="2F80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0" y="2971800"/>
            <a:ext cx="1005840" cy="0"/>
          </a:xfrm>
          <a:prstGeom prst="line">
            <a:avLst/>
          </a:prstGeom>
          <a:noFill/>
          <a:ln w="19050">
            <a:solidFill>
              <a:srgbClr val="2F80A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2971800"/>
            <a:ext cx="1005840" cy="0"/>
          </a:xfrm>
          <a:prstGeom prst="line">
            <a:avLst/>
          </a:prstGeom>
          <a:noFill/>
          <a:ln w="19050">
            <a:solidFill>
              <a:srgbClr val="2F80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3383280"/>
            <a:ext cx="0" cy="548640"/>
          </a:xfrm>
          <a:prstGeom prst="line">
            <a:avLst/>
          </a:prstGeom>
          <a:noFill/>
          <a:ln w="19050">
            <a:solidFill>
              <a:srgbClr val="2F80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2560320"/>
            <a:ext cx="2011680" cy="822960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6160" y="256032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Fact_Sales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714.653 dòng · 14 cột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1280160"/>
            <a:ext cx="2011680" cy="731520"/>
          </a:xfrm>
          <a:prstGeom prst="rect">
            <a:avLst/>
          </a:prstGeom>
          <a:solidFill>
            <a:srgbClr val="2F80A8"/>
          </a:solidFill>
          <a:ln w="12700">
            <a:solidFill>
              <a:srgbClr val="2F80A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12801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Dim_Date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3.833 ngày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0" y="1280160"/>
            <a:ext cx="2011680" cy="731520"/>
          </a:xfrm>
          <a:prstGeom prst="rect">
            <a:avLst/>
          </a:prstGeom>
          <a:solidFill>
            <a:srgbClr val="2F80A8"/>
          </a:solidFill>
          <a:ln w="12700">
            <a:solidFill>
              <a:srgbClr val="2F80A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0" y="12801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Dim_Employee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200 nhân viên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606040"/>
            <a:ext cx="2011680" cy="731520"/>
          </a:xfrm>
          <a:prstGeom prst="rect">
            <a:avLst/>
          </a:prstGeom>
          <a:solidFill>
            <a:srgbClr val="2F80A8"/>
          </a:solidFill>
          <a:ln w="12700">
            <a:solidFill>
              <a:srgbClr val="2F80A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26060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Dim_Customer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121.930 khách hàng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0" y="2606040"/>
            <a:ext cx="2011680" cy="731520"/>
          </a:xfrm>
          <a:prstGeom prst="rect">
            <a:avLst/>
          </a:prstGeom>
          <a:solidFill>
            <a:srgbClr val="2F80A8"/>
          </a:solidFill>
          <a:ln w="12700">
            <a:solidFill>
              <a:srgbClr val="2F80A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0" y="26060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Dim_Product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2.412 sản phẩm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566160" y="3931920"/>
            <a:ext cx="2011680" cy="731520"/>
          </a:xfrm>
          <a:prstGeom prst="rect">
            <a:avLst/>
          </a:prstGeom>
          <a:solidFill>
            <a:srgbClr val="2F80A8"/>
          </a:solidFill>
          <a:ln w="12700">
            <a:solidFill>
              <a:srgbClr val="2F80A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566160" y="39319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Dim_Geography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39.948 mã zip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8404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385"/>
                </a:solidFill>
              </a:rPr>
              <a:t>Grain: một dòng sản phẩm trong một hóa đơn, nên đếm hóa đơn bằng DISTINCTCOUNT(order_id).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44"/>
                </a:solidFill>
              </a:rPr>
              <a:t>Thiết kế dashboard prototype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96112"/>
            <a:ext cx="822960" cy="45720"/>
          </a:xfrm>
          <a:prstGeom prst="rect">
            <a:avLst/>
          </a:prstGeom>
          <a:solidFill>
            <a:srgbClr val="2F80A8"/>
          </a:solidFill>
          <a:ln w="12700">
            <a:solidFill>
              <a:srgbClr val="2F80A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5"/>
                </a:solidFill>
              </a:rPr>
              <a:t>11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5120640" cy="274320"/>
          </a:xfrm>
          <a:prstGeom prst="rect">
            <a:avLst/>
          </a:prstGeom>
          <a:solidFill>
            <a:srgbClr val="1E2A44"/>
          </a:solidFill>
          <a:ln w="12700">
            <a:solidFill>
              <a:srgbClr val="1E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1430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Slicer: năm, quý/tháng, nhân viên, trạng thái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950976" cy="45720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1508760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94A"/>
                </a:solidFill>
              </a:rPr>
              <a:t>Total Sales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591056" y="1508760"/>
            <a:ext cx="950976" cy="45720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591056" y="1508760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94A"/>
                </a:solidFill>
              </a:rPr>
              <a:t>Conversion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633472" y="1508760"/>
            <a:ext cx="950976" cy="45720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633472" y="1508760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94A"/>
                </a:solidFill>
              </a:rPr>
              <a:t>Avg/Invoice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75888" y="1508760"/>
            <a:ext cx="950976" cy="45720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75888" y="1508760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94A"/>
                </a:solidFill>
              </a:rPr>
              <a:t>Return Rate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18304" y="1508760"/>
            <a:ext cx="950976" cy="45720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18304" y="1508760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94A"/>
                </a:solidFill>
              </a:rPr>
              <a:t>Cancel Rate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2057400"/>
            <a:ext cx="2514600" cy="105156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205740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94A"/>
                </a:solidFill>
              </a:rPr>
              <a:t>Doanh thu theo tháng (line)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54680" y="2057400"/>
            <a:ext cx="2514600" cy="105156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154680" y="205740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94A"/>
                </a:solidFill>
              </a:rPr>
              <a:t>MoM và YoY (column)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200400"/>
            <a:ext cx="2514600" cy="100584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320040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94A"/>
                </a:solidFill>
              </a:rPr>
              <a:t>Xếp hạng nhân viên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154680" y="3200400"/>
            <a:ext cx="2514600" cy="100584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154680" y="320040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94A"/>
                </a:solidFill>
              </a:rPr>
              <a:t>Chất lượng giao dịch (matrix)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4297680"/>
            <a:ext cx="5120640" cy="274320"/>
          </a:xfrm>
          <a:prstGeom prst="rect">
            <a:avLst/>
          </a:prstGeom>
          <a:solidFill>
            <a:srgbClr val="2F80A8"/>
          </a:solidFill>
          <a:ln w="12700">
            <a:solidFill>
              <a:srgbClr val="2F80A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48640" y="4297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Bảng cảnh báo: doanh thu giảm, tỷ lệ hủy hoặc trả cao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943600" y="1143000"/>
            <a:ext cx="2651760" cy="342900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126480" y="12527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0A8"/>
                </a:solidFill>
              </a:rPr>
              <a:t>Tooltip và drill-through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126480" y="1645920"/>
            <a:ext cx="2286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94A"/>
                </a:solidFill>
              </a:rPr>
              <a:t>Một trang 16:9 gọn, chi tiết đưa vào tooltip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94A"/>
                </a:solidFill>
              </a:rPr>
              <a:t>TT_Employee: KPI và sparkline của nhân viên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94A"/>
                </a:solidFill>
              </a:rPr>
              <a:t>TT_Month: tháng, MoM, YoY, số hóa đơn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3394A"/>
                </a:solidFill>
              </a:rPr>
              <a:t>Drill-through: lịch sử theo tháng, cơ cấu sản phẩm, trạng thái giao dịch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A44"/>
                </a:solidFill>
              </a:rPr>
              <a:t>Thiết kế OLAP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96112"/>
            <a:ext cx="822960" cy="45720"/>
          </a:xfrm>
          <a:prstGeom prst="rect">
            <a:avLst/>
          </a:prstGeom>
          <a:solidFill>
            <a:srgbClr val="2F80A8"/>
          </a:solidFill>
          <a:ln w="12700">
            <a:solidFill>
              <a:srgbClr val="2F80A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68096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85"/>
                </a:solidFill>
              </a:rPr>
              <a:t>12 / 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3931920" cy="329184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2984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0A8"/>
                </a:solidFill>
              </a:rPr>
              <a:t>Cube và phân cấp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691640"/>
            <a:ext cx="35661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Fact: Fact_Sales (dòng sản phẩm trong hóa đơn)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Thời gian: Năm → Quý → Tháng → Ngày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Sản phẩm: Category → Segment → Product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Địa lý: Region → City → District/ZIP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Nhân viên, khách hàng (kênh, nhóm tuổi)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188720"/>
            <a:ext cx="3931920" cy="3291840"/>
          </a:xfrm>
          <a:prstGeom prst="rect">
            <a:avLst/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46320" y="12984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80A8"/>
                </a:solidFill>
              </a:rPr>
              <a:t>Thao tác OLAP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691640"/>
            <a:ext cx="356616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Roll-up: ngày lên tháng, quý, năm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Drill-down: từ quý Q2 xuống tháng, ngày, hóa đơn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Slice: chỉ xem một năm hoặc một nhân viên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Dice: nhóm nhân viên, vài danh mục, vài quý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Pivot: đổi hàng cột nhân viên và tháng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394A"/>
                </a:solidFill>
              </a:rPr>
              <a:t>Drill-through: mở chi tiết giao dịch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4 - Hiệu suất nhân viên bán hàng</dc:title>
  <dc:subject>PptxGenJS Presentation</dc:subject>
  <dc:creator>PptxGenJS</dc:creator>
  <cp:lastModifiedBy>PptxGenJS</cp:lastModifiedBy>
  <cp:revision>1</cp:revision>
  <dcterms:created xsi:type="dcterms:W3CDTF">2026-10-16T19:23:40Z</dcterms:created>
  <dcterms:modified xsi:type="dcterms:W3CDTF">2026-10-16T19:23:40Z</dcterms:modified>
</cp:coreProperties>
</file>